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sldIdLst>
    <p:sldId id="256" r:id="rId5"/>
    <p:sldId id="270" r:id="rId6"/>
    <p:sldId id="261" r:id="rId7"/>
    <p:sldId id="262" r:id="rId8"/>
    <p:sldId id="263" r:id="rId9"/>
    <p:sldId id="257" r:id="rId10"/>
    <p:sldId id="267" r:id="rId11"/>
    <p:sldId id="264" r:id="rId12"/>
    <p:sldId id="268" r:id="rId13"/>
    <p:sldId id="269" r:id="rId14"/>
    <p:sldId id="265" r:id="rId15"/>
    <p:sldId id="266"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89" r:id="rId34"/>
    <p:sldId id="290" r:id="rId35"/>
    <p:sldId id="291" r:id="rId36"/>
    <p:sldId id="292" r:id="rId3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138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Ferguson" userId="0cd76bb0-8ee4-400a-a2e9-c5584fbb7d87" providerId="ADAL" clId="{A978E91C-529D-40FB-8D45-5CD65CC48E29}"/>
    <pc:docChg chg="modSld">
      <pc:chgData name="Stephen Ferguson" userId="0cd76bb0-8ee4-400a-a2e9-c5584fbb7d87" providerId="ADAL" clId="{A978E91C-529D-40FB-8D45-5CD65CC48E29}" dt="2024-08-31T23:35:16.952" v="14" actId="207"/>
      <pc:docMkLst>
        <pc:docMk/>
      </pc:docMkLst>
      <pc:sldChg chg="modSp">
        <pc:chgData name="Stephen Ferguson" userId="0cd76bb0-8ee4-400a-a2e9-c5584fbb7d87" providerId="ADAL" clId="{A978E91C-529D-40FB-8D45-5CD65CC48E29}" dt="2024-08-31T23:35:16.952" v="14" actId="207"/>
        <pc:sldMkLst>
          <pc:docMk/>
          <pc:sldMk cId="0" sldId="256"/>
        </pc:sldMkLst>
        <pc:spChg chg="mod">
          <ac:chgData name="Stephen Ferguson" userId="0cd76bb0-8ee4-400a-a2e9-c5584fbb7d87" providerId="ADAL" clId="{A978E91C-529D-40FB-8D45-5CD65CC48E29}" dt="2024-08-31T23:35:16.952" v="14" actId="207"/>
          <ac:spMkLst>
            <pc:docMk/>
            <pc:sldMk cId="0" sldId="256"/>
            <ac:spMk id="6146" creationId="{A0863961-A077-42E9-8579-2A838F21D501}"/>
          </ac:spMkLst>
        </pc:spChg>
      </pc:sldChg>
    </pc:docChg>
  </pc:docChgLst>
</pc:chgInfo>
</file>

<file path=ppt/drawings/_rels/vmlDrawing1.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C932AE-EE7E-4624-87FE-055DC06DD83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482E1675-510B-42D5-963C-CE3B5BE1A26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7A17E55B-1833-482B-ABF8-A4C017C10D8D}" type="datetimeFigureOut">
              <a:rPr lang="en-US"/>
              <a:pPr>
                <a:defRPr/>
              </a:pPr>
              <a:t>8/31/2024</a:t>
            </a:fld>
            <a:endParaRPr lang="en-US"/>
          </a:p>
        </p:txBody>
      </p:sp>
      <p:sp>
        <p:nvSpPr>
          <p:cNvPr id="4" name="Slide Image Placeholder 3">
            <a:extLst>
              <a:ext uri="{FF2B5EF4-FFF2-40B4-BE49-F238E27FC236}">
                <a16:creationId xmlns:a16="http://schemas.microsoft.com/office/drawing/2014/main" id="{ED26071E-22A3-408C-BDFE-C6F4AA6D92D5}"/>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81CDD0F8-4616-4742-B487-E33BD751952C}"/>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401F7FE0-734B-40DE-9220-CFE71138B310}"/>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096FB6D0-A893-45C4-BCB3-39F38F66D2F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DBA5ABAC-4EEC-406B-A7D2-9A69778AFDF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6799205-BD54-4643-A35A-8A767F765787}"/>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a:extLst>
              <a:ext uri="{FF2B5EF4-FFF2-40B4-BE49-F238E27FC236}">
                <a16:creationId xmlns:a16="http://schemas.microsoft.com/office/drawing/2014/main" id="{63E1F613-AF53-4E43-A70E-566C3CA7D9D4}"/>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F9354F8-7340-47DF-A410-5E0EDE1489B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a:extLst>
              <a:ext uri="{FF2B5EF4-FFF2-40B4-BE49-F238E27FC236}">
                <a16:creationId xmlns:a16="http://schemas.microsoft.com/office/drawing/2014/main" id="{8C68B0FB-24F9-4109-92BB-3406BAA643EF}"/>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4E59B90-6F97-4BF6-A50D-60DFE48104EF}"/>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3048A134-D190-4205-8B53-C120C8FC517E}"/>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7EA7566-621E-43D9-ABA8-E7AF434B5893}"/>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a:extLst>
              <a:ext uri="{FF2B5EF4-FFF2-40B4-BE49-F238E27FC236}">
                <a16:creationId xmlns:a16="http://schemas.microsoft.com/office/drawing/2014/main" id="{4931D8C8-3925-4A23-B9C8-59D980A08493}"/>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57EE9CA7-F1B7-4882-8AEC-DB02DA788981}"/>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a:extLst>
              <a:ext uri="{FF2B5EF4-FFF2-40B4-BE49-F238E27FC236}">
                <a16:creationId xmlns:a16="http://schemas.microsoft.com/office/drawing/2014/main" id="{3DB09862-2E75-4207-8237-9EDA64E7E896}"/>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196ABB51-AE25-49AC-B57D-ED2FB7A3C762}"/>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a:extLst>
              <a:ext uri="{FF2B5EF4-FFF2-40B4-BE49-F238E27FC236}">
                <a16:creationId xmlns:a16="http://schemas.microsoft.com/office/drawing/2014/main" id="{2E23345A-328F-411A-BF18-6106603B3D7C}"/>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3104CC41-F56B-41A0-913F-334CE2E5F9EF}"/>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a:extLst>
              <a:ext uri="{FF2B5EF4-FFF2-40B4-BE49-F238E27FC236}">
                <a16:creationId xmlns:a16="http://schemas.microsoft.com/office/drawing/2014/main" id="{C67BBE66-2BC2-4788-BAAF-2F443691899F}"/>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913005C0-BA53-497D-A57C-3BE86C5B77E1}"/>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Rectangle 3">
            <a:extLst>
              <a:ext uri="{FF2B5EF4-FFF2-40B4-BE49-F238E27FC236}">
                <a16:creationId xmlns:a16="http://schemas.microsoft.com/office/drawing/2014/main" id="{83A6CAA5-5F52-4C1F-B54A-4EAA048704F9}"/>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4703E97A-73E1-43B6-A0B8-0169FE3E8346}"/>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3">
            <a:extLst>
              <a:ext uri="{FF2B5EF4-FFF2-40B4-BE49-F238E27FC236}">
                <a16:creationId xmlns:a16="http://schemas.microsoft.com/office/drawing/2014/main" id="{5A29EC37-4109-4F58-B686-E1ADA64289B4}"/>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D89313B-E989-44E3-AB1B-9725BFE6C34F}"/>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a:extLst>
              <a:ext uri="{FF2B5EF4-FFF2-40B4-BE49-F238E27FC236}">
                <a16:creationId xmlns:a16="http://schemas.microsoft.com/office/drawing/2014/main" id="{40FEA3EE-545C-4789-9E9C-678E2549D56F}"/>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22076D80-89A7-4216-8BE4-2FF6175B218B}"/>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a:extLst>
              <a:ext uri="{FF2B5EF4-FFF2-40B4-BE49-F238E27FC236}">
                <a16:creationId xmlns:a16="http://schemas.microsoft.com/office/drawing/2014/main" id="{83B0D591-1FEE-4D9F-B1F3-7FC59CF978F7}"/>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9057BF97-A826-450F-AF8E-3EB9F187170B}"/>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a:extLst>
              <a:ext uri="{FF2B5EF4-FFF2-40B4-BE49-F238E27FC236}">
                <a16:creationId xmlns:a16="http://schemas.microsoft.com/office/drawing/2014/main" id="{FC297619-D950-4A15-A329-61B54D2CB05B}"/>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CA64FB1D-CD1B-4A0C-B794-3E239D131D4B}"/>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Rectangle 3">
            <a:extLst>
              <a:ext uri="{FF2B5EF4-FFF2-40B4-BE49-F238E27FC236}">
                <a16:creationId xmlns:a16="http://schemas.microsoft.com/office/drawing/2014/main" id="{EB3C542F-D891-454B-9999-F766A00B7DAE}"/>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FE99620B-5FA7-4C53-A9E7-FCF9FBD458D0}"/>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a:extLst>
              <a:ext uri="{FF2B5EF4-FFF2-40B4-BE49-F238E27FC236}">
                <a16:creationId xmlns:a16="http://schemas.microsoft.com/office/drawing/2014/main" id="{1B9345B2-5EB7-4187-B1F7-3FCBD3092867}"/>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E400759E-311C-487C-8B06-8BB2CF0F900B}"/>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Rectangle 3">
            <a:extLst>
              <a:ext uri="{FF2B5EF4-FFF2-40B4-BE49-F238E27FC236}">
                <a16:creationId xmlns:a16="http://schemas.microsoft.com/office/drawing/2014/main" id="{750F4D4E-0B40-494C-9610-2C01382868C7}"/>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462067F4-8671-4EB8-8E36-CB3F85A5E0D6}"/>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Rectangle 3">
            <a:extLst>
              <a:ext uri="{FF2B5EF4-FFF2-40B4-BE49-F238E27FC236}">
                <a16:creationId xmlns:a16="http://schemas.microsoft.com/office/drawing/2014/main" id="{1E9BBE61-ABEE-4FB3-BD23-6896046A46F6}"/>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D8B714AF-5EA5-4B46-9383-A7297301CB33}"/>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Rectangle 3">
            <a:extLst>
              <a:ext uri="{FF2B5EF4-FFF2-40B4-BE49-F238E27FC236}">
                <a16:creationId xmlns:a16="http://schemas.microsoft.com/office/drawing/2014/main" id="{936E2E60-23AA-43CF-83B1-5D016CF4B1FE}"/>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D9F44F67-0290-4978-B290-DE9738AA3EC0}"/>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Rectangle 3">
            <a:extLst>
              <a:ext uri="{FF2B5EF4-FFF2-40B4-BE49-F238E27FC236}">
                <a16:creationId xmlns:a16="http://schemas.microsoft.com/office/drawing/2014/main" id="{D16C7391-CCD4-4A07-8ECF-B1A5F2AD653C}"/>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015DDDFF-CA8C-40AF-9930-86F55D0E5AC1}"/>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Rectangle 3">
            <a:extLst>
              <a:ext uri="{FF2B5EF4-FFF2-40B4-BE49-F238E27FC236}">
                <a16:creationId xmlns:a16="http://schemas.microsoft.com/office/drawing/2014/main" id="{2F76B756-6EC4-4E56-B77E-8E992EC450FA}"/>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8FAE98BD-C659-4648-8B0A-A012C77EB77D}"/>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Rectangle 3">
            <a:extLst>
              <a:ext uri="{FF2B5EF4-FFF2-40B4-BE49-F238E27FC236}">
                <a16:creationId xmlns:a16="http://schemas.microsoft.com/office/drawing/2014/main" id="{B718130E-98BF-4D70-98CB-29930B8F6946}"/>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636E53F9-66D3-4C38-91F3-1F5FB027CD74}"/>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Rectangle 3">
            <a:extLst>
              <a:ext uri="{FF2B5EF4-FFF2-40B4-BE49-F238E27FC236}">
                <a16:creationId xmlns:a16="http://schemas.microsoft.com/office/drawing/2014/main" id="{F61CCDFC-7540-4EB4-B56F-D56F407AE2D4}"/>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AC627F25-106D-4045-A908-23687B784567}"/>
              </a:ext>
            </a:extLst>
          </p:cNvPr>
          <p:cNvSpPr>
            <a:spLocks noGrp="1" noRot="1" noChangeAspect="1" noChangeArrowheads="1" noTextEdit="1"/>
          </p:cNvSpPr>
          <p:nvPr>
            <p:ph type="sldImg"/>
          </p:nvPr>
        </p:nvSpPr>
        <p:spPr bwMode="auto">
          <a:xfrm>
            <a:off x="1152525" y="682625"/>
            <a:ext cx="4551363" cy="34131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Rectangle 3">
            <a:extLst>
              <a:ext uri="{FF2B5EF4-FFF2-40B4-BE49-F238E27FC236}">
                <a16:creationId xmlns:a16="http://schemas.microsoft.com/office/drawing/2014/main" id="{91EF2470-CFCD-46B4-93C5-E568E389CF8E}"/>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270" tIns="45135" rIns="90270" bIns="45135"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F48263AF-1232-4F38-90DE-F0CB7F5CCF12}"/>
              </a:ext>
            </a:extLst>
          </p:cNvPr>
          <p:cNvSpPr>
            <a:spLocks noGrp="1"/>
          </p:cNvSpPr>
          <p:nvPr>
            <p:ph type="dt" sz="half" idx="10"/>
          </p:nvPr>
        </p:nvSpPr>
        <p:spPr/>
        <p:txBody>
          <a:bodyPr/>
          <a:lstStyle>
            <a:lvl1pPr>
              <a:defRPr/>
            </a:lvl1pPr>
          </a:lstStyle>
          <a:p>
            <a:pPr>
              <a:defRPr/>
            </a:pPr>
            <a:fld id="{FF7D8CFE-0A29-4152-AD40-2074A02763C7}" type="datetimeFigureOut">
              <a:rPr lang="en-US"/>
              <a:pPr>
                <a:defRPr/>
              </a:pPr>
              <a:t>8/31/2024</a:t>
            </a:fld>
            <a:endParaRPr lang="en-US"/>
          </a:p>
        </p:txBody>
      </p:sp>
      <p:sp>
        <p:nvSpPr>
          <p:cNvPr id="5" name="Footer Placeholder 4">
            <a:extLst>
              <a:ext uri="{FF2B5EF4-FFF2-40B4-BE49-F238E27FC236}">
                <a16:creationId xmlns:a16="http://schemas.microsoft.com/office/drawing/2014/main" id="{BC5D7B04-A619-498B-B75B-79191DCFCE7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CE6EA18-28D8-4E74-ADA0-8D915F668C08}"/>
              </a:ext>
            </a:extLst>
          </p:cNvPr>
          <p:cNvSpPr>
            <a:spLocks noGrp="1"/>
          </p:cNvSpPr>
          <p:nvPr>
            <p:ph type="sldNum" sz="quarter" idx="12"/>
          </p:nvPr>
        </p:nvSpPr>
        <p:spPr/>
        <p:txBody>
          <a:bodyPr/>
          <a:lstStyle>
            <a:lvl1pPr>
              <a:defRPr/>
            </a:lvl1pPr>
          </a:lstStyle>
          <a:p>
            <a:fld id="{C2E37F98-9A6C-4C62-A2E9-F721424190C7}" type="slidenum">
              <a:rPr lang="en-US" altLang="en-US"/>
              <a:pPr/>
              <a:t>‹#›</a:t>
            </a:fld>
            <a:endParaRPr lang="en-US" altLang="en-US"/>
          </a:p>
        </p:txBody>
      </p:sp>
    </p:spTree>
    <p:extLst>
      <p:ext uri="{BB962C8B-B14F-4D97-AF65-F5344CB8AC3E}">
        <p14:creationId xmlns:p14="http://schemas.microsoft.com/office/powerpoint/2010/main" val="23431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CF7484-8399-401B-8F8B-094AF15D77B9}"/>
              </a:ext>
            </a:extLst>
          </p:cNvPr>
          <p:cNvSpPr>
            <a:spLocks noGrp="1"/>
          </p:cNvSpPr>
          <p:nvPr>
            <p:ph type="dt" sz="half" idx="10"/>
          </p:nvPr>
        </p:nvSpPr>
        <p:spPr/>
        <p:txBody>
          <a:bodyPr/>
          <a:lstStyle>
            <a:lvl1pPr>
              <a:defRPr/>
            </a:lvl1pPr>
          </a:lstStyle>
          <a:p>
            <a:pPr>
              <a:defRPr/>
            </a:pPr>
            <a:fld id="{FC10444E-091C-493F-BFD2-48055131439F}" type="datetimeFigureOut">
              <a:rPr lang="en-US"/>
              <a:pPr>
                <a:defRPr/>
              </a:pPr>
              <a:t>8/31/2024</a:t>
            </a:fld>
            <a:endParaRPr lang="en-US"/>
          </a:p>
        </p:txBody>
      </p:sp>
      <p:sp>
        <p:nvSpPr>
          <p:cNvPr id="5" name="Footer Placeholder 4">
            <a:extLst>
              <a:ext uri="{FF2B5EF4-FFF2-40B4-BE49-F238E27FC236}">
                <a16:creationId xmlns:a16="http://schemas.microsoft.com/office/drawing/2014/main" id="{7070DE75-FCA2-4DD4-A9F8-7B09829E9D7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FF92CFF-16BA-4AE6-B7EE-3A7E86A426E1}"/>
              </a:ext>
            </a:extLst>
          </p:cNvPr>
          <p:cNvSpPr>
            <a:spLocks noGrp="1"/>
          </p:cNvSpPr>
          <p:nvPr>
            <p:ph type="sldNum" sz="quarter" idx="12"/>
          </p:nvPr>
        </p:nvSpPr>
        <p:spPr/>
        <p:txBody>
          <a:bodyPr/>
          <a:lstStyle>
            <a:lvl1pPr>
              <a:defRPr/>
            </a:lvl1pPr>
          </a:lstStyle>
          <a:p>
            <a:fld id="{7C23CBB5-ED77-46C8-819E-937CAF7166C5}" type="slidenum">
              <a:rPr lang="en-US" altLang="en-US"/>
              <a:pPr/>
              <a:t>‹#›</a:t>
            </a:fld>
            <a:endParaRPr lang="en-US" altLang="en-US"/>
          </a:p>
        </p:txBody>
      </p:sp>
    </p:spTree>
    <p:extLst>
      <p:ext uri="{BB962C8B-B14F-4D97-AF65-F5344CB8AC3E}">
        <p14:creationId xmlns:p14="http://schemas.microsoft.com/office/powerpoint/2010/main" val="4260018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916A79-8A83-4264-B7F5-B498467F3411}"/>
              </a:ext>
            </a:extLst>
          </p:cNvPr>
          <p:cNvSpPr>
            <a:spLocks noGrp="1"/>
          </p:cNvSpPr>
          <p:nvPr>
            <p:ph type="dt" sz="half" idx="10"/>
          </p:nvPr>
        </p:nvSpPr>
        <p:spPr/>
        <p:txBody>
          <a:bodyPr/>
          <a:lstStyle>
            <a:lvl1pPr>
              <a:defRPr/>
            </a:lvl1pPr>
          </a:lstStyle>
          <a:p>
            <a:pPr>
              <a:defRPr/>
            </a:pPr>
            <a:fld id="{77028EA9-782C-4894-9CB9-04A8B7FB838E}" type="datetimeFigureOut">
              <a:rPr lang="en-US"/>
              <a:pPr>
                <a:defRPr/>
              </a:pPr>
              <a:t>8/31/2024</a:t>
            </a:fld>
            <a:endParaRPr lang="en-US"/>
          </a:p>
        </p:txBody>
      </p:sp>
      <p:sp>
        <p:nvSpPr>
          <p:cNvPr id="5" name="Footer Placeholder 4">
            <a:extLst>
              <a:ext uri="{FF2B5EF4-FFF2-40B4-BE49-F238E27FC236}">
                <a16:creationId xmlns:a16="http://schemas.microsoft.com/office/drawing/2014/main" id="{A6F8E178-3290-4B50-8566-E94CAE2EC9D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93826B5-B5F8-40B0-BF08-AA68B4EE83BD}"/>
              </a:ext>
            </a:extLst>
          </p:cNvPr>
          <p:cNvSpPr>
            <a:spLocks noGrp="1"/>
          </p:cNvSpPr>
          <p:nvPr>
            <p:ph type="sldNum" sz="quarter" idx="12"/>
          </p:nvPr>
        </p:nvSpPr>
        <p:spPr/>
        <p:txBody>
          <a:bodyPr/>
          <a:lstStyle>
            <a:lvl1pPr>
              <a:defRPr/>
            </a:lvl1pPr>
          </a:lstStyle>
          <a:p>
            <a:fld id="{F55BF673-E79B-4A44-A9AA-82874331F907}" type="slidenum">
              <a:rPr lang="en-US" altLang="en-US"/>
              <a:pPr/>
              <a:t>‹#›</a:t>
            </a:fld>
            <a:endParaRPr lang="en-US" altLang="en-US"/>
          </a:p>
        </p:txBody>
      </p:sp>
    </p:spTree>
    <p:extLst>
      <p:ext uri="{BB962C8B-B14F-4D97-AF65-F5344CB8AC3E}">
        <p14:creationId xmlns:p14="http://schemas.microsoft.com/office/powerpoint/2010/main" val="3161415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3F963C69-6985-405E-915B-7FD27898FAB7}"/>
              </a:ext>
            </a:extLst>
          </p:cNvPr>
          <p:cNvSpPr>
            <a:spLocks noGrp="1"/>
          </p:cNvSpPr>
          <p:nvPr>
            <p:ph type="dt" sz="half" idx="10"/>
          </p:nvPr>
        </p:nvSpPr>
        <p:spPr/>
        <p:txBody>
          <a:bodyPr/>
          <a:lstStyle>
            <a:lvl1pPr>
              <a:defRPr/>
            </a:lvl1pPr>
          </a:lstStyle>
          <a:p>
            <a:pPr>
              <a:defRPr/>
            </a:pPr>
            <a:fld id="{EAC35E7D-0C13-422B-A834-E0035F8FDCAE}" type="datetimeFigureOut">
              <a:rPr lang="en-US"/>
              <a:pPr>
                <a:defRPr/>
              </a:pPr>
              <a:t>8/31/2024</a:t>
            </a:fld>
            <a:endParaRPr lang="en-US"/>
          </a:p>
        </p:txBody>
      </p:sp>
      <p:sp>
        <p:nvSpPr>
          <p:cNvPr id="6" name="Footer Placeholder 4">
            <a:extLst>
              <a:ext uri="{FF2B5EF4-FFF2-40B4-BE49-F238E27FC236}">
                <a16:creationId xmlns:a16="http://schemas.microsoft.com/office/drawing/2014/main" id="{84CB9CC0-2D88-4B89-9525-95CBF8EE1B2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F0F5CBF-AFE4-4572-8C0C-C20095ABEBE6}"/>
              </a:ext>
            </a:extLst>
          </p:cNvPr>
          <p:cNvSpPr>
            <a:spLocks noGrp="1"/>
          </p:cNvSpPr>
          <p:nvPr>
            <p:ph type="sldNum" sz="quarter" idx="12"/>
          </p:nvPr>
        </p:nvSpPr>
        <p:spPr/>
        <p:txBody>
          <a:bodyPr/>
          <a:lstStyle>
            <a:lvl1pPr>
              <a:defRPr/>
            </a:lvl1pPr>
          </a:lstStyle>
          <a:p>
            <a:fld id="{95E8F53E-7C09-4213-BD4F-6F3BEEB19568}" type="slidenum">
              <a:rPr lang="en-US" altLang="en-US"/>
              <a:pPr/>
              <a:t>‹#›</a:t>
            </a:fld>
            <a:endParaRPr lang="en-US" altLang="en-US"/>
          </a:p>
        </p:txBody>
      </p:sp>
    </p:spTree>
    <p:extLst>
      <p:ext uri="{BB962C8B-B14F-4D97-AF65-F5344CB8AC3E}">
        <p14:creationId xmlns:p14="http://schemas.microsoft.com/office/powerpoint/2010/main" val="1124799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37DA3644-73CA-4CEA-8033-59B364C61F34}"/>
              </a:ext>
            </a:extLst>
          </p:cNvPr>
          <p:cNvSpPr>
            <a:spLocks noGrp="1"/>
          </p:cNvSpPr>
          <p:nvPr>
            <p:ph type="dt" sz="half" idx="10"/>
          </p:nvPr>
        </p:nvSpPr>
        <p:spPr/>
        <p:txBody>
          <a:bodyPr/>
          <a:lstStyle>
            <a:lvl1pPr>
              <a:defRPr/>
            </a:lvl1pPr>
          </a:lstStyle>
          <a:p>
            <a:pPr>
              <a:defRPr/>
            </a:pPr>
            <a:fld id="{D05525F3-6547-47C3-8D0A-354D41380877}" type="datetimeFigureOut">
              <a:rPr lang="en-US"/>
              <a:pPr>
                <a:defRPr/>
              </a:pPr>
              <a:t>8/31/2024</a:t>
            </a:fld>
            <a:endParaRPr lang="en-US"/>
          </a:p>
        </p:txBody>
      </p:sp>
      <p:sp>
        <p:nvSpPr>
          <p:cNvPr id="8" name="Footer Placeholder 4">
            <a:extLst>
              <a:ext uri="{FF2B5EF4-FFF2-40B4-BE49-F238E27FC236}">
                <a16:creationId xmlns:a16="http://schemas.microsoft.com/office/drawing/2014/main" id="{AA1044AA-7410-4F5A-A31F-1731019F94D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F8300B1-EB21-4F6A-A55B-A8DF630130D0}"/>
              </a:ext>
            </a:extLst>
          </p:cNvPr>
          <p:cNvSpPr>
            <a:spLocks noGrp="1"/>
          </p:cNvSpPr>
          <p:nvPr>
            <p:ph type="sldNum" sz="quarter" idx="12"/>
          </p:nvPr>
        </p:nvSpPr>
        <p:spPr/>
        <p:txBody>
          <a:bodyPr/>
          <a:lstStyle>
            <a:lvl1pPr>
              <a:defRPr/>
            </a:lvl1pPr>
          </a:lstStyle>
          <a:p>
            <a:fld id="{FB37B34D-024A-4342-88C5-10E3DADDB9E5}" type="slidenum">
              <a:rPr lang="en-US" altLang="en-US"/>
              <a:pPr/>
              <a:t>‹#›</a:t>
            </a:fld>
            <a:endParaRPr lang="en-US" altLang="en-US"/>
          </a:p>
        </p:txBody>
      </p:sp>
    </p:spTree>
    <p:extLst>
      <p:ext uri="{BB962C8B-B14F-4D97-AF65-F5344CB8AC3E}">
        <p14:creationId xmlns:p14="http://schemas.microsoft.com/office/powerpoint/2010/main" val="2001201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11DEDA17-FF67-4422-B6D9-04A067655C28}"/>
              </a:ext>
            </a:extLst>
          </p:cNvPr>
          <p:cNvSpPr>
            <a:spLocks noGrp="1"/>
          </p:cNvSpPr>
          <p:nvPr>
            <p:ph type="dt" sz="half" idx="10"/>
          </p:nvPr>
        </p:nvSpPr>
        <p:spPr/>
        <p:txBody>
          <a:bodyPr/>
          <a:lstStyle>
            <a:lvl1pPr>
              <a:defRPr/>
            </a:lvl1pPr>
          </a:lstStyle>
          <a:p>
            <a:pPr>
              <a:defRPr/>
            </a:pPr>
            <a:fld id="{58B34680-B410-43A5-87D6-4325FDC75980}" type="datetimeFigureOut">
              <a:rPr lang="en-US"/>
              <a:pPr>
                <a:defRPr/>
              </a:pPr>
              <a:t>8/31/2024</a:t>
            </a:fld>
            <a:endParaRPr lang="en-US"/>
          </a:p>
        </p:txBody>
      </p:sp>
      <p:sp>
        <p:nvSpPr>
          <p:cNvPr id="4" name="Footer Placeholder 4">
            <a:extLst>
              <a:ext uri="{FF2B5EF4-FFF2-40B4-BE49-F238E27FC236}">
                <a16:creationId xmlns:a16="http://schemas.microsoft.com/office/drawing/2014/main" id="{A22505A6-3362-46EF-8F94-77116427FB6E}"/>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9A395E6-C88C-4F09-9EBD-4108E08535BC}"/>
              </a:ext>
            </a:extLst>
          </p:cNvPr>
          <p:cNvSpPr>
            <a:spLocks noGrp="1"/>
          </p:cNvSpPr>
          <p:nvPr>
            <p:ph type="sldNum" sz="quarter" idx="12"/>
          </p:nvPr>
        </p:nvSpPr>
        <p:spPr/>
        <p:txBody>
          <a:bodyPr/>
          <a:lstStyle>
            <a:lvl1pPr>
              <a:defRPr/>
            </a:lvl1pPr>
          </a:lstStyle>
          <a:p>
            <a:fld id="{949EB303-9787-492D-A223-AF5E83D6850D}" type="slidenum">
              <a:rPr lang="en-US" altLang="en-US"/>
              <a:pPr/>
              <a:t>‹#›</a:t>
            </a:fld>
            <a:endParaRPr lang="en-US" altLang="en-US"/>
          </a:p>
        </p:txBody>
      </p:sp>
    </p:spTree>
    <p:extLst>
      <p:ext uri="{BB962C8B-B14F-4D97-AF65-F5344CB8AC3E}">
        <p14:creationId xmlns:p14="http://schemas.microsoft.com/office/powerpoint/2010/main" val="1267095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AE11D07-4CB8-45C9-903A-735F199DF201}"/>
              </a:ext>
            </a:extLst>
          </p:cNvPr>
          <p:cNvSpPr>
            <a:spLocks noGrp="1"/>
          </p:cNvSpPr>
          <p:nvPr>
            <p:ph type="dt" sz="half" idx="10"/>
          </p:nvPr>
        </p:nvSpPr>
        <p:spPr/>
        <p:txBody>
          <a:bodyPr/>
          <a:lstStyle>
            <a:lvl1pPr>
              <a:defRPr/>
            </a:lvl1pPr>
          </a:lstStyle>
          <a:p>
            <a:pPr>
              <a:defRPr/>
            </a:pPr>
            <a:fld id="{91C2856E-1F24-49CA-98ED-1926336EE966}" type="datetimeFigureOut">
              <a:rPr lang="en-US"/>
              <a:pPr>
                <a:defRPr/>
              </a:pPr>
              <a:t>8/31/2024</a:t>
            </a:fld>
            <a:endParaRPr lang="en-US"/>
          </a:p>
        </p:txBody>
      </p:sp>
      <p:sp>
        <p:nvSpPr>
          <p:cNvPr id="3" name="Footer Placeholder 4">
            <a:extLst>
              <a:ext uri="{FF2B5EF4-FFF2-40B4-BE49-F238E27FC236}">
                <a16:creationId xmlns:a16="http://schemas.microsoft.com/office/drawing/2014/main" id="{1EC00639-5AB3-461F-AD86-4B556E7C4CE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2CAC394-7B77-4C2B-BDA0-68E73DE256D4}"/>
              </a:ext>
            </a:extLst>
          </p:cNvPr>
          <p:cNvSpPr>
            <a:spLocks noGrp="1"/>
          </p:cNvSpPr>
          <p:nvPr>
            <p:ph type="sldNum" sz="quarter" idx="12"/>
          </p:nvPr>
        </p:nvSpPr>
        <p:spPr/>
        <p:txBody>
          <a:bodyPr/>
          <a:lstStyle>
            <a:lvl1pPr>
              <a:defRPr/>
            </a:lvl1pPr>
          </a:lstStyle>
          <a:p>
            <a:fld id="{D83F67C2-AD9F-42CE-A341-96D6BDEAF96C}" type="slidenum">
              <a:rPr lang="en-US" altLang="en-US"/>
              <a:pPr/>
              <a:t>‹#›</a:t>
            </a:fld>
            <a:endParaRPr lang="en-US" altLang="en-US"/>
          </a:p>
        </p:txBody>
      </p:sp>
    </p:spTree>
    <p:extLst>
      <p:ext uri="{BB962C8B-B14F-4D97-AF65-F5344CB8AC3E}">
        <p14:creationId xmlns:p14="http://schemas.microsoft.com/office/powerpoint/2010/main" val="1780999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478150B-EAC1-425E-9C8A-324E724A3D64}"/>
              </a:ext>
            </a:extLst>
          </p:cNvPr>
          <p:cNvSpPr>
            <a:spLocks noGrp="1"/>
          </p:cNvSpPr>
          <p:nvPr>
            <p:ph type="dt" sz="half" idx="10"/>
          </p:nvPr>
        </p:nvSpPr>
        <p:spPr/>
        <p:txBody>
          <a:bodyPr/>
          <a:lstStyle>
            <a:lvl1pPr>
              <a:defRPr/>
            </a:lvl1pPr>
          </a:lstStyle>
          <a:p>
            <a:pPr>
              <a:defRPr/>
            </a:pPr>
            <a:fld id="{53471446-1559-4F23-8DF8-5B818A2513C2}" type="datetimeFigureOut">
              <a:rPr lang="en-US"/>
              <a:pPr>
                <a:defRPr/>
              </a:pPr>
              <a:t>8/31/2024</a:t>
            </a:fld>
            <a:endParaRPr lang="en-US"/>
          </a:p>
        </p:txBody>
      </p:sp>
      <p:sp>
        <p:nvSpPr>
          <p:cNvPr id="6" name="Footer Placeholder 4">
            <a:extLst>
              <a:ext uri="{FF2B5EF4-FFF2-40B4-BE49-F238E27FC236}">
                <a16:creationId xmlns:a16="http://schemas.microsoft.com/office/drawing/2014/main" id="{2DFE10A8-11FE-4D0F-ABA5-1760D8F1E69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BEC8931-A322-4F3C-B8C1-D10A98DE1729}"/>
              </a:ext>
            </a:extLst>
          </p:cNvPr>
          <p:cNvSpPr>
            <a:spLocks noGrp="1"/>
          </p:cNvSpPr>
          <p:nvPr>
            <p:ph type="sldNum" sz="quarter" idx="12"/>
          </p:nvPr>
        </p:nvSpPr>
        <p:spPr/>
        <p:txBody>
          <a:bodyPr/>
          <a:lstStyle>
            <a:lvl1pPr>
              <a:defRPr/>
            </a:lvl1pPr>
          </a:lstStyle>
          <a:p>
            <a:fld id="{E3CE39D8-1F64-4AEC-BA9E-C631E4A35938}" type="slidenum">
              <a:rPr lang="en-US" altLang="en-US"/>
              <a:pPr/>
              <a:t>‹#›</a:t>
            </a:fld>
            <a:endParaRPr lang="en-US" altLang="en-US"/>
          </a:p>
        </p:txBody>
      </p:sp>
    </p:spTree>
    <p:extLst>
      <p:ext uri="{BB962C8B-B14F-4D97-AF65-F5344CB8AC3E}">
        <p14:creationId xmlns:p14="http://schemas.microsoft.com/office/powerpoint/2010/main" val="4043431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E4F0585-B815-4977-89BD-51904E9BD62C}"/>
              </a:ext>
            </a:extLst>
          </p:cNvPr>
          <p:cNvSpPr>
            <a:spLocks noGrp="1"/>
          </p:cNvSpPr>
          <p:nvPr>
            <p:ph type="dt" sz="half" idx="10"/>
          </p:nvPr>
        </p:nvSpPr>
        <p:spPr/>
        <p:txBody>
          <a:bodyPr/>
          <a:lstStyle>
            <a:lvl1pPr>
              <a:defRPr/>
            </a:lvl1pPr>
          </a:lstStyle>
          <a:p>
            <a:pPr>
              <a:defRPr/>
            </a:pPr>
            <a:fld id="{DC306A4D-4AA5-412C-BD41-D5B9593EDE5A}" type="datetimeFigureOut">
              <a:rPr lang="en-US"/>
              <a:pPr>
                <a:defRPr/>
              </a:pPr>
              <a:t>8/31/2024</a:t>
            </a:fld>
            <a:endParaRPr lang="en-US"/>
          </a:p>
        </p:txBody>
      </p:sp>
      <p:sp>
        <p:nvSpPr>
          <p:cNvPr id="6" name="Footer Placeholder 4">
            <a:extLst>
              <a:ext uri="{FF2B5EF4-FFF2-40B4-BE49-F238E27FC236}">
                <a16:creationId xmlns:a16="http://schemas.microsoft.com/office/drawing/2014/main" id="{37341F4C-4315-4AFC-9EF3-6A83A87275E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0484838-94C3-425B-B0D5-26C8FA3A8EEE}"/>
              </a:ext>
            </a:extLst>
          </p:cNvPr>
          <p:cNvSpPr>
            <a:spLocks noGrp="1"/>
          </p:cNvSpPr>
          <p:nvPr>
            <p:ph type="sldNum" sz="quarter" idx="12"/>
          </p:nvPr>
        </p:nvSpPr>
        <p:spPr/>
        <p:txBody>
          <a:bodyPr/>
          <a:lstStyle>
            <a:lvl1pPr>
              <a:defRPr/>
            </a:lvl1pPr>
          </a:lstStyle>
          <a:p>
            <a:fld id="{53EDFD93-B12F-41BA-AA73-B22EE7E5CE28}" type="slidenum">
              <a:rPr lang="en-US" altLang="en-US"/>
              <a:pPr/>
              <a:t>‹#›</a:t>
            </a:fld>
            <a:endParaRPr lang="en-US" altLang="en-US"/>
          </a:p>
        </p:txBody>
      </p:sp>
    </p:spTree>
    <p:extLst>
      <p:ext uri="{BB962C8B-B14F-4D97-AF65-F5344CB8AC3E}">
        <p14:creationId xmlns:p14="http://schemas.microsoft.com/office/powerpoint/2010/main" val="3100024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A5DBE6-D637-4FED-915C-BDC5EBB451F1}"/>
              </a:ext>
            </a:extLst>
          </p:cNvPr>
          <p:cNvSpPr>
            <a:spLocks noGrp="1"/>
          </p:cNvSpPr>
          <p:nvPr>
            <p:ph type="dt" sz="half" idx="10"/>
          </p:nvPr>
        </p:nvSpPr>
        <p:spPr/>
        <p:txBody>
          <a:bodyPr/>
          <a:lstStyle>
            <a:lvl1pPr>
              <a:defRPr/>
            </a:lvl1pPr>
          </a:lstStyle>
          <a:p>
            <a:pPr>
              <a:defRPr/>
            </a:pPr>
            <a:fld id="{0561F510-87E7-4B3A-A44F-E6B21C06E523}" type="datetimeFigureOut">
              <a:rPr lang="en-US"/>
              <a:pPr>
                <a:defRPr/>
              </a:pPr>
              <a:t>8/31/2024</a:t>
            </a:fld>
            <a:endParaRPr lang="en-US"/>
          </a:p>
        </p:txBody>
      </p:sp>
      <p:sp>
        <p:nvSpPr>
          <p:cNvPr id="5" name="Footer Placeholder 4">
            <a:extLst>
              <a:ext uri="{FF2B5EF4-FFF2-40B4-BE49-F238E27FC236}">
                <a16:creationId xmlns:a16="http://schemas.microsoft.com/office/drawing/2014/main" id="{4424DD13-0904-4E9F-B8E3-62AFC505285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AF79D90-FFD2-4ECC-BA6C-B289DF2FD7E7}"/>
              </a:ext>
            </a:extLst>
          </p:cNvPr>
          <p:cNvSpPr>
            <a:spLocks noGrp="1"/>
          </p:cNvSpPr>
          <p:nvPr>
            <p:ph type="sldNum" sz="quarter" idx="12"/>
          </p:nvPr>
        </p:nvSpPr>
        <p:spPr/>
        <p:txBody>
          <a:bodyPr/>
          <a:lstStyle>
            <a:lvl1pPr>
              <a:defRPr/>
            </a:lvl1pPr>
          </a:lstStyle>
          <a:p>
            <a:fld id="{58A0B0BA-B615-4F50-BE35-07DD47707F1A}" type="slidenum">
              <a:rPr lang="en-US" altLang="en-US"/>
              <a:pPr/>
              <a:t>‹#›</a:t>
            </a:fld>
            <a:endParaRPr lang="en-US" altLang="en-US"/>
          </a:p>
        </p:txBody>
      </p:sp>
    </p:spTree>
    <p:extLst>
      <p:ext uri="{BB962C8B-B14F-4D97-AF65-F5344CB8AC3E}">
        <p14:creationId xmlns:p14="http://schemas.microsoft.com/office/powerpoint/2010/main" val="50704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0121F2-B674-496D-AFF7-0AD58308E6FF}"/>
              </a:ext>
            </a:extLst>
          </p:cNvPr>
          <p:cNvSpPr>
            <a:spLocks noGrp="1"/>
          </p:cNvSpPr>
          <p:nvPr>
            <p:ph type="dt" sz="half" idx="10"/>
          </p:nvPr>
        </p:nvSpPr>
        <p:spPr/>
        <p:txBody>
          <a:bodyPr/>
          <a:lstStyle>
            <a:lvl1pPr>
              <a:defRPr/>
            </a:lvl1pPr>
          </a:lstStyle>
          <a:p>
            <a:pPr>
              <a:defRPr/>
            </a:pPr>
            <a:fld id="{C4D5A2CF-E1C5-49F2-AA55-763F55A679FE}" type="datetimeFigureOut">
              <a:rPr lang="en-US"/>
              <a:pPr>
                <a:defRPr/>
              </a:pPr>
              <a:t>8/31/2024</a:t>
            </a:fld>
            <a:endParaRPr lang="en-US"/>
          </a:p>
        </p:txBody>
      </p:sp>
      <p:sp>
        <p:nvSpPr>
          <p:cNvPr id="5" name="Footer Placeholder 4">
            <a:extLst>
              <a:ext uri="{FF2B5EF4-FFF2-40B4-BE49-F238E27FC236}">
                <a16:creationId xmlns:a16="http://schemas.microsoft.com/office/drawing/2014/main" id="{D8E98767-CF68-412C-BF34-7263A461ADE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81D06D5-3CAA-4442-89DD-91FDBE6EFAF8}"/>
              </a:ext>
            </a:extLst>
          </p:cNvPr>
          <p:cNvSpPr>
            <a:spLocks noGrp="1"/>
          </p:cNvSpPr>
          <p:nvPr>
            <p:ph type="sldNum" sz="quarter" idx="12"/>
          </p:nvPr>
        </p:nvSpPr>
        <p:spPr/>
        <p:txBody>
          <a:bodyPr/>
          <a:lstStyle>
            <a:lvl1pPr>
              <a:defRPr/>
            </a:lvl1pPr>
          </a:lstStyle>
          <a:p>
            <a:fld id="{19BBED1B-BD39-4953-8021-58216F38504B}" type="slidenum">
              <a:rPr lang="en-US" altLang="en-US"/>
              <a:pPr/>
              <a:t>‹#›</a:t>
            </a:fld>
            <a:endParaRPr lang="en-US" altLang="en-US"/>
          </a:p>
        </p:txBody>
      </p:sp>
    </p:spTree>
    <p:extLst>
      <p:ext uri="{BB962C8B-B14F-4D97-AF65-F5344CB8AC3E}">
        <p14:creationId xmlns:p14="http://schemas.microsoft.com/office/powerpoint/2010/main" val="3313672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Title Placeholder 1">
            <a:extLst>
              <a:ext uri="{FF2B5EF4-FFF2-40B4-BE49-F238E27FC236}">
                <a16:creationId xmlns:a16="http://schemas.microsoft.com/office/drawing/2014/main" id="{0B397FA8-DF4E-40C8-8332-4BB17DB3740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5123" name="Text Placeholder 2">
            <a:extLst>
              <a:ext uri="{FF2B5EF4-FFF2-40B4-BE49-F238E27FC236}">
                <a16:creationId xmlns:a16="http://schemas.microsoft.com/office/drawing/2014/main" id="{8619B8F2-5F32-439F-BBBE-9448199AC37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FA488EB-0B72-4409-85C9-94D5D94CBFE4}"/>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22F1D8B-7214-45B3-B22F-2E068FEFF462}" type="datetimeFigureOut">
              <a:rPr lang="en-US"/>
              <a:pPr>
                <a:defRPr/>
              </a:pPr>
              <a:t>8/31/2024</a:t>
            </a:fld>
            <a:endParaRPr lang="en-US"/>
          </a:p>
        </p:txBody>
      </p:sp>
      <p:sp>
        <p:nvSpPr>
          <p:cNvPr id="5" name="Footer Placeholder 4">
            <a:extLst>
              <a:ext uri="{FF2B5EF4-FFF2-40B4-BE49-F238E27FC236}">
                <a16:creationId xmlns:a16="http://schemas.microsoft.com/office/drawing/2014/main" id="{F2A93042-E091-48BB-B6B1-E78DACA455A9}"/>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4094E260-A8CE-4DE6-A334-E30870427D4F}"/>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C265E527-4420-49A3-82BA-A348E6DBCE9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4.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3.wmf"/><Relationship Id="rId4" Type="http://schemas.openxmlformats.org/officeDocument/2006/relationships/oleObject" Target="../embeddings/oleObject1.bin"/><Relationship Id="rId9" Type="http://schemas.openxmlformats.org/officeDocument/2006/relationships/image" Target="../media/image15.w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6.wmf"/><Relationship Id="rId4"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8.wmf"/><Relationship Id="rId5" Type="http://schemas.openxmlformats.org/officeDocument/2006/relationships/oleObject" Target="../embeddings/oleObject6.bin"/><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21.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20.wmf"/><Relationship Id="rId4" Type="http://schemas.openxmlformats.org/officeDocument/2006/relationships/oleObject" Target="../embeddings/oleObject7.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2.wmf"/><Relationship Id="rId4" Type="http://schemas.openxmlformats.org/officeDocument/2006/relationships/oleObject" Target="../embeddings/oleObject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0863961-A077-42E9-8579-2A838F21D501}"/>
              </a:ext>
            </a:extLst>
          </p:cNvPr>
          <p:cNvSpPr>
            <a:spLocks noGrp="1"/>
          </p:cNvSpPr>
          <p:nvPr>
            <p:ph type="ctrTitle"/>
          </p:nvPr>
        </p:nvSpPr>
        <p:spPr>
          <a:xfrm>
            <a:off x="685800" y="1600200"/>
            <a:ext cx="7772400" cy="2838450"/>
          </a:xfrm>
        </p:spPr>
        <p:txBody>
          <a:bodyPr/>
          <a:lstStyle/>
          <a:p>
            <a:pPr eaLnBrk="1" hangingPunct="1"/>
            <a:r>
              <a:rPr lang="en-US" altLang="en-US" dirty="0">
                <a:solidFill>
                  <a:srgbClr val="0070C0"/>
                </a:solidFill>
              </a:rPr>
              <a:t>ENGR 290</a:t>
            </a:r>
            <a:br>
              <a:rPr lang="en-US" altLang="en-US" dirty="0"/>
            </a:br>
            <a:br>
              <a:rPr lang="en-US" altLang="en-US" dirty="0"/>
            </a:br>
            <a:r>
              <a:rPr lang="en-US" altLang="en-US" dirty="0"/>
              <a:t>Atomic Arrangements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3A28B8F-71C7-4F2F-BB60-BD26088ACAE5}"/>
              </a:ext>
            </a:extLst>
          </p:cNvPr>
          <p:cNvSpPr>
            <a:spLocks noGrp="1" noChangeArrowheads="1"/>
          </p:cNvSpPr>
          <p:nvPr>
            <p:ph type="title"/>
          </p:nvPr>
        </p:nvSpPr>
        <p:spPr>
          <a:xfrm>
            <a:off x="685800" y="0"/>
            <a:ext cx="7772400" cy="8001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4000" b="1"/>
              <a:t>Periodic Table</a:t>
            </a:r>
            <a:endParaRPr lang="en-US" altLang="en-US" sz="3200" b="1"/>
          </a:p>
        </p:txBody>
      </p:sp>
      <p:sp>
        <p:nvSpPr>
          <p:cNvPr id="58371" name="Rectangle 3">
            <a:extLst>
              <a:ext uri="{FF2B5EF4-FFF2-40B4-BE49-F238E27FC236}">
                <a16:creationId xmlns:a16="http://schemas.microsoft.com/office/drawing/2014/main" id="{14441D17-78C9-4F43-912A-87B847E98EC7}"/>
              </a:ext>
            </a:extLst>
          </p:cNvPr>
          <p:cNvSpPr>
            <a:spLocks noChangeArrowheads="1"/>
          </p:cNvSpPr>
          <p:nvPr/>
        </p:nvSpPr>
        <p:spPr bwMode="auto">
          <a:xfrm>
            <a:off x="184150" y="762000"/>
            <a:ext cx="873125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a:t>Dimitry Mendeleyev</a:t>
            </a:r>
            <a:r>
              <a:rPr lang="en-US" altLang="en-US" sz="2400"/>
              <a:t> was the first to arrange the Periodic Table of Elements based on their atomic mass in 1869.</a:t>
            </a:r>
          </a:p>
          <a:p>
            <a:pPr>
              <a:buFont typeface="Arial" panose="020B0604020202020204" pitchFamily="34" charset="0"/>
              <a:buNone/>
            </a:pPr>
            <a:endParaRPr lang="en-US" altLang="en-US" sz="2400"/>
          </a:p>
          <a:p>
            <a:pPr>
              <a:buFont typeface="Arial" panose="020B0604020202020204" pitchFamily="34" charset="0"/>
              <a:buNone/>
            </a:pPr>
            <a:r>
              <a:rPr lang="en-US" altLang="en-US" sz="2400"/>
              <a:t>Of the 103 accepted elements (117 or 118 in total are known)</a:t>
            </a:r>
          </a:p>
          <a:p>
            <a:r>
              <a:rPr lang="en-US" altLang="en-US" sz="2400"/>
              <a:t>80 are metal</a:t>
            </a:r>
          </a:p>
          <a:p>
            <a:r>
              <a:rPr lang="en-US" altLang="en-US" sz="2400"/>
              <a:t>9 are non-solids.</a:t>
            </a:r>
          </a:p>
          <a:p>
            <a:r>
              <a:rPr lang="en-US" altLang="en-US" sz="2400"/>
              <a:t>8 are reactive gases</a:t>
            </a:r>
          </a:p>
          <a:p>
            <a:r>
              <a:rPr lang="en-US" altLang="en-US" sz="2400"/>
              <a:t>6 are Noble (inert) gases</a:t>
            </a:r>
          </a:p>
          <a:p>
            <a:pPr>
              <a:buFont typeface="Arial" panose="020B0604020202020204" pitchFamily="34" charset="0"/>
              <a:buNone/>
            </a:pPr>
            <a:endParaRPr lang="en-US" altLang="en-US" sz="2400"/>
          </a:p>
          <a:p>
            <a:pPr>
              <a:buFont typeface="Arial" panose="020B0604020202020204" pitchFamily="34" charset="0"/>
              <a:buNone/>
            </a:pPr>
            <a:r>
              <a:rPr lang="en-US" altLang="en-US" sz="2400"/>
              <a:t>The </a:t>
            </a:r>
            <a:r>
              <a:rPr lang="en-US" altLang="en-US" sz="2400" b="1"/>
              <a:t>metals </a:t>
            </a:r>
            <a:r>
              <a:rPr lang="en-US" altLang="en-US" sz="2400"/>
              <a:t>break down into three broad groups</a:t>
            </a:r>
          </a:p>
          <a:p>
            <a:r>
              <a:rPr lang="en-US" altLang="en-US" sz="2400"/>
              <a:t>The True Metals – with filled inner electron shells</a:t>
            </a:r>
          </a:p>
          <a:p>
            <a:r>
              <a:rPr lang="en-US" altLang="en-US" sz="2400"/>
              <a:t>The Transition Metals – with unfilled d-electron states</a:t>
            </a:r>
          </a:p>
          <a:p>
            <a:r>
              <a:rPr lang="en-US" altLang="en-US" sz="2400"/>
              <a:t>The Rare Earths and Actinides – with unfilled f-electron states. </a:t>
            </a:r>
          </a:p>
        </p:txBody>
      </p:sp>
    </p:spTree>
  </p:cSld>
  <p:clrMapOvr>
    <a:masterClrMapping/>
  </p:clrMapOvr>
  <p:transition>
    <p:pull dir="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periodic%20table">
            <a:extLst>
              <a:ext uri="{FF2B5EF4-FFF2-40B4-BE49-F238E27FC236}">
                <a16:creationId xmlns:a16="http://schemas.microsoft.com/office/drawing/2014/main" id="{EF36285B-42B7-4048-8532-241A363767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8600"/>
            <a:ext cx="9144000" cy="6494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periodic table">
            <a:extLst>
              <a:ext uri="{FF2B5EF4-FFF2-40B4-BE49-F238E27FC236}">
                <a16:creationId xmlns:a16="http://schemas.microsoft.com/office/drawing/2014/main" id="{138D6893-9D94-4DD8-9A6C-26A0A68A99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3400"/>
            <a:ext cx="9144000" cy="5467350"/>
          </a:xfrm>
          <a:prstGeom prst="rect">
            <a:avLst/>
          </a:prstGeom>
          <a:noFill/>
          <a:extLst>
            <a:ext uri="{909E8E84-426E-40DD-AFC4-6F175D3DCCD1}">
              <a14:hiddenFill xmlns:a14="http://schemas.microsoft.com/office/drawing/2010/main">
                <a:solidFill>
                  <a:srgbClr val="FFFFFF"/>
                </a:solidFill>
              </a14:hiddenFill>
            </a:ext>
          </a:extLst>
        </p:spPr>
      </p:pic>
      <p:sp>
        <p:nvSpPr>
          <p:cNvPr id="46083" name="Text Box 3">
            <a:extLst>
              <a:ext uri="{FF2B5EF4-FFF2-40B4-BE49-F238E27FC236}">
                <a16:creationId xmlns:a16="http://schemas.microsoft.com/office/drawing/2014/main" id="{DB05386F-63CA-46F2-93C0-EA1EB18BCDD2}"/>
              </a:ext>
            </a:extLst>
          </p:cNvPr>
          <p:cNvSpPr txBox="1">
            <a:spLocks noChangeArrowheads="1"/>
          </p:cNvSpPr>
          <p:nvPr/>
        </p:nvSpPr>
        <p:spPr bwMode="auto">
          <a:xfrm>
            <a:off x="58738" y="6096000"/>
            <a:ext cx="9085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400">
                <a:latin typeface="Times New Roman" panose="02020603050405020304" pitchFamily="18" charset="0"/>
              </a:rPr>
              <a:t>The atomic number, atomic mass, density and crystal structure are given.</a:t>
            </a:r>
          </a:p>
        </p:txBody>
      </p:sp>
    </p:spTree>
  </p:cSld>
  <p:clrMapOvr>
    <a:masterClrMapping/>
  </p:clrMapOvr>
  <p:transition>
    <p:pull dir="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5C63FDC3-6173-4425-A019-575BFCA82854}"/>
              </a:ext>
            </a:extLst>
          </p:cNvPr>
          <p:cNvSpPr>
            <a:spLocks noGrp="1"/>
          </p:cNvSpPr>
          <p:nvPr>
            <p:ph type="title" idx="4294967295"/>
          </p:nvPr>
        </p:nvSpPr>
        <p:spPr>
          <a:xfrm>
            <a:off x="457200" y="274638"/>
            <a:ext cx="8229600" cy="487362"/>
          </a:xfrm>
        </p:spPr>
        <p:txBody>
          <a:bodyPr/>
          <a:lstStyle/>
          <a:p>
            <a:pPr eaLnBrk="1" hangingPunct="1"/>
            <a:r>
              <a:rPr lang="en-US" altLang="en-US" sz="3200"/>
              <a:t>Definitions</a:t>
            </a:r>
          </a:p>
        </p:txBody>
      </p:sp>
      <p:sp>
        <p:nvSpPr>
          <p:cNvPr id="48131" name="Content Placeholder 2">
            <a:extLst>
              <a:ext uri="{FF2B5EF4-FFF2-40B4-BE49-F238E27FC236}">
                <a16:creationId xmlns:a16="http://schemas.microsoft.com/office/drawing/2014/main" id="{A8DEAB99-9BBA-40E2-8BD4-D5CAD9256195}"/>
              </a:ext>
            </a:extLst>
          </p:cNvPr>
          <p:cNvSpPr>
            <a:spLocks noGrp="1"/>
          </p:cNvSpPr>
          <p:nvPr>
            <p:ph idx="4294967295"/>
          </p:nvPr>
        </p:nvSpPr>
        <p:spPr>
          <a:xfrm>
            <a:off x="381000" y="990600"/>
            <a:ext cx="8229600" cy="685800"/>
          </a:xfrm>
        </p:spPr>
        <p:txBody>
          <a:bodyPr/>
          <a:lstStyle/>
          <a:p>
            <a:pPr eaLnBrk="1" hangingPunct="1">
              <a:buFont typeface="Arial" panose="020B0604020202020204" pitchFamily="34" charset="0"/>
              <a:buNone/>
            </a:pPr>
            <a:r>
              <a:rPr lang="en-US" altLang="en-US" sz="2800"/>
              <a:t>The Bohr Model for atoms</a:t>
            </a:r>
          </a:p>
        </p:txBody>
      </p:sp>
      <p:sp>
        <p:nvSpPr>
          <p:cNvPr id="48142" name="Text Box 14">
            <a:extLst>
              <a:ext uri="{FF2B5EF4-FFF2-40B4-BE49-F238E27FC236}">
                <a16:creationId xmlns:a16="http://schemas.microsoft.com/office/drawing/2014/main" id="{2AB2344E-C8D0-4EE5-A0C6-87D823A38F5D}"/>
              </a:ext>
            </a:extLst>
          </p:cNvPr>
          <p:cNvSpPr txBox="1">
            <a:spLocks noChangeArrowheads="1"/>
          </p:cNvSpPr>
          <p:nvPr/>
        </p:nvSpPr>
        <p:spPr bwMode="auto">
          <a:xfrm>
            <a:off x="762000" y="2438400"/>
            <a:ext cx="26670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u="sng"/>
              <a:t>Oxygen:</a:t>
            </a:r>
            <a:endParaRPr lang="en-US" altLang="en-US" sz="2400"/>
          </a:p>
          <a:p>
            <a:pPr>
              <a:spcBef>
                <a:spcPct val="50000"/>
              </a:spcBef>
            </a:pPr>
            <a:r>
              <a:rPr lang="en-US" altLang="en-US" sz="2400"/>
              <a:t>8 electrons (2,6)</a:t>
            </a:r>
          </a:p>
          <a:p>
            <a:pPr>
              <a:spcBef>
                <a:spcPct val="50000"/>
              </a:spcBef>
            </a:pPr>
            <a:r>
              <a:rPr lang="en-US" altLang="en-US" sz="2400"/>
              <a:t>8 protons</a:t>
            </a:r>
          </a:p>
          <a:p>
            <a:pPr>
              <a:spcBef>
                <a:spcPct val="50000"/>
              </a:spcBef>
            </a:pPr>
            <a:r>
              <a:rPr lang="en-US" altLang="en-US" sz="2400"/>
              <a:t>8 neutrons</a:t>
            </a:r>
            <a:endParaRPr lang="en-US" altLang="en-US" sz="2400" b="1" u="sng"/>
          </a:p>
        </p:txBody>
      </p:sp>
      <p:grpSp>
        <p:nvGrpSpPr>
          <p:cNvPr id="48151" name="Group 23">
            <a:extLst>
              <a:ext uri="{FF2B5EF4-FFF2-40B4-BE49-F238E27FC236}">
                <a16:creationId xmlns:a16="http://schemas.microsoft.com/office/drawing/2014/main" id="{BE3D1F9D-69F2-4DB4-A273-2EE7E2F88EC6}"/>
              </a:ext>
            </a:extLst>
          </p:cNvPr>
          <p:cNvGrpSpPr>
            <a:grpSpLocks/>
          </p:cNvGrpSpPr>
          <p:nvPr/>
        </p:nvGrpSpPr>
        <p:grpSpPr bwMode="auto">
          <a:xfrm>
            <a:off x="4114800" y="1828800"/>
            <a:ext cx="4114800" cy="3505200"/>
            <a:chOff x="2592" y="1152"/>
            <a:chExt cx="2592" cy="2208"/>
          </a:xfrm>
        </p:grpSpPr>
        <p:sp>
          <p:nvSpPr>
            <p:cNvPr id="48133" name="Oval 5">
              <a:extLst>
                <a:ext uri="{FF2B5EF4-FFF2-40B4-BE49-F238E27FC236}">
                  <a16:creationId xmlns:a16="http://schemas.microsoft.com/office/drawing/2014/main" id="{3F7E7E16-A211-4CDD-AF8E-A034EEC65887}"/>
                </a:ext>
              </a:extLst>
            </p:cNvPr>
            <p:cNvSpPr>
              <a:spLocks noChangeArrowheads="1"/>
            </p:cNvSpPr>
            <p:nvPr/>
          </p:nvSpPr>
          <p:spPr bwMode="auto">
            <a:xfrm>
              <a:off x="3723" y="2094"/>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4" name="Oval 6">
              <a:extLst>
                <a:ext uri="{FF2B5EF4-FFF2-40B4-BE49-F238E27FC236}">
                  <a16:creationId xmlns:a16="http://schemas.microsoft.com/office/drawing/2014/main" id="{99B72297-832E-43A7-AE6F-A270B27B9D64}"/>
                </a:ext>
              </a:extLst>
            </p:cNvPr>
            <p:cNvSpPr>
              <a:spLocks noChangeArrowheads="1"/>
            </p:cNvSpPr>
            <p:nvPr/>
          </p:nvSpPr>
          <p:spPr bwMode="auto">
            <a:xfrm>
              <a:off x="3072" y="1584"/>
              <a:ext cx="1584" cy="1344"/>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5" name="Oval 7">
              <a:extLst>
                <a:ext uri="{FF2B5EF4-FFF2-40B4-BE49-F238E27FC236}">
                  <a16:creationId xmlns:a16="http://schemas.microsoft.com/office/drawing/2014/main" id="{A9AD8629-2649-4AB3-A968-857FAFFFD5DD}"/>
                </a:ext>
              </a:extLst>
            </p:cNvPr>
            <p:cNvSpPr>
              <a:spLocks noChangeArrowheads="1"/>
            </p:cNvSpPr>
            <p:nvPr/>
          </p:nvSpPr>
          <p:spPr bwMode="auto">
            <a:xfrm>
              <a:off x="2688" y="1248"/>
              <a:ext cx="2400" cy="2016"/>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6" name="Oval 8">
              <a:extLst>
                <a:ext uri="{FF2B5EF4-FFF2-40B4-BE49-F238E27FC236}">
                  <a16:creationId xmlns:a16="http://schemas.microsoft.com/office/drawing/2014/main" id="{BA6E0233-5454-461F-B190-E2C711BA39D2}"/>
                </a:ext>
              </a:extLst>
            </p:cNvPr>
            <p:cNvSpPr>
              <a:spLocks noChangeArrowheads="1"/>
            </p:cNvSpPr>
            <p:nvPr/>
          </p:nvSpPr>
          <p:spPr bwMode="auto">
            <a:xfrm>
              <a:off x="3792" y="1152"/>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7" name="Oval 9">
              <a:extLst>
                <a:ext uri="{FF2B5EF4-FFF2-40B4-BE49-F238E27FC236}">
                  <a16:creationId xmlns:a16="http://schemas.microsoft.com/office/drawing/2014/main" id="{55897CAA-CCDC-486D-A249-99CA4C39054D}"/>
                </a:ext>
              </a:extLst>
            </p:cNvPr>
            <p:cNvSpPr>
              <a:spLocks noChangeArrowheads="1"/>
            </p:cNvSpPr>
            <p:nvPr/>
          </p:nvSpPr>
          <p:spPr bwMode="auto">
            <a:xfrm>
              <a:off x="3744" y="3168"/>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8" name="Oval 10">
              <a:extLst>
                <a:ext uri="{FF2B5EF4-FFF2-40B4-BE49-F238E27FC236}">
                  <a16:creationId xmlns:a16="http://schemas.microsoft.com/office/drawing/2014/main" id="{018A8ECF-4E3C-4437-BD41-2E0F552D6D59}"/>
                </a:ext>
              </a:extLst>
            </p:cNvPr>
            <p:cNvSpPr>
              <a:spLocks noChangeArrowheads="1"/>
            </p:cNvSpPr>
            <p:nvPr/>
          </p:nvSpPr>
          <p:spPr bwMode="auto">
            <a:xfrm>
              <a:off x="2592" y="2112"/>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9" name="Oval 11">
              <a:extLst>
                <a:ext uri="{FF2B5EF4-FFF2-40B4-BE49-F238E27FC236}">
                  <a16:creationId xmlns:a16="http://schemas.microsoft.com/office/drawing/2014/main" id="{B1BD96EA-5D45-42F7-AE7D-82AD93A1D59A}"/>
                </a:ext>
              </a:extLst>
            </p:cNvPr>
            <p:cNvSpPr>
              <a:spLocks noChangeArrowheads="1"/>
            </p:cNvSpPr>
            <p:nvPr/>
          </p:nvSpPr>
          <p:spPr bwMode="auto">
            <a:xfrm>
              <a:off x="4992" y="2064"/>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0" name="Oval 12">
              <a:extLst>
                <a:ext uri="{FF2B5EF4-FFF2-40B4-BE49-F238E27FC236}">
                  <a16:creationId xmlns:a16="http://schemas.microsoft.com/office/drawing/2014/main" id="{8A8283F7-E903-4500-8B5B-BE7744842DC5}"/>
                </a:ext>
              </a:extLst>
            </p:cNvPr>
            <p:cNvSpPr>
              <a:spLocks noChangeArrowheads="1"/>
            </p:cNvSpPr>
            <p:nvPr/>
          </p:nvSpPr>
          <p:spPr bwMode="auto">
            <a:xfrm>
              <a:off x="3792" y="1488"/>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1" name="Oval 13">
              <a:extLst>
                <a:ext uri="{FF2B5EF4-FFF2-40B4-BE49-F238E27FC236}">
                  <a16:creationId xmlns:a16="http://schemas.microsoft.com/office/drawing/2014/main" id="{B9660CDF-304C-4D90-AFBF-00198299A75E}"/>
                </a:ext>
              </a:extLst>
            </p:cNvPr>
            <p:cNvSpPr>
              <a:spLocks noChangeArrowheads="1"/>
            </p:cNvSpPr>
            <p:nvPr/>
          </p:nvSpPr>
          <p:spPr bwMode="auto">
            <a:xfrm>
              <a:off x="3744" y="2832"/>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4" name="Oval 16">
              <a:extLst>
                <a:ext uri="{FF2B5EF4-FFF2-40B4-BE49-F238E27FC236}">
                  <a16:creationId xmlns:a16="http://schemas.microsoft.com/office/drawing/2014/main" id="{BDB7152A-4ABF-43AD-BE79-DBCE0B6F24BE}"/>
                </a:ext>
              </a:extLst>
            </p:cNvPr>
            <p:cNvSpPr>
              <a:spLocks noChangeArrowheads="1"/>
            </p:cNvSpPr>
            <p:nvPr/>
          </p:nvSpPr>
          <p:spPr bwMode="auto">
            <a:xfrm>
              <a:off x="4608" y="1440"/>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5" name="Oval 17">
              <a:extLst>
                <a:ext uri="{FF2B5EF4-FFF2-40B4-BE49-F238E27FC236}">
                  <a16:creationId xmlns:a16="http://schemas.microsoft.com/office/drawing/2014/main" id="{24EAA549-198C-46A0-A384-BC7FB8EF8F20}"/>
                </a:ext>
              </a:extLst>
            </p:cNvPr>
            <p:cNvSpPr>
              <a:spLocks noChangeArrowheads="1"/>
            </p:cNvSpPr>
            <p:nvPr/>
          </p:nvSpPr>
          <p:spPr bwMode="auto">
            <a:xfrm>
              <a:off x="2880" y="2832"/>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6" name="Oval 18">
              <a:extLst>
                <a:ext uri="{FF2B5EF4-FFF2-40B4-BE49-F238E27FC236}">
                  <a16:creationId xmlns:a16="http://schemas.microsoft.com/office/drawing/2014/main" id="{9B58CDFE-E4C8-4C31-9FE2-1F0F1C96911E}"/>
                </a:ext>
              </a:extLst>
            </p:cNvPr>
            <p:cNvSpPr>
              <a:spLocks noChangeArrowheads="1"/>
            </p:cNvSpPr>
            <p:nvPr/>
          </p:nvSpPr>
          <p:spPr bwMode="auto">
            <a:xfrm>
              <a:off x="2967" y="1431"/>
              <a:ext cx="192" cy="192"/>
            </a:xfrm>
            <a:prstGeom prst="ellipse">
              <a:avLst/>
            </a:prstGeom>
            <a:noFill/>
            <a:ln w="9525"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7" name="Oval 19">
              <a:extLst>
                <a:ext uri="{FF2B5EF4-FFF2-40B4-BE49-F238E27FC236}">
                  <a16:creationId xmlns:a16="http://schemas.microsoft.com/office/drawing/2014/main" id="{ACBB4B4B-FDE3-443E-89EB-75B6E73D94EF}"/>
                </a:ext>
              </a:extLst>
            </p:cNvPr>
            <p:cNvSpPr>
              <a:spLocks noChangeArrowheads="1"/>
            </p:cNvSpPr>
            <p:nvPr/>
          </p:nvSpPr>
          <p:spPr bwMode="auto">
            <a:xfrm>
              <a:off x="4686" y="2832"/>
              <a:ext cx="192" cy="192"/>
            </a:xfrm>
            <a:prstGeom prst="ellipse">
              <a:avLst/>
            </a:prstGeom>
            <a:noFill/>
            <a:ln w="9525"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9" name="Text Box 21">
              <a:extLst>
                <a:ext uri="{FF2B5EF4-FFF2-40B4-BE49-F238E27FC236}">
                  <a16:creationId xmlns:a16="http://schemas.microsoft.com/office/drawing/2014/main" id="{B04365BA-CA5C-499F-A884-B9872820B840}"/>
                </a:ext>
              </a:extLst>
            </p:cNvPr>
            <p:cNvSpPr txBox="1">
              <a:spLocks noChangeArrowheads="1"/>
            </p:cNvSpPr>
            <p:nvPr/>
          </p:nvSpPr>
          <p:spPr bwMode="auto">
            <a:xfrm>
              <a:off x="3696" y="1872"/>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8 +</a:t>
              </a:r>
            </a:p>
          </p:txBody>
        </p:sp>
        <p:sp>
          <p:nvSpPr>
            <p:cNvPr id="48150" name="Text Box 22">
              <a:extLst>
                <a:ext uri="{FF2B5EF4-FFF2-40B4-BE49-F238E27FC236}">
                  <a16:creationId xmlns:a16="http://schemas.microsoft.com/office/drawing/2014/main" id="{56D61AB5-DA7A-4163-87D8-C442DC562D8C}"/>
                </a:ext>
              </a:extLst>
            </p:cNvPr>
            <p:cNvSpPr txBox="1">
              <a:spLocks noChangeArrowheads="1"/>
            </p:cNvSpPr>
            <p:nvPr/>
          </p:nvSpPr>
          <p:spPr bwMode="auto">
            <a:xfrm>
              <a:off x="3696" y="240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8 N</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C6B9BC8B-ACBE-41F8-BC9A-3F58BD4044D9}"/>
              </a:ext>
            </a:extLst>
          </p:cNvPr>
          <p:cNvSpPr>
            <a:spLocks noGrp="1"/>
          </p:cNvSpPr>
          <p:nvPr>
            <p:ph type="title"/>
          </p:nvPr>
        </p:nvSpPr>
        <p:spPr>
          <a:xfrm>
            <a:off x="457200" y="274638"/>
            <a:ext cx="8229600" cy="487362"/>
          </a:xfrm>
        </p:spPr>
        <p:txBody>
          <a:bodyPr/>
          <a:lstStyle/>
          <a:p>
            <a:pPr eaLnBrk="1" hangingPunct="1"/>
            <a:r>
              <a:rPr lang="en-US" altLang="en-US" sz="3200"/>
              <a:t>Definitions</a:t>
            </a:r>
          </a:p>
        </p:txBody>
      </p:sp>
      <p:sp>
        <p:nvSpPr>
          <p:cNvPr id="7171" name="Content Placeholder 2">
            <a:extLst>
              <a:ext uri="{FF2B5EF4-FFF2-40B4-BE49-F238E27FC236}">
                <a16:creationId xmlns:a16="http://schemas.microsoft.com/office/drawing/2014/main" id="{319E2D4E-6A43-467D-BCAD-BEFE243C4A97}"/>
              </a:ext>
            </a:extLst>
          </p:cNvPr>
          <p:cNvSpPr>
            <a:spLocks noGrp="1"/>
          </p:cNvSpPr>
          <p:nvPr>
            <p:ph idx="1"/>
          </p:nvPr>
        </p:nvSpPr>
        <p:spPr>
          <a:xfrm>
            <a:off x="381000" y="990600"/>
            <a:ext cx="8229600" cy="685800"/>
          </a:xfrm>
        </p:spPr>
        <p:txBody>
          <a:bodyPr/>
          <a:lstStyle/>
          <a:p>
            <a:pPr eaLnBrk="1" hangingPunct="1">
              <a:buFont typeface="Arial" panose="020B0604020202020204" pitchFamily="34" charset="0"/>
              <a:buNone/>
            </a:pPr>
            <a:r>
              <a:rPr lang="en-US" altLang="en-US" sz="2800"/>
              <a:t>The Quantum Model for atoms</a:t>
            </a:r>
          </a:p>
        </p:txBody>
      </p:sp>
      <p:sp>
        <p:nvSpPr>
          <p:cNvPr id="7183" name="Text Box 15">
            <a:extLst>
              <a:ext uri="{FF2B5EF4-FFF2-40B4-BE49-F238E27FC236}">
                <a16:creationId xmlns:a16="http://schemas.microsoft.com/office/drawing/2014/main" id="{E999E4F1-4B99-4CCF-BE75-8CCB1BD2F2B3}"/>
              </a:ext>
            </a:extLst>
          </p:cNvPr>
          <p:cNvSpPr txBox="1">
            <a:spLocks noChangeArrowheads="1"/>
          </p:cNvSpPr>
          <p:nvPr/>
        </p:nvSpPr>
        <p:spPr bwMode="auto">
          <a:xfrm>
            <a:off x="533400" y="2209800"/>
            <a:ext cx="38100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u="sng"/>
              <a:t>Oxygen:</a:t>
            </a:r>
            <a:endParaRPr lang="en-US" altLang="en-US" sz="2400"/>
          </a:p>
          <a:p>
            <a:pPr>
              <a:spcBef>
                <a:spcPct val="50000"/>
              </a:spcBef>
            </a:pPr>
            <a:r>
              <a:rPr lang="en-US" altLang="en-US" sz="2400"/>
              <a:t>8 electrons ( 1s</a:t>
            </a:r>
            <a:r>
              <a:rPr lang="en-US" altLang="en-US" sz="2400" baseline="30000"/>
              <a:t>2</a:t>
            </a:r>
            <a:r>
              <a:rPr lang="en-US" altLang="en-US" sz="2400"/>
              <a:t>, 2s</a:t>
            </a:r>
            <a:r>
              <a:rPr lang="en-US" altLang="en-US" sz="2400" baseline="30000"/>
              <a:t>2</a:t>
            </a:r>
            <a:r>
              <a:rPr lang="en-US" altLang="en-US" sz="2400"/>
              <a:t>, 2p</a:t>
            </a:r>
            <a:r>
              <a:rPr lang="en-US" altLang="en-US" sz="2400" baseline="30000"/>
              <a:t>4</a:t>
            </a:r>
            <a:r>
              <a:rPr lang="en-US" altLang="en-US" sz="2400"/>
              <a:t>)</a:t>
            </a:r>
          </a:p>
          <a:p>
            <a:pPr>
              <a:spcBef>
                <a:spcPct val="50000"/>
              </a:spcBef>
            </a:pPr>
            <a:r>
              <a:rPr lang="en-US" altLang="en-US" sz="2400"/>
              <a:t>8 protons</a:t>
            </a:r>
          </a:p>
          <a:p>
            <a:pPr>
              <a:spcBef>
                <a:spcPct val="50000"/>
              </a:spcBef>
            </a:pPr>
            <a:r>
              <a:rPr lang="en-US" altLang="en-US" sz="2400"/>
              <a:t>8 neutrons</a:t>
            </a:r>
            <a:endParaRPr lang="en-US" altLang="en-US" sz="2400" b="1" u="sng"/>
          </a:p>
        </p:txBody>
      </p:sp>
      <p:grpSp>
        <p:nvGrpSpPr>
          <p:cNvPr id="7191" name="Group 23">
            <a:extLst>
              <a:ext uri="{FF2B5EF4-FFF2-40B4-BE49-F238E27FC236}">
                <a16:creationId xmlns:a16="http://schemas.microsoft.com/office/drawing/2014/main" id="{8D5AD818-A81E-4397-BE52-5EBC9F908D59}"/>
              </a:ext>
            </a:extLst>
          </p:cNvPr>
          <p:cNvGrpSpPr>
            <a:grpSpLocks/>
          </p:cNvGrpSpPr>
          <p:nvPr/>
        </p:nvGrpSpPr>
        <p:grpSpPr bwMode="auto">
          <a:xfrm>
            <a:off x="4681538" y="1828800"/>
            <a:ext cx="3929062" cy="3505200"/>
            <a:chOff x="2949" y="1152"/>
            <a:chExt cx="2475" cy="2208"/>
          </a:xfrm>
        </p:grpSpPr>
        <p:sp>
          <p:nvSpPr>
            <p:cNvPr id="7173" name="Oval 5">
              <a:extLst>
                <a:ext uri="{FF2B5EF4-FFF2-40B4-BE49-F238E27FC236}">
                  <a16:creationId xmlns:a16="http://schemas.microsoft.com/office/drawing/2014/main" id="{5537945E-99DC-4EE4-A396-6DBE813C4A86}"/>
                </a:ext>
              </a:extLst>
            </p:cNvPr>
            <p:cNvSpPr>
              <a:spLocks noChangeArrowheads="1"/>
            </p:cNvSpPr>
            <p:nvPr/>
          </p:nvSpPr>
          <p:spPr bwMode="auto">
            <a:xfrm>
              <a:off x="4032" y="2112"/>
              <a:ext cx="336"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74" name="Oval 6">
              <a:extLst>
                <a:ext uri="{FF2B5EF4-FFF2-40B4-BE49-F238E27FC236}">
                  <a16:creationId xmlns:a16="http://schemas.microsoft.com/office/drawing/2014/main" id="{529CEB55-CAE6-4472-8542-06EE3CF214F7}"/>
                </a:ext>
              </a:extLst>
            </p:cNvPr>
            <p:cNvSpPr>
              <a:spLocks noChangeArrowheads="1"/>
            </p:cNvSpPr>
            <p:nvPr/>
          </p:nvSpPr>
          <p:spPr bwMode="auto">
            <a:xfrm>
              <a:off x="3408" y="1584"/>
              <a:ext cx="1584" cy="1344"/>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75" name="Oval 7">
              <a:extLst>
                <a:ext uri="{FF2B5EF4-FFF2-40B4-BE49-F238E27FC236}">
                  <a16:creationId xmlns:a16="http://schemas.microsoft.com/office/drawing/2014/main" id="{11B4A3E3-BF34-4D97-80C4-A48DBCFE50A7}"/>
                </a:ext>
              </a:extLst>
            </p:cNvPr>
            <p:cNvSpPr>
              <a:spLocks noChangeArrowheads="1"/>
            </p:cNvSpPr>
            <p:nvPr/>
          </p:nvSpPr>
          <p:spPr bwMode="auto">
            <a:xfrm>
              <a:off x="3024" y="1248"/>
              <a:ext cx="2400" cy="2016"/>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76" name="Oval 8">
              <a:extLst>
                <a:ext uri="{FF2B5EF4-FFF2-40B4-BE49-F238E27FC236}">
                  <a16:creationId xmlns:a16="http://schemas.microsoft.com/office/drawing/2014/main" id="{BDE3BE1C-24D4-4433-96BB-EEA394B41967}"/>
                </a:ext>
              </a:extLst>
            </p:cNvPr>
            <p:cNvSpPr>
              <a:spLocks noChangeArrowheads="1"/>
            </p:cNvSpPr>
            <p:nvPr/>
          </p:nvSpPr>
          <p:spPr bwMode="auto">
            <a:xfrm>
              <a:off x="4272" y="1152"/>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77" name="Oval 9">
              <a:extLst>
                <a:ext uri="{FF2B5EF4-FFF2-40B4-BE49-F238E27FC236}">
                  <a16:creationId xmlns:a16="http://schemas.microsoft.com/office/drawing/2014/main" id="{9F67D2DD-1FBA-488F-A911-E9FBD8EC864B}"/>
                </a:ext>
              </a:extLst>
            </p:cNvPr>
            <p:cNvSpPr>
              <a:spLocks noChangeArrowheads="1"/>
            </p:cNvSpPr>
            <p:nvPr/>
          </p:nvSpPr>
          <p:spPr bwMode="auto">
            <a:xfrm>
              <a:off x="4464" y="1584"/>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78" name="Oval 10">
              <a:extLst>
                <a:ext uri="{FF2B5EF4-FFF2-40B4-BE49-F238E27FC236}">
                  <a16:creationId xmlns:a16="http://schemas.microsoft.com/office/drawing/2014/main" id="{D52FDFF7-C406-484B-809D-7DC314134635}"/>
                </a:ext>
              </a:extLst>
            </p:cNvPr>
            <p:cNvSpPr>
              <a:spLocks noChangeArrowheads="1"/>
            </p:cNvSpPr>
            <p:nvPr/>
          </p:nvSpPr>
          <p:spPr bwMode="auto">
            <a:xfrm>
              <a:off x="3072" y="1680"/>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79" name="Oval 11">
              <a:extLst>
                <a:ext uri="{FF2B5EF4-FFF2-40B4-BE49-F238E27FC236}">
                  <a16:creationId xmlns:a16="http://schemas.microsoft.com/office/drawing/2014/main" id="{2D11D7B3-AE1E-49ED-A675-1D49E72549DE}"/>
                </a:ext>
              </a:extLst>
            </p:cNvPr>
            <p:cNvSpPr>
              <a:spLocks noChangeArrowheads="1"/>
            </p:cNvSpPr>
            <p:nvPr/>
          </p:nvSpPr>
          <p:spPr bwMode="auto">
            <a:xfrm>
              <a:off x="4656" y="1248"/>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80" name="Oval 12">
              <a:extLst>
                <a:ext uri="{FF2B5EF4-FFF2-40B4-BE49-F238E27FC236}">
                  <a16:creationId xmlns:a16="http://schemas.microsoft.com/office/drawing/2014/main" id="{E9E5D224-4565-4571-9142-9923393B5854}"/>
                </a:ext>
              </a:extLst>
            </p:cNvPr>
            <p:cNvSpPr>
              <a:spLocks noChangeArrowheads="1"/>
            </p:cNvSpPr>
            <p:nvPr/>
          </p:nvSpPr>
          <p:spPr bwMode="auto">
            <a:xfrm>
              <a:off x="4128" y="1488"/>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81" name="Oval 13">
              <a:extLst>
                <a:ext uri="{FF2B5EF4-FFF2-40B4-BE49-F238E27FC236}">
                  <a16:creationId xmlns:a16="http://schemas.microsoft.com/office/drawing/2014/main" id="{00DE6D71-0405-42BC-B93E-8201C0697223}"/>
                </a:ext>
              </a:extLst>
            </p:cNvPr>
            <p:cNvSpPr>
              <a:spLocks noChangeArrowheads="1"/>
            </p:cNvSpPr>
            <p:nvPr/>
          </p:nvSpPr>
          <p:spPr bwMode="auto">
            <a:xfrm>
              <a:off x="3504" y="3024"/>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85" name="Oval 17">
              <a:extLst>
                <a:ext uri="{FF2B5EF4-FFF2-40B4-BE49-F238E27FC236}">
                  <a16:creationId xmlns:a16="http://schemas.microsoft.com/office/drawing/2014/main" id="{CA115CF1-9065-4AE2-8B5E-A31295ECE43F}"/>
                </a:ext>
              </a:extLst>
            </p:cNvPr>
            <p:cNvSpPr>
              <a:spLocks noChangeArrowheads="1"/>
            </p:cNvSpPr>
            <p:nvPr/>
          </p:nvSpPr>
          <p:spPr bwMode="auto">
            <a:xfrm>
              <a:off x="4992" y="2844"/>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86" name="Oval 18">
              <a:extLst>
                <a:ext uri="{FF2B5EF4-FFF2-40B4-BE49-F238E27FC236}">
                  <a16:creationId xmlns:a16="http://schemas.microsoft.com/office/drawing/2014/main" id="{76F65217-05E5-4F87-A39F-FBDF20DACF25}"/>
                </a:ext>
              </a:extLst>
            </p:cNvPr>
            <p:cNvSpPr>
              <a:spLocks noChangeArrowheads="1"/>
            </p:cNvSpPr>
            <p:nvPr/>
          </p:nvSpPr>
          <p:spPr bwMode="auto">
            <a:xfrm>
              <a:off x="5205" y="2592"/>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87" name="Text Box 19">
              <a:extLst>
                <a:ext uri="{FF2B5EF4-FFF2-40B4-BE49-F238E27FC236}">
                  <a16:creationId xmlns:a16="http://schemas.microsoft.com/office/drawing/2014/main" id="{C454EF69-1FF5-44A4-8126-03AF4B95DF62}"/>
                </a:ext>
              </a:extLst>
            </p:cNvPr>
            <p:cNvSpPr txBox="1">
              <a:spLocks noChangeArrowheads="1"/>
            </p:cNvSpPr>
            <p:nvPr/>
          </p:nvSpPr>
          <p:spPr bwMode="auto">
            <a:xfrm>
              <a:off x="4032" y="1920"/>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8 +</a:t>
              </a:r>
            </a:p>
          </p:txBody>
        </p:sp>
        <p:sp>
          <p:nvSpPr>
            <p:cNvPr id="7188" name="Text Box 20">
              <a:extLst>
                <a:ext uri="{FF2B5EF4-FFF2-40B4-BE49-F238E27FC236}">
                  <a16:creationId xmlns:a16="http://schemas.microsoft.com/office/drawing/2014/main" id="{D870152B-37EA-4C86-A03A-C52E52734767}"/>
                </a:ext>
              </a:extLst>
            </p:cNvPr>
            <p:cNvSpPr txBox="1">
              <a:spLocks noChangeArrowheads="1"/>
            </p:cNvSpPr>
            <p:nvPr/>
          </p:nvSpPr>
          <p:spPr bwMode="auto">
            <a:xfrm>
              <a:off x="4032" y="2409"/>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8 N</a:t>
              </a:r>
            </a:p>
          </p:txBody>
        </p:sp>
        <p:sp>
          <p:nvSpPr>
            <p:cNvPr id="7189" name="Oval 21">
              <a:extLst>
                <a:ext uri="{FF2B5EF4-FFF2-40B4-BE49-F238E27FC236}">
                  <a16:creationId xmlns:a16="http://schemas.microsoft.com/office/drawing/2014/main" id="{F94001B6-9511-49F1-8874-2848764EC056}"/>
                </a:ext>
              </a:extLst>
            </p:cNvPr>
            <p:cNvSpPr>
              <a:spLocks noChangeArrowheads="1"/>
            </p:cNvSpPr>
            <p:nvPr/>
          </p:nvSpPr>
          <p:spPr bwMode="auto">
            <a:xfrm>
              <a:off x="2949" y="2016"/>
              <a:ext cx="192" cy="192"/>
            </a:xfrm>
            <a:prstGeom prst="ellipse">
              <a:avLst/>
            </a:prstGeom>
            <a:noFill/>
            <a:ln w="9525"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190" name="Oval 22">
              <a:extLst>
                <a:ext uri="{FF2B5EF4-FFF2-40B4-BE49-F238E27FC236}">
                  <a16:creationId xmlns:a16="http://schemas.microsoft.com/office/drawing/2014/main" id="{C6E155F4-EB00-45B4-A29D-3A52F29FE473}"/>
                </a:ext>
              </a:extLst>
            </p:cNvPr>
            <p:cNvSpPr>
              <a:spLocks noChangeArrowheads="1"/>
            </p:cNvSpPr>
            <p:nvPr/>
          </p:nvSpPr>
          <p:spPr bwMode="auto">
            <a:xfrm>
              <a:off x="3888" y="3168"/>
              <a:ext cx="192" cy="192"/>
            </a:xfrm>
            <a:prstGeom prst="ellipse">
              <a:avLst/>
            </a:prstGeom>
            <a:noFill/>
            <a:ln w="9525"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a:extLst>
              <a:ext uri="{FF2B5EF4-FFF2-40B4-BE49-F238E27FC236}">
                <a16:creationId xmlns:a16="http://schemas.microsoft.com/office/drawing/2014/main" id="{C59788EE-A498-4B55-B912-31641B50DB58}"/>
              </a:ext>
            </a:extLst>
          </p:cNvPr>
          <p:cNvSpPr>
            <a:spLocks noChangeArrowheads="1"/>
          </p:cNvSpPr>
          <p:nvPr/>
        </p:nvSpPr>
        <p:spPr bwMode="auto">
          <a:xfrm>
            <a:off x="304800" y="990600"/>
            <a:ext cx="85344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2400" b="1" u="sng"/>
              <a:t>Quantum model:</a:t>
            </a:r>
            <a:endParaRPr lang="en-US" altLang="en-US" sz="2400"/>
          </a:p>
          <a:p>
            <a:pPr>
              <a:buFont typeface="Arial" panose="020B0604020202020204" pitchFamily="34" charset="0"/>
              <a:buNone/>
            </a:pPr>
            <a:r>
              <a:rPr lang="en-US" altLang="en-US" sz="2400"/>
              <a:t>Electronic energy levels in atoms are specified by using quantum numbers.</a:t>
            </a:r>
          </a:p>
          <a:p>
            <a:pPr>
              <a:buFont typeface="Arial" panose="020B0604020202020204" pitchFamily="34" charset="0"/>
              <a:buNone/>
            </a:pPr>
            <a:endParaRPr lang="en-US" altLang="en-US" sz="2400"/>
          </a:p>
          <a:p>
            <a:pPr>
              <a:buFont typeface="Arial" panose="020B0604020202020204" pitchFamily="34" charset="0"/>
              <a:buNone/>
            </a:pPr>
            <a:r>
              <a:rPr lang="en-US" altLang="en-US" sz="2400"/>
              <a:t>The principal quantum is “</a:t>
            </a:r>
            <a:r>
              <a:rPr lang="en-US" altLang="en-US" sz="2400" b="1"/>
              <a:t>n</a:t>
            </a:r>
            <a:r>
              <a:rPr lang="en-US" altLang="en-US" sz="2400"/>
              <a:t>”.</a:t>
            </a:r>
          </a:p>
          <a:p>
            <a:r>
              <a:rPr lang="en-US" altLang="en-US" sz="2400"/>
              <a:t>n indicates the primary electron shell in an atom where the shells are represented by </a:t>
            </a:r>
            <a:r>
              <a:rPr lang="en-US" altLang="en-US" sz="2400" b="1"/>
              <a:t>K=1, L=2, M=3</a:t>
            </a:r>
            <a:r>
              <a:rPr lang="en-US" altLang="en-US" sz="2400"/>
              <a:t>, etc.</a:t>
            </a:r>
          </a:p>
          <a:p>
            <a:endParaRPr lang="en-US" altLang="en-US" sz="2400"/>
          </a:p>
          <a:p>
            <a:pPr eaLnBrk="1" hangingPunct="1">
              <a:buFont typeface="Arial" panose="020B0604020202020204" pitchFamily="34" charset="0"/>
              <a:buNone/>
            </a:pPr>
            <a:r>
              <a:rPr lang="en-US" altLang="en-US" sz="2400"/>
              <a:t>Orbits (1 to 7)</a:t>
            </a:r>
          </a:p>
          <a:p>
            <a:pPr eaLnBrk="1" hangingPunct="1">
              <a:buFont typeface="Arial" panose="020B0604020202020204" pitchFamily="34" charset="0"/>
              <a:buNone/>
            </a:pPr>
            <a:r>
              <a:rPr lang="en-US" altLang="en-US" sz="2400"/>
              <a:t>Sub levels [Orbital (azimuthal)</a:t>
            </a:r>
            <a:r>
              <a:rPr lang="en-US" altLang="en-US" sz="2400" b="1">
                <a:solidFill>
                  <a:srgbClr val="FF0000"/>
                </a:solidFill>
              </a:rPr>
              <a:t> </a:t>
            </a:r>
            <a:r>
              <a:rPr lang="en-US" altLang="en-US" sz="2400"/>
              <a:t>quantum number] are designated by the letters </a:t>
            </a:r>
            <a:r>
              <a:rPr lang="en-US" altLang="en-US" sz="2400" b="1"/>
              <a:t>S</a:t>
            </a:r>
            <a:r>
              <a:rPr lang="en-US" altLang="en-US" sz="2400"/>
              <a:t>, </a:t>
            </a:r>
            <a:r>
              <a:rPr lang="en-US" altLang="en-US" sz="2400" b="1"/>
              <a:t>P, D,</a:t>
            </a:r>
            <a:r>
              <a:rPr lang="en-US" altLang="en-US" sz="2400"/>
              <a:t> and </a:t>
            </a:r>
            <a:r>
              <a:rPr lang="en-US" altLang="en-US" sz="2400" b="1"/>
              <a:t>f.  </a:t>
            </a:r>
            <a:r>
              <a:rPr lang="en-US" altLang="en-US" sz="2400"/>
              <a:t>They are denoted by s = 0, p = 1, d = 2, f = 3, etc. </a:t>
            </a:r>
          </a:p>
          <a:p>
            <a:pPr>
              <a:buFont typeface="Arial" panose="020B0604020202020204" pitchFamily="34" charset="0"/>
              <a:buNone/>
            </a:pPr>
            <a:endParaRPr lang="en-US" altLang="en-US" sz="2400"/>
          </a:p>
        </p:txBody>
      </p:sp>
      <p:sp>
        <p:nvSpPr>
          <p:cNvPr id="52229" name="Title 1">
            <a:extLst>
              <a:ext uri="{FF2B5EF4-FFF2-40B4-BE49-F238E27FC236}">
                <a16:creationId xmlns:a16="http://schemas.microsoft.com/office/drawing/2014/main" id="{05E815A9-5123-4E12-8B09-AF7EAD2FF4D0}"/>
              </a:ext>
            </a:extLst>
          </p:cNvPr>
          <p:cNvSpPr>
            <a:spLocks/>
          </p:cNvSpPr>
          <p:nvPr/>
        </p:nvSpPr>
        <p:spPr bwMode="auto">
          <a:xfrm>
            <a:off x="457200" y="274638"/>
            <a:ext cx="82296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0" hangingPunct="0">
              <a:defRPr sz="4400">
                <a:solidFill>
                  <a:schemeClr val="tx1"/>
                </a:solidFill>
                <a:latin typeface="Calibri" panose="020F0502020204030204" pitchFamily="34" charset="0"/>
              </a:defRPr>
            </a:lvl1pPr>
            <a:lvl2pPr algn="ctr" eaLnBrk="0" hangingPunct="0">
              <a:defRPr sz="4400">
                <a:solidFill>
                  <a:schemeClr val="tx1"/>
                </a:solidFill>
                <a:latin typeface="Calibri" panose="020F0502020204030204" pitchFamily="34" charset="0"/>
              </a:defRPr>
            </a:lvl2pPr>
            <a:lvl3pPr algn="ctr" eaLnBrk="0" hangingPunct="0">
              <a:defRPr sz="4400">
                <a:solidFill>
                  <a:schemeClr val="tx1"/>
                </a:solidFill>
                <a:latin typeface="Calibri" panose="020F0502020204030204" pitchFamily="34" charset="0"/>
              </a:defRPr>
            </a:lvl3pPr>
            <a:lvl4pPr algn="ctr" eaLnBrk="0" hangingPunct="0">
              <a:defRPr sz="4400">
                <a:solidFill>
                  <a:schemeClr val="tx1"/>
                </a:solidFill>
                <a:latin typeface="Calibri" panose="020F0502020204030204" pitchFamily="34" charset="0"/>
              </a:defRPr>
            </a:lvl4pPr>
            <a:lvl5pPr algn="ctr" eaLnBrk="0" hangingPunct="0">
              <a:defRPr sz="4400">
                <a:solidFill>
                  <a:schemeClr val="tx1"/>
                </a:solidFill>
                <a:latin typeface="Calibri" panose="020F0502020204030204" pitchFamily="34" charset="0"/>
              </a:defRPr>
            </a:lvl5pPr>
            <a:lvl6pPr marL="457200" algn="ctr" eaLnBrk="0" fontAlgn="base" hangingPunct="0">
              <a:spcBef>
                <a:spcPct val="0"/>
              </a:spcBef>
              <a:spcAft>
                <a:spcPct val="0"/>
              </a:spcAft>
              <a:defRPr sz="4400">
                <a:solidFill>
                  <a:schemeClr val="tx1"/>
                </a:solidFill>
                <a:latin typeface="Calibri" panose="020F0502020204030204" pitchFamily="34" charset="0"/>
              </a:defRPr>
            </a:lvl6pPr>
            <a:lvl7pPr marL="914400" algn="ctr" eaLnBrk="0" fontAlgn="base" hangingPunct="0">
              <a:spcBef>
                <a:spcPct val="0"/>
              </a:spcBef>
              <a:spcAft>
                <a:spcPct val="0"/>
              </a:spcAft>
              <a:defRPr sz="4400">
                <a:solidFill>
                  <a:schemeClr val="tx1"/>
                </a:solidFill>
                <a:latin typeface="Calibri" panose="020F0502020204030204" pitchFamily="34" charset="0"/>
              </a:defRPr>
            </a:lvl7pPr>
            <a:lvl8pPr marL="1371600" algn="ctr" eaLnBrk="0" fontAlgn="base" hangingPunct="0">
              <a:spcBef>
                <a:spcPct val="0"/>
              </a:spcBef>
              <a:spcAft>
                <a:spcPct val="0"/>
              </a:spcAft>
              <a:defRPr sz="4400">
                <a:solidFill>
                  <a:schemeClr val="tx1"/>
                </a:solidFill>
                <a:latin typeface="Calibri" panose="020F0502020204030204" pitchFamily="34" charset="0"/>
              </a:defRPr>
            </a:lvl8pPr>
            <a:lvl9pPr marL="1828800" algn="ctr" eaLnBrk="0" fontAlgn="base" hangingPunct="0">
              <a:spcBef>
                <a:spcPct val="0"/>
              </a:spcBef>
              <a:spcAft>
                <a:spcPct val="0"/>
              </a:spcAft>
              <a:defRPr sz="4400">
                <a:solidFill>
                  <a:schemeClr val="tx1"/>
                </a:solidFill>
                <a:latin typeface="Calibri" panose="020F0502020204030204" pitchFamily="34" charset="0"/>
              </a:defRPr>
            </a:lvl9pPr>
          </a:lstStyle>
          <a:p>
            <a:pPr eaLnBrk="1" hangingPunct="1"/>
            <a:r>
              <a:rPr lang="en-US" altLang="en-US" sz="3200"/>
              <a:t>Definitions</a:t>
            </a:r>
          </a:p>
        </p:txBody>
      </p:sp>
    </p:spTree>
  </p:cSld>
  <p:clrMapOvr>
    <a:masterClrMapping/>
  </p:clrMapOvr>
  <p:transition>
    <p:pull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1E669896-BC1B-4840-AD89-BB522DF77F08}"/>
              </a:ext>
            </a:extLst>
          </p:cNvPr>
          <p:cNvSpPr>
            <a:spLocks noGrp="1"/>
          </p:cNvSpPr>
          <p:nvPr>
            <p:ph type="title" idx="4294967295"/>
          </p:nvPr>
        </p:nvSpPr>
        <p:spPr>
          <a:xfrm>
            <a:off x="457200" y="274638"/>
            <a:ext cx="8229600" cy="487362"/>
          </a:xfrm>
        </p:spPr>
        <p:txBody>
          <a:bodyPr/>
          <a:lstStyle/>
          <a:p>
            <a:pPr eaLnBrk="1" hangingPunct="1"/>
            <a:r>
              <a:rPr lang="en-US" altLang="en-US" sz="3200"/>
              <a:t>Definitions</a:t>
            </a:r>
          </a:p>
        </p:txBody>
      </p:sp>
      <p:sp>
        <p:nvSpPr>
          <p:cNvPr id="49155" name="Content Placeholder 2">
            <a:extLst>
              <a:ext uri="{FF2B5EF4-FFF2-40B4-BE49-F238E27FC236}">
                <a16:creationId xmlns:a16="http://schemas.microsoft.com/office/drawing/2014/main" id="{983AA07A-036C-4973-BBEE-73F714528640}"/>
              </a:ext>
            </a:extLst>
          </p:cNvPr>
          <p:cNvSpPr>
            <a:spLocks noGrp="1"/>
          </p:cNvSpPr>
          <p:nvPr>
            <p:ph idx="4294967295"/>
          </p:nvPr>
        </p:nvSpPr>
        <p:spPr>
          <a:xfrm>
            <a:off x="304800" y="1524000"/>
            <a:ext cx="8534400" cy="4419600"/>
          </a:xfrm>
        </p:spPr>
        <p:txBody>
          <a:bodyPr/>
          <a:lstStyle/>
          <a:p>
            <a:pPr marL="0" indent="0" eaLnBrk="1" hangingPunct="1">
              <a:buFont typeface="Arial" panose="020B0604020202020204" pitchFamily="34" charset="0"/>
              <a:buNone/>
            </a:pPr>
            <a:r>
              <a:rPr lang="en-US" altLang="en-US" sz="2400" b="1" u="sng"/>
              <a:t>Quantum model (cont’d):</a:t>
            </a:r>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a:t>The exponent designates the number of electrons at each level.</a:t>
            </a:r>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a:t>The rows of the periodic table are the periods.  Each row ending with an inert gas (farthest right).  </a:t>
            </a:r>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a:t>Since each column has the same number of valance (outer shell) electrons, the elements in the column have similar chemical properties.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a:extLst>
              <a:ext uri="{FF2B5EF4-FFF2-40B4-BE49-F238E27FC236}">
                <a16:creationId xmlns:a16="http://schemas.microsoft.com/office/drawing/2014/main" id="{E97453B5-D422-42A0-BCA2-BEA56DD3E9BF}"/>
              </a:ext>
            </a:extLst>
          </p:cNvPr>
          <p:cNvSpPr>
            <a:spLocks noChangeArrowheads="1"/>
          </p:cNvSpPr>
          <p:nvPr/>
        </p:nvSpPr>
        <p:spPr bwMode="auto">
          <a:xfrm>
            <a:off x="412750" y="914400"/>
            <a:ext cx="873125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a:t>The </a:t>
            </a:r>
            <a:r>
              <a:rPr lang="en-US" altLang="en-US" sz="2400" b="1"/>
              <a:t>magnetic quantum number</a:t>
            </a:r>
            <a:r>
              <a:rPr lang="en-US" altLang="en-US" sz="2400"/>
              <a:t> is “</a:t>
            </a:r>
            <a:r>
              <a:rPr lang="en-US" altLang="en-US" sz="2400" b="1"/>
              <a:t>m</a:t>
            </a:r>
            <a:r>
              <a:rPr lang="en-US" altLang="en-US" sz="2400" b="1" i="1" baseline="-25000"/>
              <a:t>l</a:t>
            </a:r>
            <a:r>
              <a:rPr lang="en-US" altLang="en-US" sz="2400" b="1" baseline="-25000"/>
              <a:t> </a:t>
            </a:r>
            <a:r>
              <a:rPr lang="en-US" altLang="en-US" sz="2400"/>
              <a:t>”</a:t>
            </a:r>
          </a:p>
          <a:p>
            <a:r>
              <a:rPr lang="en-US" altLang="en-US" sz="2400"/>
              <a:t>m</a:t>
            </a:r>
            <a:r>
              <a:rPr lang="en-US" altLang="en-US" sz="2400" i="1" baseline="-25000"/>
              <a:t>l</a:t>
            </a:r>
            <a:r>
              <a:rPr lang="en-US" altLang="en-US" sz="2400"/>
              <a:t> indicates the effects that a </a:t>
            </a:r>
            <a:r>
              <a:rPr lang="en-US" altLang="en-US" sz="2400" b="1"/>
              <a:t>magnetic field</a:t>
            </a:r>
            <a:r>
              <a:rPr lang="en-US" altLang="en-US" sz="2400"/>
              <a:t> may have on the electronic energy level in an atom. </a:t>
            </a:r>
          </a:p>
          <a:p>
            <a:r>
              <a:rPr lang="en-US" altLang="en-US" sz="2400"/>
              <a:t>m</a:t>
            </a:r>
            <a:r>
              <a:rPr lang="en-US" altLang="en-US" sz="2400" i="1" baseline="-25000"/>
              <a:t>l</a:t>
            </a:r>
            <a:r>
              <a:rPr lang="en-US" altLang="en-US" sz="2400"/>
              <a:t> = -</a:t>
            </a:r>
            <a:r>
              <a:rPr lang="en-US" altLang="en-US" sz="2400" i="1"/>
              <a:t>l</a:t>
            </a:r>
            <a:r>
              <a:rPr lang="en-US" altLang="en-US" sz="2400"/>
              <a:t>, … 0 … +</a:t>
            </a:r>
            <a:r>
              <a:rPr lang="en-US" altLang="en-US" sz="2400" i="1"/>
              <a:t>l</a:t>
            </a:r>
            <a:r>
              <a:rPr lang="en-US" altLang="en-US" sz="2400"/>
              <a:t>   for a total of 2</a:t>
            </a:r>
            <a:r>
              <a:rPr lang="en-US" altLang="en-US" sz="2400" i="1"/>
              <a:t>l</a:t>
            </a:r>
            <a:r>
              <a:rPr lang="en-US" altLang="en-US" sz="2400"/>
              <a:t> + 1 values.</a:t>
            </a:r>
          </a:p>
          <a:p>
            <a:endParaRPr lang="en-US" altLang="en-US" sz="2400"/>
          </a:p>
          <a:p>
            <a:pPr>
              <a:buFont typeface="Arial" panose="020B0604020202020204" pitchFamily="34" charset="0"/>
              <a:buNone/>
            </a:pPr>
            <a:r>
              <a:rPr lang="en-US" altLang="en-US" sz="2400"/>
              <a:t>The </a:t>
            </a:r>
            <a:r>
              <a:rPr lang="en-US" altLang="en-US" sz="2400" b="1"/>
              <a:t>spin quantum number</a:t>
            </a:r>
            <a:r>
              <a:rPr lang="en-US" altLang="en-US" sz="2400"/>
              <a:t> is </a:t>
            </a:r>
            <a:r>
              <a:rPr lang="en-US" altLang="en-US" sz="2400" b="1"/>
              <a:t>m</a:t>
            </a:r>
            <a:r>
              <a:rPr lang="en-US" altLang="en-US" sz="2400" b="1" baseline="-25000"/>
              <a:t>s</a:t>
            </a:r>
            <a:r>
              <a:rPr lang="en-US" altLang="en-US" sz="2400"/>
              <a:t> = +1/2 or –1/2.</a:t>
            </a:r>
          </a:p>
          <a:p>
            <a:r>
              <a:rPr lang="en-US" altLang="en-US" sz="2400"/>
              <a:t>m</a:t>
            </a:r>
            <a:r>
              <a:rPr lang="en-US" altLang="en-US" sz="2400" baseline="-25000"/>
              <a:t>s</a:t>
            </a:r>
            <a:r>
              <a:rPr lang="en-US" altLang="en-US" sz="2400"/>
              <a:t> indicates the direction of the intrinsic (internal) electron angular momentum (magnetic moment). </a:t>
            </a:r>
          </a:p>
          <a:p>
            <a:r>
              <a:rPr lang="en-US" altLang="en-US" sz="2400"/>
              <a:t>Usually referred to as spin up (+) and spin down (-).</a:t>
            </a:r>
          </a:p>
          <a:p>
            <a:r>
              <a:rPr lang="en-US" altLang="en-US" sz="2400"/>
              <a:t>This property is now being used in </a:t>
            </a:r>
            <a:r>
              <a:rPr lang="en-US" altLang="en-US" sz="2400" b="1"/>
              <a:t>Spintronic Materials</a:t>
            </a:r>
            <a:r>
              <a:rPr lang="en-US" altLang="en-US" sz="2400"/>
              <a:t> (eg., Gallium Arsenide, GaAs) to produce ultra-fast electronic devices based on Spintronics.</a:t>
            </a:r>
          </a:p>
        </p:txBody>
      </p:sp>
      <p:sp>
        <p:nvSpPr>
          <p:cNvPr id="54277" name="Title 1">
            <a:extLst>
              <a:ext uri="{FF2B5EF4-FFF2-40B4-BE49-F238E27FC236}">
                <a16:creationId xmlns:a16="http://schemas.microsoft.com/office/drawing/2014/main" id="{BB51D264-87B3-4525-9436-F8C4DC860EB4}"/>
              </a:ext>
            </a:extLst>
          </p:cNvPr>
          <p:cNvSpPr>
            <a:spLocks/>
          </p:cNvSpPr>
          <p:nvPr/>
        </p:nvSpPr>
        <p:spPr bwMode="auto">
          <a:xfrm>
            <a:off x="457200" y="274638"/>
            <a:ext cx="82296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0" hangingPunct="0">
              <a:defRPr sz="4400">
                <a:solidFill>
                  <a:schemeClr val="tx1"/>
                </a:solidFill>
                <a:latin typeface="Calibri" panose="020F0502020204030204" pitchFamily="34" charset="0"/>
              </a:defRPr>
            </a:lvl1pPr>
            <a:lvl2pPr algn="ctr" eaLnBrk="0" hangingPunct="0">
              <a:defRPr sz="4400">
                <a:solidFill>
                  <a:schemeClr val="tx1"/>
                </a:solidFill>
                <a:latin typeface="Calibri" panose="020F0502020204030204" pitchFamily="34" charset="0"/>
              </a:defRPr>
            </a:lvl2pPr>
            <a:lvl3pPr algn="ctr" eaLnBrk="0" hangingPunct="0">
              <a:defRPr sz="4400">
                <a:solidFill>
                  <a:schemeClr val="tx1"/>
                </a:solidFill>
                <a:latin typeface="Calibri" panose="020F0502020204030204" pitchFamily="34" charset="0"/>
              </a:defRPr>
            </a:lvl3pPr>
            <a:lvl4pPr algn="ctr" eaLnBrk="0" hangingPunct="0">
              <a:defRPr sz="4400">
                <a:solidFill>
                  <a:schemeClr val="tx1"/>
                </a:solidFill>
                <a:latin typeface="Calibri" panose="020F0502020204030204" pitchFamily="34" charset="0"/>
              </a:defRPr>
            </a:lvl4pPr>
            <a:lvl5pPr algn="ctr" eaLnBrk="0" hangingPunct="0">
              <a:defRPr sz="4400">
                <a:solidFill>
                  <a:schemeClr val="tx1"/>
                </a:solidFill>
                <a:latin typeface="Calibri" panose="020F0502020204030204" pitchFamily="34" charset="0"/>
              </a:defRPr>
            </a:lvl5pPr>
            <a:lvl6pPr marL="457200" algn="ctr" eaLnBrk="0" fontAlgn="base" hangingPunct="0">
              <a:spcBef>
                <a:spcPct val="0"/>
              </a:spcBef>
              <a:spcAft>
                <a:spcPct val="0"/>
              </a:spcAft>
              <a:defRPr sz="4400">
                <a:solidFill>
                  <a:schemeClr val="tx1"/>
                </a:solidFill>
                <a:latin typeface="Calibri" panose="020F0502020204030204" pitchFamily="34" charset="0"/>
              </a:defRPr>
            </a:lvl6pPr>
            <a:lvl7pPr marL="914400" algn="ctr" eaLnBrk="0" fontAlgn="base" hangingPunct="0">
              <a:spcBef>
                <a:spcPct val="0"/>
              </a:spcBef>
              <a:spcAft>
                <a:spcPct val="0"/>
              </a:spcAft>
              <a:defRPr sz="4400">
                <a:solidFill>
                  <a:schemeClr val="tx1"/>
                </a:solidFill>
                <a:latin typeface="Calibri" panose="020F0502020204030204" pitchFamily="34" charset="0"/>
              </a:defRPr>
            </a:lvl7pPr>
            <a:lvl8pPr marL="1371600" algn="ctr" eaLnBrk="0" fontAlgn="base" hangingPunct="0">
              <a:spcBef>
                <a:spcPct val="0"/>
              </a:spcBef>
              <a:spcAft>
                <a:spcPct val="0"/>
              </a:spcAft>
              <a:defRPr sz="4400">
                <a:solidFill>
                  <a:schemeClr val="tx1"/>
                </a:solidFill>
                <a:latin typeface="Calibri" panose="020F0502020204030204" pitchFamily="34" charset="0"/>
              </a:defRPr>
            </a:lvl8pPr>
            <a:lvl9pPr marL="1828800" algn="ctr" eaLnBrk="0" fontAlgn="base" hangingPunct="0">
              <a:spcBef>
                <a:spcPct val="0"/>
              </a:spcBef>
              <a:spcAft>
                <a:spcPct val="0"/>
              </a:spcAft>
              <a:defRPr sz="4400">
                <a:solidFill>
                  <a:schemeClr val="tx1"/>
                </a:solidFill>
                <a:latin typeface="Calibri" panose="020F0502020204030204" pitchFamily="34" charset="0"/>
              </a:defRPr>
            </a:lvl9pPr>
          </a:lstStyle>
          <a:p>
            <a:pPr eaLnBrk="1" hangingPunct="1"/>
            <a:r>
              <a:rPr lang="en-US" altLang="en-US" sz="3200"/>
              <a:t>Definitions</a:t>
            </a:r>
          </a:p>
        </p:txBody>
      </p:sp>
    </p:spTree>
  </p:cSld>
  <p:clrMapOvr>
    <a:masterClrMapping/>
  </p:clrMapOvr>
  <p:transition>
    <p:pull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a:extLst>
              <a:ext uri="{FF2B5EF4-FFF2-40B4-BE49-F238E27FC236}">
                <a16:creationId xmlns:a16="http://schemas.microsoft.com/office/drawing/2014/main" id="{C3BC91FE-4DB6-4D7C-93BB-580F36B528A1}"/>
              </a:ext>
            </a:extLst>
          </p:cNvPr>
          <p:cNvSpPr>
            <a:spLocks noChangeArrowheads="1"/>
          </p:cNvSpPr>
          <p:nvPr/>
        </p:nvSpPr>
        <p:spPr bwMode="auto">
          <a:xfrm>
            <a:off x="381000" y="1066800"/>
            <a:ext cx="86106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u="sng"/>
              <a:t>Pauli Exclusion Principle:</a:t>
            </a:r>
          </a:p>
          <a:p>
            <a:pPr>
              <a:buFont typeface="Arial" panose="020B0604020202020204" pitchFamily="34" charset="0"/>
              <a:buNone/>
            </a:pPr>
            <a:r>
              <a:rPr lang="en-US" altLang="en-US" sz="2400"/>
              <a:t>This principle states that no two electrons can have the same set of quantum numbers and no more than two electrons have the same energy level in the absence of a magnetic field.</a:t>
            </a:r>
          </a:p>
          <a:p>
            <a:pPr>
              <a:buFont typeface="Arial" panose="020B0604020202020204" pitchFamily="34" charset="0"/>
              <a:buNone/>
            </a:pPr>
            <a:r>
              <a:rPr lang="en-US" altLang="en-US" sz="2400"/>
              <a:t>The electronic configuration of the different energy levels fill in a relatively straight forward pattern in a shorthand notation using the </a:t>
            </a:r>
            <a:r>
              <a:rPr lang="en-US" altLang="en-US" sz="2400" i="1"/>
              <a:t>l</a:t>
            </a:r>
            <a:r>
              <a:rPr lang="en-US" altLang="en-US" sz="2400"/>
              <a:t> quantum numbers.</a:t>
            </a:r>
          </a:p>
          <a:p>
            <a:r>
              <a:rPr lang="en-US" altLang="en-US" sz="2400"/>
              <a:t> </a:t>
            </a:r>
            <a:r>
              <a:rPr lang="en-US" altLang="en-US" sz="2400" b="1"/>
              <a:t>1s</a:t>
            </a:r>
            <a:r>
              <a:rPr lang="en-US" altLang="en-US" sz="2400" b="1" baseline="30000"/>
              <a:t>2</a:t>
            </a:r>
            <a:r>
              <a:rPr lang="en-US" altLang="en-US" sz="2400" b="1"/>
              <a:t> 2s</a:t>
            </a:r>
            <a:r>
              <a:rPr lang="en-US" altLang="en-US" sz="2400" b="1" baseline="30000"/>
              <a:t>2</a:t>
            </a:r>
            <a:r>
              <a:rPr lang="en-US" altLang="en-US" sz="2400" b="1"/>
              <a:t> 2p</a:t>
            </a:r>
            <a:r>
              <a:rPr lang="en-US" altLang="en-US" sz="2400" b="1" baseline="30000"/>
              <a:t>6</a:t>
            </a:r>
            <a:r>
              <a:rPr lang="en-US" altLang="en-US" sz="2400" b="1"/>
              <a:t> 3s</a:t>
            </a:r>
            <a:r>
              <a:rPr lang="en-US" altLang="en-US" sz="2400" b="1" baseline="30000"/>
              <a:t>2</a:t>
            </a:r>
            <a:r>
              <a:rPr lang="en-US" altLang="en-US" sz="2400" b="1"/>
              <a:t> 3p</a:t>
            </a:r>
            <a:r>
              <a:rPr lang="en-US" altLang="en-US" sz="2400" b="1" baseline="30000"/>
              <a:t>6</a:t>
            </a:r>
            <a:r>
              <a:rPr lang="en-US" altLang="en-US" sz="2400" b="1"/>
              <a:t> 3d</a:t>
            </a:r>
            <a:r>
              <a:rPr lang="en-US" altLang="en-US" sz="2400" b="1" baseline="30000"/>
              <a:t>10</a:t>
            </a:r>
            <a:r>
              <a:rPr lang="en-US" altLang="en-US" sz="2400" b="1"/>
              <a:t> 4s</a:t>
            </a:r>
            <a:r>
              <a:rPr lang="en-US" altLang="en-US" sz="2400" b="1" baseline="30000"/>
              <a:t>2</a:t>
            </a:r>
            <a:r>
              <a:rPr lang="en-US" altLang="en-US" sz="2400" b="1"/>
              <a:t> 4p</a:t>
            </a:r>
            <a:r>
              <a:rPr lang="en-US" altLang="en-US" sz="2400" b="1" baseline="30000"/>
              <a:t>6</a:t>
            </a:r>
            <a:r>
              <a:rPr lang="en-US" altLang="en-US" sz="2400" b="1"/>
              <a:t> 4d</a:t>
            </a:r>
            <a:r>
              <a:rPr lang="en-US" altLang="en-US" sz="2400" b="1" baseline="30000"/>
              <a:t>10</a:t>
            </a:r>
            <a:r>
              <a:rPr lang="en-US" altLang="en-US" sz="2400" b="1"/>
              <a:t> 5s</a:t>
            </a:r>
            <a:r>
              <a:rPr lang="en-US" altLang="en-US" sz="2400" b="1" baseline="30000"/>
              <a:t>2</a:t>
            </a:r>
            <a:r>
              <a:rPr lang="en-US" altLang="en-US" sz="2400" b="1"/>
              <a:t> … .</a:t>
            </a:r>
          </a:p>
          <a:p>
            <a:r>
              <a:rPr lang="en-US" altLang="en-US" sz="2400"/>
              <a:t>eg., for </a:t>
            </a:r>
            <a:r>
              <a:rPr lang="en-US" altLang="en-US" sz="2400" b="1"/>
              <a:t>Carbon</a:t>
            </a:r>
            <a:r>
              <a:rPr lang="en-US" altLang="en-US" sz="2400"/>
              <a:t>, which has an atomic number of 6, it has 6 protons and 6 electrons.  It’s electronic configuration in shorthand notation is: </a:t>
            </a:r>
          </a:p>
          <a:p>
            <a:pPr>
              <a:buFont typeface="Arial" panose="020B0604020202020204" pitchFamily="34" charset="0"/>
              <a:buNone/>
            </a:pPr>
            <a:r>
              <a:rPr lang="en-US" altLang="en-US" sz="2400"/>
              <a:t>					</a:t>
            </a:r>
            <a:r>
              <a:rPr lang="en-US" altLang="en-US" sz="2400" b="1"/>
              <a:t>1s</a:t>
            </a:r>
            <a:r>
              <a:rPr lang="en-US" altLang="en-US" sz="2400" b="1" baseline="30000"/>
              <a:t>2</a:t>
            </a:r>
            <a:r>
              <a:rPr lang="en-US" altLang="en-US" sz="2400" b="1"/>
              <a:t> 2s</a:t>
            </a:r>
            <a:r>
              <a:rPr lang="en-US" altLang="en-US" sz="2400" b="1" baseline="30000"/>
              <a:t>2</a:t>
            </a:r>
            <a:r>
              <a:rPr lang="en-US" altLang="en-US" sz="2400" b="1"/>
              <a:t> 2p</a:t>
            </a:r>
            <a:r>
              <a:rPr lang="en-US" altLang="en-US" sz="2400" b="1" baseline="30000"/>
              <a:t>2</a:t>
            </a:r>
            <a:r>
              <a:rPr lang="en-US" altLang="en-US" sz="2400"/>
              <a:t> </a:t>
            </a:r>
          </a:p>
        </p:txBody>
      </p:sp>
      <p:sp>
        <p:nvSpPr>
          <p:cNvPr id="56324" name="Title 1">
            <a:extLst>
              <a:ext uri="{FF2B5EF4-FFF2-40B4-BE49-F238E27FC236}">
                <a16:creationId xmlns:a16="http://schemas.microsoft.com/office/drawing/2014/main" id="{A80A81DB-A092-4F8B-8FC8-47F2AB03ED55}"/>
              </a:ext>
            </a:extLst>
          </p:cNvPr>
          <p:cNvSpPr>
            <a:spLocks/>
          </p:cNvSpPr>
          <p:nvPr/>
        </p:nvSpPr>
        <p:spPr bwMode="auto">
          <a:xfrm>
            <a:off x="457200" y="274638"/>
            <a:ext cx="82296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0" hangingPunct="0">
              <a:defRPr sz="4400">
                <a:solidFill>
                  <a:schemeClr val="tx1"/>
                </a:solidFill>
                <a:latin typeface="Calibri" panose="020F0502020204030204" pitchFamily="34" charset="0"/>
              </a:defRPr>
            </a:lvl1pPr>
            <a:lvl2pPr algn="ctr" eaLnBrk="0" hangingPunct="0">
              <a:defRPr sz="4400">
                <a:solidFill>
                  <a:schemeClr val="tx1"/>
                </a:solidFill>
                <a:latin typeface="Calibri" panose="020F0502020204030204" pitchFamily="34" charset="0"/>
              </a:defRPr>
            </a:lvl2pPr>
            <a:lvl3pPr algn="ctr" eaLnBrk="0" hangingPunct="0">
              <a:defRPr sz="4400">
                <a:solidFill>
                  <a:schemeClr val="tx1"/>
                </a:solidFill>
                <a:latin typeface="Calibri" panose="020F0502020204030204" pitchFamily="34" charset="0"/>
              </a:defRPr>
            </a:lvl3pPr>
            <a:lvl4pPr algn="ctr" eaLnBrk="0" hangingPunct="0">
              <a:defRPr sz="4400">
                <a:solidFill>
                  <a:schemeClr val="tx1"/>
                </a:solidFill>
                <a:latin typeface="Calibri" panose="020F0502020204030204" pitchFamily="34" charset="0"/>
              </a:defRPr>
            </a:lvl4pPr>
            <a:lvl5pPr algn="ctr" eaLnBrk="0" hangingPunct="0">
              <a:defRPr sz="4400">
                <a:solidFill>
                  <a:schemeClr val="tx1"/>
                </a:solidFill>
                <a:latin typeface="Calibri" panose="020F0502020204030204" pitchFamily="34" charset="0"/>
              </a:defRPr>
            </a:lvl5pPr>
            <a:lvl6pPr marL="457200" algn="ctr" eaLnBrk="0" fontAlgn="base" hangingPunct="0">
              <a:spcBef>
                <a:spcPct val="0"/>
              </a:spcBef>
              <a:spcAft>
                <a:spcPct val="0"/>
              </a:spcAft>
              <a:defRPr sz="4400">
                <a:solidFill>
                  <a:schemeClr val="tx1"/>
                </a:solidFill>
                <a:latin typeface="Calibri" panose="020F0502020204030204" pitchFamily="34" charset="0"/>
              </a:defRPr>
            </a:lvl6pPr>
            <a:lvl7pPr marL="914400" algn="ctr" eaLnBrk="0" fontAlgn="base" hangingPunct="0">
              <a:spcBef>
                <a:spcPct val="0"/>
              </a:spcBef>
              <a:spcAft>
                <a:spcPct val="0"/>
              </a:spcAft>
              <a:defRPr sz="4400">
                <a:solidFill>
                  <a:schemeClr val="tx1"/>
                </a:solidFill>
                <a:latin typeface="Calibri" panose="020F0502020204030204" pitchFamily="34" charset="0"/>
              </a:defRPr>
            </a:lvl7pPr>
            <a:lvl8pPr marL="1371600" algn="ctr" eaLnBrk="0" fontAlgn="base" hangingPunct="0">
              <a:spcBef>
                <a:spcPct val="0"/>
              </a:spcBef>
              <a:spcAft>
                <a:spcPct val="0"/>
              </a:spcAft>
              <a:defRPr sz="4400">
                <a:solidFill>
                  <a:schemeClr val="tx1"/>
                </a:solidFill>
                <a:latin typeface="Calibri" panose="020F0502020204030204" pitchFamily="34" charset="0"/>
              </a:defRPr>
            </a:lvl8pPr>
            <a:lvl9pPr marL="1828800" algn="ctr" eaLnBrk="0" fontAlgn="base" hangingPunct="0">
              <a:spcBef>
                <a:spcPct val="0"/>
              </a:spcBef>
              <a:spcAft>
                <a:spcPct val="0"/>
              </a:spcAft>
              <a:defRPr sz="4400">
                <a:solidFill>
                  <a:schemeClr val="tx1"/>
                </a:solidFill>
                <a:latin typeface="Calibri" panose="020F0502020204030204" pitchFamily="34" charset="0"/>
              </a:defRPr>
            </a:lvl9pPr>
          </a:lstStyle>
          <a:p>
            <a:pPr eaLnBrk="1" hangingPunct="1"/>
            <a:r>
              <a:rPr lang="en-US" altLang="en-US" sz="3200"/>
              <a:t>Definitions</a:t>
            </a:r>
          </a:p>
        </p:txBody>
      </p:sp>
    </p:spTree>
  </p:cSld>
  <p:clrMapOvr>
    <a:masterClrMapping/>
  </p:clrMapOvr>
  <p:transition>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183E8C9E-8E03-4968-8D9E-20F8A27324C7}"/>
              </a:ext>
            </a:extLst>
          </p:cNvPr>
          <p:cNvSpPr>
            <a:spLocks noGrp="1"/>
          </p:cNvSpPr>
          <p:nvPr>
            <p:ph type="title" idx="4294967295"/>
          </p:nvPr>
        </p:nvSpPr>
        <p:spPr>
          <a:xfrm>
            <a:off x="457200" y="274638"/>
            <a:ext cx="8229600" cy="487362"/>
          </a:xfrm>
        </p:spPr>
        <p:txBody>
          <a:bodyPr/>
          <a:lstStyle/>
          <a:p>
            <a:pPr eaLnBrk="1" hangingPunct="1"/>
            <a:r>
              <a:rPr lang="en-US" altLang="en-US" sz="3200"/>
              <a:t>Terminology</a:t>
            </a:r>
          </a:p>
        </p:txBody>
      </p:sp>
      <p:sp>
        <p:nvSpPr>
          <p:cNvPr id="50179" name="Content Placeholder 2">
            <a:extLst>
              <a:ext uri="{FF2B5EF4-FFF2-40B4-BE49-F238E27FC236}">
                <a16:creationId xmlns:a16="http://schemas.microsoft.com/office/drawing/2014/main" id="{6D68D5FD-133F-45A0-A7DE-02CBD7385A18}"/>
              </a:ext>
            </a:extLst>
          </p:cNvPr>
          <p:cNvSpPr>
            <a:spLocks noGrp="1"/>
          </p:cNvSpPr>
          <p:nvPr>
            <p:ph idx="4294967295"/>
          </p:nvPr>
        </p:nvSpPr>
        <p:spPr>
          <a:xfrm>
            <a:off x="381000" y="990600"/>
            <a:ext cx="8458200" cy="5029200"/>
          </a:xfrm>
        </p:spPr>
        <p:txBody>
          <a:bodyPr/>
          <a:lstStyle/>
          <a:p>
            <a:pPr marL="0" indent="0" eaLnBrk="1" hangingPunct="1">
              <a:buFont typeface="Arial" panose="020B0604020202020204" pitchFamily="34" charset="0"/>
              <a:buNone/>
            </a:pPr>
            <a:r>
              <a:rPr lang="en-US" altLang="en-US" sz="2400" b="1" u="sng"/>
              <a:t>Non-crystalline structure (amorphous solids):</a:t>
            </a:r>
            <a:endParaRPr lang="en-US" altLang="en-US" sz="2400"/>
          </a:p>
          <a:p>
            <a:pPr marL="0" indent="0" eaLnBrk="1" hangingPunct="1">
              <a:buFont typeface="Arial" panose="020B0604020202020204" pitchFamily="34" charset="0"/>
              <a:buNone/>
            </a:pPr>
            <a:r>
              <a:rPr lang="en-US" altLang="en-US" sz="2400"/>
              <a:t>Glasses and plastics</a:t>
            </a:r>
          </a:p>
          <a:p>
            <a:pPr marL="0" indent="0" eaLnBrk="1" hangingPunct="1">
              <a:buFont typeface="Arial" panose="020B0604020202020204" pitchFamily="34" charset="0"/>
              <a:buNone/>
            </a:pPr>
            <a:endParaRPr lang="en-US" altLang="en-US" sz="1000"/>
          </a:p>
          <a:p>
            <a:pPr marL="0" indent="0" eaLnBrk="1" hangingPunct="1">
              <a:buFont typeface="Arial" panose="020B0604020202020204" pitchFamily="34" charset="0"/>
              <a:buNone/>
            </a:pPr>
            <a:endParaRPr lang="en-US" altLang="en-US" sz="2400" b="1" u="sng"/>
          </a:p>
          <a:p>
            <a:pPr marL="0" indent="0" eaLnBrk="1" hangingPunct="1">
              <a:buFont typeface="Arial" panose="020B0604020202020204" pitchFamily="34" charset="0"/>
              <a:buNone/>
            </a:pPr>
            <a:r>
              <a:rPr lang="en-US" altLang="en-US" sz="2400" b="1" u="sng"/>
              <a:t>Crystalline structure:</a:t>
            </a:r>
            <a:endParaRPr lang="en-US" altLang="en-US" sz="2400"/>
          </a:p>
          <a:p>
            <a:pPr marL="0" indent="0" eaLnBrk="1" hangingPunct="1">
              <a:buFont typeface="Arial" panose="020B0604020202020204" pitchFamily="34" charset="0"/>
              <a:buNone/>
            </a:pPr>
            <a:r>
              <a:rPr lang="en-US" altLang="en-US" sz="2400"/>
              <a:t>Metals and inorganic compounds</a:t>
            </a:r>
          </a:p>
          <a:p>
            <a:pPr marL="0" indent="0" eaLnBrk="1" hangingPunct="1">
              <a:buFont typeface="Arial" panose="020B0604020202020204" pitchFamily="34" charset="0"/>
              <a:buNone/>
            </a:pPr>
            <a:endParaRPr lang="en-US" altLang="en-US" sz="1000"/>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a:t>Crystalline structures have repeated structures called “unit cells”.  These unit cells form a 3-dimensional array called a “lattice”.  These lattices will stack and align to form a crystal.  The crystals will combine to form grains, which will meet to form “grain boundaries”.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AE1C99EE-F55A-469C-AA5F-3B7E19703085}"/>
              </a:ext>
            </a:extLst>
          </p:cNvPr>
          <p:cNvSpPr>
            <a:spLocks noGrp="1"/>
          </p:cNvSpPr>
          <p:nvPr>
            <p:ph type="title" idx="4294967295"/>
          </p:nvPr>
        </p:nvSpPr>
        <p:spPr>
          <a:xfrm>
            <a:off x="457200" y="274638"/>
            <a:ext cx="8229600" cy="487362"/>
          </a:xfrm>
        </p:spPr>
        <p:txBody>
          <a:bodyPr/>
          <a:lstStyle/>
          <a:p>
            <a:pPr eaLnBrk="1" hangingPunct="1"/>
            <a:r>
              <a:rPr lang="en-US" altLang="en-US" sz="3200"/>
              <a:t>Terminology</a:t>
            </a:r>
          </a:p>
        </p:txBody>
      </p:sp>
      <p:sp>
        <p:nvSpPr>
          <p:cNvPr id="51203" name="Content Placeholder 2">
            <a:extLst>
              <a:ext uri="{FF2B5EF4-FFF2-40B4-BE49-F238E27FC236}">
                <a16:creationId xmlns:a16="http://schemas.microsoft.com/office/drawing/2014/main" id="{A0360362-24DF-4BBD-92A4-3A72B6E51878}"/>
              </a:ext>
            </a:extLst>
          </p:cNvPr>
          <p:cNvSpPr>
            <a:spLocks noGrp="1"/>
          </p:cNvSpPr>
          <p:nvPr>
            <p:ph idx="4294967295"/>
          </p:nvPr>
        </p:nvSpPr>
        <p:spPr>
          <a:xfrm>
            <a:off x="381000" y="990600"/>
            <a:ext cx="8458200" cy="609600"/>
          </a:xfrm>
        </p:spPr>
        <p:txBody>
          <a:bodyPr/>
          <a:lstStyle/>
          <a:p>
            <a:pPr marL="0" indent="0" eaLnBrk="1" hangingPunct="1">
              <a:buFont typeface="Arial" panose="020B0604020202020204" pitchFamily="34" charset="0"/>
              <a:buNone/>
            </a:pPr>
            <a:r>
              <a:rPr lang="en-US" altLang="en-US" sz="2400" b="1" u="sng"/>
              <a:t>Example:</a:t>
            </a:r>
            <a:r>
              <a:rPr lang="en-US" altLang="en-US" sz="2400" b="1"/>
              <a:t> Unit cells</a:t>
            </a:r>
            <a:endParaRPr lang="en-US" altLang="en-US" sz="2400"/>
          </a:p>
        </p:txBody>
      </p:sp>
      <p:pic>
        <p:nvPicPr>
          <p:cNvPr id="51204" name="Picture 4" descr="Fig 3-11 - crystal space groups">
            <a:extLst>
              <a:ext uri="{FF2B5EF4-FFF2-40B4-BE49-F238E27FC236}">
                <a16:creationId xmlns:a16="http://schemas.microsoft.com/office/drawing/2014/main" id="{30956449-A797-4348-AC7C-F18ACB12C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865" r="7236" b="78206"/>
          <a:stretch>
            <a:fillRect/>
          </a:stretch>
        </p:blipFill>
        <p:spPr bwMode="auto">
          <a:xfrm>
            <a:off x="533400" y="1828800"/>
            <a:ext cx="7620000" cy="2173288"/>
          </a:xfrm>
          <a:prstGeom prst="rect">
            <a:avLst/>
          </a:prstGeom>
          <a:noFill/>
          <a:extLst>
            <a:ext uri="{909E8E84-426E-40DD-AFC4-6F175D3DCCD1}">
              <a14:hiddenFill xmlns:a14="http://schemas.microsoft.com/office/drawing/2010/main">
                <a:solidFill>
                  <a:srgbClr val="FFFFFF"/>
                </a:solidFill>
              </a14:hiddenFill>
            </a:ext>
          </a:extLst>
        </p:spPr>
      </p:pic>
      <p:pic>
        <p:nvPicPr>
          <p:cNvPr id="51205" name="Picture 5" descr="Fig 3-11 - crystal space groups">
            <a:extLst>
              <a:ext uri="{FF2B5EF4-FFF2-40B4-BE49-F238E27FC236}">
                <a16:creationId xmlns:a16="http://schemas.microsoft.com/office/drawing/2014/main" id="{C91C6F29-2327-4B25-AA93-F8AA8DF01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5121" t="20512" r="9102" b="52565"/>
          <a:stretch>
            <a:fillRect/>
          </a:stretch>
        </p:blipFill>
        <p:spPr bwMode="auto">
          <a:xfrm>
            <a:off x="1828800" y="3810000"/>
            <a:ext cx="2206625" cy="2438400"/>
          </a:xfrm>
          <a:prstGeom prst="rect">
            <a:avLst/>
          </a:prstGeom>
          <a:noFill/>
          <a:extLst>
            <a:ext uri="{909E8E84-426E-40DD-AFC4-6F175D3DCCD1}">
              <a14:hiddenFill xmlns:a14="http://schemas.microsoft.com/office/drawing/2010/main">
                <a:solidFill>
                  <a:srgbClr val="FFFFFF"/>
                </a:solidFill>
              </a14:hiddenFill>
            </a:ext>
          </a:extLst>
        </p:spPr>
      </p:pic>
      <p:sp>
        <p:nvSpPr>
          <p:cNvPr id="51206" name="Text Box 6">
            <a:extLst>
              <a:ext uri="{FF2B5EF4-FFF2-40B4-BE49-F238E27FC236}">
                <a16:creationId xmlns:a16="http://schemas.microsoft.com/office/drawing/2014/main" id="{E5B8DC6E-B79B-4E6C-9CFC-6A9D2CBACC95}"/>
              </a:ext>
            </a:extLst>
          </p:cNvPr>
          <p:cNvSpPr txBox="1">
            <a:spLocks noChangeArrowheads="1"/>
          </p:cNvSpPr>
          <p:nvPr/>
        </p:nvSpPr>
        <p:spPr bwMode="auto">
          <a:xfrm>
            <a:off x="4495800" y="1219200"/>
            <a:ext cx="121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t>abc,abc</a:t>
            </a:r>
          </a:p>
        </p:txBody>
      </p:sp>
      <p:sp>
        <p:nvSpPr>
          <p:cNvPr id="51207" name="Line 7">
            <a:extLst>
              <a:ext uri="{FF2B5EF4-FFF2-40B4-BE49-F238E27FC236}">
                <a16:creationId xmlns:a16="http://schemas.microsoft.com/office/drawing/2014/main" id="{F9922F90-37B4-4A19-A439-9BB15A9D6823}"/>
              </a:ext>
            </a:extLst>
          </p:cNvPr>
          <p:cNvSpPr>
            <a:spLocks noChangeShapeType="1"/>
          </p:cNvSpPr>
          <p:nvPr/>
        </p:nvSpPr>
        <p:spPr bwMode="auto">
          <a:xfrm flipH="1">
            <a:off x="4495800" y="1600200"/>
            <a:ext cx="228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1208" name="Text Box 8">
            <a:extLst>
              <a:ext uri="{FF2B5EF4-FFF2-40B4-BE49-F238E27FC236}">
                <a16:creationId xmlns:a16="http://schemas.microsoft.com/office/drawing/2014/main" id="{3A8292B1-0678-4AB7-9469-48EF66754CAB}"/>
              </a:ext>
            </a:extLst>
          </p:cNvPr>
          <p:cNvSpPr txBox="1">
            <a:spLocks noChangeArrowheads="1"/>
          </p:cNvSpPr>
          <p:nvPr/>
        </p:nvSpPr>
        <p:spPr bwMode="auto">
          <a:xfrm>
            <a:off x="4038600" y="4572000"/>
            <a:ext cx="121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t>ab,ab,ab</a:t>
            </a:r>
          </a:p>
        </p:txBody>
      </p:sp>
      <p:sp>
        <p:nvSpPr>
          <p:cNvPr id="51209" name="Line 9">
            <a:extLst>
              <a:ext uri="{FF2B5EF4-FFF2-40B4-BE49-F238E27FC236}">
                <a16:creationId xmlns:a16="http://schemas.microsoft.com/office/drawing/2014/main" id="{0B85034A-FB59-4D06-9FF0-4CC51FAC398D}"/>
              </a:ext>
            </a:extLst>
          </p:cNvPr>
          <p:cNvSpPr>
            <a:spLocks noChangeShapeType="1"/>
          </p:cNvSpPr>
          <p:nvPr/>
        </p:nvSpPr>
        <p:spPr bwMode="auto">
          <a:xfrm flipH="1">
            <a:off x="3581400" y="48006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D5716092-B387-4A79-B128-1A5066738DBC}"/>
              </a:ext>
            </a:extLst>
          </p:cNvPr>
          <p:cNvSpPr>
            <a:spLocks noGrp="1"/>
          </p:cNvSpPr>
          <p:nvPr>
            <p:ph type="title" idx="4294967295"/>
          </p:nvPr>
        </p:nvSpPr>
        <p:spPr>
          <a:xfrm>
            <a:off x="457200" y="274638"/>
            <a:ext cx="8229600" cy="487362"/>
          </a:xfrm>
        </p:spPr>
        <p:txBody>
          <a:bodyPr/>
          <a:lstStyle/>
          <a:p>
            <a:pPr eaLnBrk="1" hangingPunct="1"/>
            <a:r>
              <a:rPr lang="en-US" altLang="en-US" sz="3200"/>
              <a:t>Terminology</a:t>
            </a:r>
          </a:p>
        </p:txBody>
      </p:sp>
      <p:sp>
        <p:nvSpPr>
          <p:cNvPr id="60419" name="Content Placeholder 2">
            <a:extLst>
              <a:ext uri="{FF2B5EF4-FFF2-40B4-BE49-F238E27FC236}">
                <a16:creationId xmlns:a16="http://schemas.microsoft.com/office/drawing/2014/main" id="{408A7C70-636A-4BA1-AE6B-60ED81911DAA}"/>
              </a:ext>
            </a:extLst>
          </p:cNvPr>
          <p:cNvSpPr>
            <a:spLocks noGrp="1"/>
          </p:cNvSpPr>
          <p:nvPr>
            <p:ph idx="4294967295"/>
          </p:nvPr>
        </p:nvSpPr>
        <p:spPr>
          <a:xfrm>
            <a:off x="381000" y="990600"/>
            <a:ext cx="8458200" cy="5105400"/>
          </a:xfrm>
        </p:spPr>
        <p:txBody>
          <a:bodyPr/>
          <a:lstStyle/>
          <a:p>
            <a:pPr marL="0" indent="0" eaLnBrk="1" hangingPunct="1">
              <a:buFont typeface="Arial" panose="020B0604020202020204" pitchFamily="34" charset="0"/>
              <a:buNone/>
            </a:pPr>
            <a:r>
              <a:rPr lang="en-US" altLang="en-US" sz="2400"/>
              <a:t>Although amorphous solid materials do not have an ordered structure, they often have “short-range ordering”. </a:t>
            </a:r>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a:t>e.g. </a:t>
            </a:r>
          </a:p>
          <a:p>
            <a:pPr marL="0" indent="0" eaLnBrk="1" hangingPunct="1">
              <a:buFont typeface="Arial" panose="020B0604020202020204" pitchFamily="34" charset="0"/>
              <a:buNone/>
            </a:pPr>
            <a:r>
              <a:rPr lang="en-US" altLang="en-US" sz="2400"/>
              <a:t>	glass (short-range order) – clunk sound</a:t>
            </a:r>
          </a:p>
          <a:p>
            <a:pPr marL="0" indent="0" eaLnBrk="1" hangingPunct="1">
              <a:buFont typeface="Arial" panose="020B0604020202020204" pitchFamily="34" charset="0"/>
              <a:buNone/>
            </a:pPr>
            <a:r>
              <a:rPr lang="en-US" altLang="en-US" sz="2400"/>
              <a:t>	crystal (long-range order) – ring sound</a:t>
            </a:r>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b="1" u="sng"/>
              <a:t>Metals:</a:t>
            </a:r>
            <a:endParaRPr lang="en-US" altLang="en-US" sz="2400"/>
          </a:p>
          <a:p>
            <a:pPr marL="0" indent="0" eaLnBrk="1" hangingPunct="1">
              <a:buFont typeface="Arial" panose="020B0604020202020204" pitchFamily="34" charset="0"/>
              <a:buNone/>
            </a:pPr>
            <a:r>
              <a:rPr lang="en-US" altLang="en-US" sz="2400"/>
              <a:t>When metals are subjected to atomic loading, rather than break (cleave) the metal atoms, the loading will cause “atomic slip”.</a:t>
            </a:r>
            <a:endParaRPr lang="en-US" altLang="en-US" sz="2400" b="1" u="sng"/>
          </a:p>
          <a:p>
            <a:pPr marL="0" indent="0" eaLnBrk="1" hangingPunct="1">
              <a:buFont typeface="Arial" panose="020B0604020202020204" pitchFamily="34" charset="0"/>
              <a:buNone/>
            </a:pPr>
            <a:endParaRPr lang="en-US"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6D1D1C9D-40C4-425A-A89C-68031A8EC982}"/>
              </a:ext>
            </a:extLst>
          </p:cNvPr>
          <p:cNvSpPr>
            <a:spLocks noGrp="1"/>
          </p:cNvSpPr>
          <p:nvPr>
            <p:ph type="title" idx="4294967295"/>
          </p:nvPr>
        </p:nvSpPr>
        <p:spPr>
          <a:xfrm>
            <a:off x="457200" y="274638"/>
            <a:ext cx="8229600" cy="487362"/>
          </a:xfrm>
        </p:spPr>
        <p:txBody>
          <a:bodyPr/>
          <a:lstStyle/>
          <a:p>
            <a:pPr eaLnBrk="1" hangingPunct="1"/>
            <a:r>
              <a:rPr lang="en-US" altLang="en-US" sz="3200"/>
              <a:t>Terminology</a:t>
            </a:r>
          </a:p>
        </p:txBody>
      </p:sp>
      <p:sp>
        <p:nvSpPr>
          <p:cNvPr id="61443" name="Content Placeholder 2">
            <a:extLst>
              <a:ext uri="{FF2B5EF4-FFF2-40B4-BE49-F238E27FC236}">
                <a16:creationId xmlns:a16="http://schemas.microsoft.com/office/drawing/2014/main" id="{F290CE01-D3AF-4683-9AD6-61FF58ED3180}"/>
              </a:ext>
            </a:extLst>
          </p:cNvPr>
          <p:cNvSpPr>
            <a:spLocks noGrp="1"/>
          </p:cNvSpPr>
          <p:nvPr>
            <p:ph idx="4294967295"/>
          </p:nvPr>
        </p:nvSpPr>
        <p:spPr>
          <a:xfrm>
            <a:off x="381000" y="1143000"/>
            <a:ext cx="8458200" cy="1295400"/>
          </a:xfrm>
        </p:spPr>
        <p:txBody>
          <a:bodyPr/>
          <a:lstStyle/>
          <a:p>
            <a:pPr marL="0" indent="0" eaLnBrk="1" hangingPunct="1">
              <a:buFont typeface="Arial" panose="020B0604020202020204" pitchFamily="34" charset="0"/>
              <a:buNone/>
            </a:pPr>
            <a:r>
              <a:rPr lang="en-US" altLang="en-US" sz="2400" b="1" u="sng"/>
              <a:t>Metals (cont’d):</a:t>
            </a:r>
            <a:endParaRPr lang="en-US" altLang="en-US" sz="2400"/>
          </a:p>
          <a:p>
            <a:pPr marL="0" indent="0" eaLnBrk="1" hangingPunct="1">
              <a:buFont typeface="Arial" panose="020B0604020202020204" pitchFamily="34" charset="0"/>
              <a:buNone/>
            </a:pPr>
            <a:r>
              <a:rPr lang="en-US" altLang="en-US" sz="2400"/>
              <a:t>When planes of atoms “slip”, they can produce edge dislocations.</a:t>
            </a:r>
            <a:endParaRPr lang="en-US" altLang="en-US" sz="2400" b="1" u="sng"/>
          </a:p>
          <a:p>
            <a:pPr marL="0" indent="0" eaLnBrk="1" hangingPunct="1">
              <a:buFont typeface="Arial" panose="020B0604020202020204" pitchFamily="34" charset="0"/>
              <a:buNone/>
            </a:pPr>
            <a:endParaRPr lang="en-US" altLang="en-US" sz="2400"/>
          </a:p>
        </p:txBody>
      </p:sp>
      <p:grpSp>
        <p:nvGrpSpPr>
          <p:cNvPr id="61450" name="Group 10">
            <a:extLst>
              <a:ext uri="{FF2B5EF4-FFF2-40B4-BE49-F238E27FC236}">
                <a16:creationId xmlns:a16="http://schemas.microsoft.com/office/drawing/2014/main" id="{3288F5F1-452B-4229-A787-8694765D5480}"/>
              </a:ext>
            </a:extLst>
          </p:cNvPr>
          <p:cNvGrpSpPr>
            <a:grpSpLocks/>
          </p:cNvGrpSpPr>
          <p:nvPr/>
        </p:nvGrpSpPr>
        <p:grpSpPr bwMode="auto">
          <a:xfrm>
            <a:off x="2133600" y="3200400"/>
            <a:ext cx="4191000" cy="1966913"/>
            <a:chOff x="336" y="1632"/>
            <a:chExt cx="2640" cy="1239"/>
          </a:xfrm>
        </p:grpSpPr>
        <p:sp>
          <p:nvSpPr>
            <p:cNvPr id="61444" name="Rectangle 4" descr="Large grid">
              <a:extLst>
                <a:ext uri="{FF2B5EF4-FFF2-40B4-BE49-F238E27FC236}">
                  <a16:creationId xmlns:a16="http://schemas.microsoft.com/office/drawing/2014/main" id="{6490AC82-7C9A-4A50-9F6E-172C203CB03F}"/>
                </a:ext>
              </a:extLst>
            </p:cNvPr>
            <p:cNvSpPr>
              <a:spLocks noChangeArrowheads="1"/>
            </p:cNvSpPr>
            <p:nvPr/>
          </p:nvSpPr>
          <p:spPr bwMode="auto">
            <a:xfrm>
              <a:off x="816" y="1680"/>
              <a:ext cx="1248" cy="384"/>
            </a:xfrm>
            <a:prstGeom prst="rect">
              <a:avLst/>
            </a:prstGeom>
            <a:pattFill prst="lgGri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445" name="Rectangle 5" descr="Large grid">
              <a:extLst>
                <a:ext uri="{FF2B5EF4-FFF2-40B4-BE49-F238E27FC236}">
                  <a16:creationId xmlns:a16="http://schemas.microsoft.com/office/drawing/2014/main" id="{0B82CB40-55A0-4A1A-BFCE-FE49A390EE84}"/>
                </a:ext>
              </a:extLst>
            </p:cNvPr>
            <p:cNvSpPr>
              <a:spLocks noChangeArrowheads="1"/>
            </p:cNvSpPr>
            <p:nvPr/>
          </p:nvSpPr>
          <p:spPr bwMode="auto">
            <a:xfrm>
              <a:off x="720" y="2064"/>
              <a:ext cx="1248" cy="384"/>
            </a:xfrm>
            <a:prstGeom prst="rect">
              <a:avLst/>
            </a:prstGeom>
            <a:pattFill prst="lgGri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446" name="Line 6">
              <a:extLst>
                <a:ext uri="{FF2B5EF4-FFF2-40B4-BE49-F238E27FC236}">
                  <a16:creationId xmlns:a16="http://schemas.microsoft.com/office/drawing/2014/main" id="{7800C326-63A3-4E68-A25D-3AB932A5E59C}"/>
                </a:ext>
              </a:extLst>
            </p:cNvPr>
            <p:cNvSpPr>
              <a:spLocks noChangeShapeType="1"/>
            </p:cNvSpPr>
            <p:nvPr/>
          </p:nvSpPr>
          <p:spPr bwMode="auto">
            <a:xfrm>
              <a:off x="2064" y="1872"/>
              <a:ext cx="43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1447" name="Line 7">
              <a:extLst>
                <a:ext uri="{FF2B5EF4-FFF2-40B4-BE49-F238E27FC236}">
                  <a16:creationId xmlns:a16="http://schemas.microsoft.com/office/drawing/2014/main" id="{ECDBFF56-8130-4190-9B04-7C05C02DED7B}"/>
                </a:ext>
              </a:extLst>
            </p:cNvPr>
            <p:cNvSpPr>
              <a:spLocks noChangeShapeType="1"/>
            </p:cNvSpPr>
            <p:nvPr/>
          </p:nvSpPr>
          <p:spPr bwMode="auto">
            <a:xfrm flipH="1">
              <a:off x="336" y="2256"/>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1448" name="Text Box 8">
              <a:extLst>
                <a:ext uri="{FF2B5EF4-FFF2-40B4-BE49-F238E27FC236}">
                  <a16:creationId xmlns:a16="http://schemas.microsoft.com/office/drawing/2014/main" id="{E08D9921-1A71-4B42-955F-DC6A94EBDC4D}"/>
                </a:ext>
              </a:extLst>
            </p:cNvPr>
            <p:cNvSpPr txBox="1">
              <a:spLocks noChangeArrowheads="1"/>
            </p:cNvSpPr>
            <p:nvPr/>
          </p:nvSpPr>
          <p:spPr bwMode="auto">
            <a:xfrm>
              <a:off x="2208" y="163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Slip step</a:t>
              </a:r>
            </a:p>
          </p:txBody>
        </p:sp>
        <p:sp>
          <p:nvSpPr>
            <p:cNvPr id="61449" name="Text Box 9">
              <a:extLst>
                <a:ext uri="{FF2B5EF4-FFF2-40B4-BE49-F238E27FC236}">
                  <a16:creationId xmlns:a16="http://schemas.microsoft.com/office/drawing/2014/main" id="{D7105B78-402A-473A-B2B9-8F9EC9BA2968}"/>
                </a:ext>
              </a:extLst>
            </p:cNvPr>
            <p:cNvSpPr txBox="1">
              <a:spLocks noChangeArrowheads="1"/>
            </p:cNvSpPr>
            <p:nvPr/>
          </p:nvSpPr>
          <p:spPr bwMode="auto">
            <a:xfrm>
              <a:off x="816" y="2640"/>
              <a:ext cx="13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b="1"/>
                <a:t>Edge dislocation</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B44B1CDE-B23E-41D9-8010-6C0CC39E717A}"/>
              </a:ext>
            </a:extLst>
          </p:cNvPr>
          <p:cNvSpPr>
            <a:spLocks noGrp="1"/>
          </p:cNvSpPr>
          <p:nvPr>
            <p:ph type="title" idx="4294967295"/>
          </p:nvPr>
        </p:nvSpPr>
        <p:spPr>
          <a:xfrm>
            <a:off x="457200" y="274638"/>
            <a:ext cx="8229600" cy="487362"/>
          </a:xfrm>
        </p:spPr>
        <p:txBody>
          <a:bodyPr/>
          <a:lstStyle/>
          <a:p>
            <a:pPr eaLnBrk="1" hangingPunct="1"/>
            <a:r>
              <a:rPr lang="en-US" altLang="en-US" sz="3200"/>
              <a:t>Terminology</a:t>
            </a:r>
          </a:p>
        </p:txBody>
      </p:sp>
      <p:sp>
        <p:nvSpPr>
          <p:cNvPr id="64515" name="Content Placeholder 2">
            <a:extLst>
              <a:ext uri="{FF2B5EF4-FFF2-40B4-BE49-F238E27FC236}">
                <a16:creationId xmlns:a16="http://schemas.microsoft.com/office/drawing/2014/main" id="{077ED44C-0541-41BD-BEDC-3833639E96DC}"/>
              </a:ext>
            </a:extLst>
          </p:cNvPr>
          <p:cNvSpPr>
            <a:spLocks noGrp="1"/>
          </p:cNvSpPr>
          <p:nvPr>
            <p:ph idx="4294967295"/>
          </p:nvPr>
        </p:nvSpPr>
        <p:spPr>
          <a:xfrm>
            <a:off x="381000" y="838200"/>
            <a:ext cx="8458200" cy="5410200"/>
          </a:xfrm>
        </p:spPr>
        <p:txBody>
          <a:bodyPr/>
          <a:lstStyle/>
          <a:p>
            <a:pPr marL="0" indent="0" eaLnBrk="1" hangingPunct="1">
              <a:buFont typeface="Arial" panose="020B0604020202020204" pitchFamily="34" charset="0"/>
              <a:buNone/>
            </a:pPr>
            <a:r>
              <a:rPr lang="en-US" altLang="en-US" sz="2400" b="1" u="sng"/>
              <a:t>Dislocations:</a:t>
            </a:r>
            <a:endParaRPr lang="en-US" altLang="en-US" sz="2400"/>
          </a:p>
          <a:p>
            <a:pPr marL="0" indent="0" eaLnBrk="1" hangingPunct="1">
              <a:buFont typeface="Arial" panose="020B0604020202020204" pitchFamily="34" charset="0"/>
              <a:buNone/>
            </a:pPr>
            <a:r>
              <a:rPr lang="en-US" altLang="en-US" sz="2400"/>
              <a:t>Dislocations are caused by crystal mismatch during solidification, external stresses (plastic deformation) or by adding alloying elements.</a:t>
            </a:r>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a:t>By adding larger impurity atoms to a metal, we can prevent (reduce) dislocations.  This method is referred to as “solid solution strengthening”.</a:t>
            </a:r>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a:t>Dislocations can interfere with each other, which also causes strengthening in metals.  To obtain multiple dislocations (that interfere with each other) metals can be mechanically worked work hardening).</a:t>
            </a:r>
            <a:endParaRPr lang="en-US" altLang="en-US" sz="2400" b="1" u="sng"/>
          </a:p>
          <a:p>
            <a:pPr marL="0" indent="0" eaLnBrk="1" hangingPunct="1">
              <a:buFont typeface="Arial" panose="020B0604020202020204" pitchFamily="34" charset="0"/>
              <a:buNone/>
            </a:pPr>
            <a:endParaRPr lang="en-US"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9B583D33-E0C0-421E-ADFB-067A47963F57}"/>
              </a:ext>
            </a:extLst>
          </p:cNvPr>
          <p:cNvSpPr>
            <a:spLocks noGrp="1"/>
          </p:cNvSpPr>
          <p:nvPr>
            <p:ph type="title" idx="4294967295"/>
          </p:nvPr>
        </p:nvSpPr>
        <p:spPr>
          <a:xfrm>
            <a:off x="457200" y="274638"/>
            <a:ext cx="8229600" cy="487362"/>
          </a:xfrm>
        </p:spPr>
        <p:txBody>
          <a:bodyPr/>
          <a:lstStyle/>
          <a:p>
            <a:pPr eaLnBrk="1" hangingPunct="1"/>
            <a:r>
              <a:rPr lang="en-US" altLang="en-US" sz="3200"/>
              <a:t>Terminology</a:t>
            </a:r>
          </a:p>
        </p:txBody>
      </p:sp>
      <p:sp>
        <p:nvSpPr>
          <p:cNvPr id="65539" name="Content Placeholder 2">
            <a:extLst>
              <a:ext uri="{FF2B5EF4-FFF2-40B4-BE49-F238E27FC236}">
                <a16:creationId xmlns:a16="http://schemas.microsoft.com/office/drawing/2014/main" id="{BEBF4089-8479-48D9-A1B1-46E5C5EC6A57}"/>
              </a:ext>
            </a:extLst>
          </p:cNvPr>
          <p:cNvSpPr>
            <a:spLocks noGrp="1"/>
          </p:cNvSpPr>
          <p:nvPr>
            <p:ph idx="4294967295"/>
          </p:nvPr>
        </p:nvSpPr>
        <p:spPr>
          <a:xfrm>
            <a:off x="381000" y="838200"/>
            <a:ext cx="8458200" cy="5410200"/>
          </a:xfrm>
        </p:spPr>
        <p:txBody>
          <a:bodyPr/>
          <a:lstStyle/>
          <a:p>
            <a:pPr marL="0" indent="0" eaLnBrk="1" hangingPunct="1">
              <a:buFont typeface="Arial" panose="020B0604020202020204" pitchFamily="34" charset="0"/>
              <a:buNone/>
            </a:pPr>
            <a:r>
              <a:rPr lang="en-US" altLang="en-US" sz="2400" b="1" u="sng"/>
              <a:t>Dislocations cont’d):</a:t>
            </a:r>
            <a:endParaRPr lang="en-US" altLang="en-US" sz="2400"/>
          </a:p>
          <a:p>
            <a:pPr marL="0" indent="0" eaLnBrk="1" hangingPunct="1">
              <a:buFont typeface="Arial" panose="020B0604020202020204" pitchFamily="34" charset="0"/>
              <a:buNone/>
            </a:pPr>
            <a:r>
              <a:rPr lang="en-US" altLang="en-US" sz="2400"/>
              <a:t>Non-ferrous (no iron in them) metals can be strengthened by adding alloying elements which agglomerate within the metal lattice when subjected to heat-treating techniques.  This is called “precipitation hardening”.</a:t>
            </a:r>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a:t>Of lesser importance, is “dispersion hardening”, which is similar to precipitation hardening but uses fine, non-deformable particles.</a:t>
            </a:r>
          </a:p>
          <a:p>
            <a:pPr marL="0" indent="0" eaLnBrk="1" hangingPunct="1">
              <a:buFont typeface="Arial" panose="020B0604020202020204" pitchFamily="34" charset="0"/>
              <a:buNone/>
            </a:pPr>
            <a:endParaRPr lang="en-US" altLang="en-US" sz="2400"/>
          </a:p>
          <a:p>
            <a:pPr marL="0" indent="0" eaLnBrk="1" hangingPunct="1">
              <a:buFont typeface="Arial" panose="020B0604020202020204" pitchFamily="34" charset="0"/>
              <a:buNone/>
            </a:pPr>
            <a:r>
              <a:rPr lang="en-US" altLang="en-US" sz="2400"/>
              <a:t>The most important strengthening method in metals is “quench hardening”.  Here trapped atoms actually change the atomic spacing.</a:t>
            </a:r>
            <a:endParaRPr lang="en-US" altLang="en-US" sz="2400" b="1" u="sng"/>
          </a:p>
          <a:p>
            <a:pPr marL="0" indent="0" eaLnBrk="1" hangingPunct="1">
              <a:buFont typeface="Arial" panose="020B0604020202020204" pitchFamily="34" charset="0"/>
              <a:buNone/>
            </a:pPr>
            <a:endParaRPr lang="en-US"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3707AD98-6F23-4F01-B91A-EF903AEE894C}"/>
              </a:ext>
            </a:extLst>
          </p:cNvPr>
          <p:cNvSpPr>
            <a:spLocks noGrp="1"/>
          </p:cNvSpPr>
          <p:nvPr>
            <p:ph type="title" idx="4294967295"/>
          </p:nvPr>
        </p:nvSpPr>
        <p:spPr>
          <a:xfrm>
            <a:off x="457200" y="274638"/>
            <a:ext cx="8229600" cy="487362"/>
          </a:xfrm>
        </p:spPr>
        <p:txBody>
          <a:bodyPr/>
          <a:lstStyle/>
          <a:p>
            <a:pPr eaLnBrk="1" hangingPunct="1"/>
            <a:r>
              <a:rPr lang="en-US" altLang="en-US" sz="3200"/>
              <a:t>Terminology</a:t>
            </a:r>
          </a:p>
        </p:txBody>
      </p:sp>
      <p:sp>
        <p:nvSpPr>
          <p:cNvPr id="66563" name="Content Placeholder 2">
            <a:extLst>
              <a:ext uri="{FF2B5EF4-FFF2-40B4-BE49-F238E27FC236}">
                <a16:creationId xmlns:a16="http://schemas.microsoft.com/office/drawing/2014/main" id="{96E7459D-4418-4007-ABA9-55EEDA871D6A}"/>
              </a:ext>
            </a:extLst>
          </p:cNvPr>
          <p:cNvSpPr>
            <a:spLocks noGrp="1"/>
          </p:cNvSpPr>
          <p:nvPr>
            <p:ph idx="4294967295"/>
          </p:nvPr>
        </p:nvSpPr>
        <p:spPr>
          <a:xfrm>
            <a:off x="381000" y="838200"/>
            <a:ext cx="8458200" cy="5410200"/>
          </a:xfrm>
        </p:spPr>
        <p:txBody>
          <a:bodyPr/>
          <a:lstStyle/>
          <a:p>
            <a:pPr marL="0" indent="0" eaLnBrk="1" hangingPunct="1">
              <a:buFont typeface="Arial" panose="020B0604020202020204" pitchFamily="34" charset="0"/>
              <a:buNone/>
            </a:pPr>
            <a:r>
              <a:rPr lang="en-US" altLang="en-US" sz="2400" b="1" u="sng"/>
              <a:t>Phases:</a:t>
            </a:r>
            <a:endParaRPr lang="en-US" altLang="en-US" sz="2400"/>
          </a:p>
          <a:p>
            <a:pPr marL="0" indent="0" eaLnBrk="1" hangingPunct="1">
              <a:buFont typeface="Arial" panose="020B0604020202020204" pitchFamily="34" charset="0"/>
              <a:buNone/>
            </a:pPr>
            <a:r>
              <a:rPr lang="en-US" altLang="en-US" sz="2400"/>
              <a:t>Phases are changes in crystal structure and can be found on phase diagrams (equilibrium phase diagrams).  </a:t>
            </a:r>
          </a:p>
          <a:p>
            <a:pPr marL="0" indent="0" eaLnBrk="1" hangingPunct="1">
              <a:buFont typeface="Arial" panose="020B0604020202020204" pitchFamily="34" charset="0"/>
              <a:buNone/>
            </a:pPr>
            <a:r>
              <a:rPr lang="en-US" altLang="en-US" sz="2400"/>
              <a:t>i.e. austenite is a phase in steel.</a:t>
            </a:r>
            <a:endParaRPr lang="en-US" altLang="en-US" sz="2400" b="1" u="sng"/>
          </a:p>
          <a:p>
            <a:pPr marL="0" indent="0" eaLnBrk="1" hangingPunct="1">
              <a:buFont typeface="Arial" panose="020B0604020202020204" pitchFamily="34" charset="0"/>
              <a:buNone/>
            </a:pPr>
            <a:r>
              <a:rPr lang="en-US" altLang="en-US" sz="2400" b="1" u="sng"/>
              <a:t>Transformations:</a:t>
            </a:r>
            <a:endParaRPr lang="en-US" altLang="en-US" sz="2400"/>
          </a:p>
          <a:p>
            <a:pPr marL="0" indent="0" eaLnBrk="1" hangingPunct="1">
              <a:buFont typeface="Arial" panose="020B0604020202020204" pitchFamily="34" charset="0"/>
              <a:buNone/>
            </a:pPr>
            <a:r>
              <a:rPr lang="en-US" altLang="en-US" sz="2400"/>
              <a:t>Typically retain the  crystal structure, but with a re-orientation.</a:t>
            </a:r>
          </a:p>
          <a:p>
            <a:pPr marL="0" indent="0" eaLnBrk="1" hangingPunct="1">
              <a:buFont typeface="Arial" panose="020B0604020202020204" pitchFamily="34" charset="0"/>
              <a:buNone/>
            </a:pPr>
            <a:r>
              <a:rPr lang="en-US" altLang="en-US" sz="2400"/>
              <a:t>i.e. martensite is a transformation in steel.</a:t>
            </a:r>
          </a:p>
          <a:p>
            <a:pPr marL="0" indent="0" eaLnBrk="1" hangingPunct="1">
              <a:buFont typeface="Arial" panose="020B0604020202020204" pitchFamily="34" charset="0"/>
              <a:buNone/>
            </a:pPr>
            <a:r>
              <a:rPr lang="en-US" altLang="en-US" sz="2400" b="1" u="sng"/>
              <a:t>Dipole:</a:t>
            </a:r>
          </a:p>
          <a:p>
            <a:pPr marL="0" indent="0" eaLnBrk="1" hangingPunct="1">
              <a:buFont typeface="Arial" panose="020B0604020202020204" pitchFamily="34" charset="0"/>
              <a:buNone/>
            </a:pPr>
            <a:r>
              <a:rPr lang="en-US" altLang="en-US" sz="2400"/>
              <a:t>Induced dipoles occur when an atom is placed an external electric field.  The electrons are displaced from their normal  positions relative to the nucleus.  At their new positions , these electrons iduce a dipole within the atom, which is actually a redistribution of charge.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EF4D397-DB87-442E-ACD4-5617EE56D9BF}"/>
              </a:ext>
            </a:extLst>
          </p:cNvPr>
          <p:cNvSpPr>
            <a:spLocks noGrp="1"/>
          </p:cNvSpPr>
          <p:nvPr>
            <p:ph type="title"/>
          </p:nvPr>
        </p:nvSpPr>
        <p:spPr>
          <a:xfrm>
            <a:off x="609600" y="5638800"/>
            <a:ext cx="7772400" cy="1143000"/>
          </a:xfrm>
        </p:spPr>
        <p:txBody>
          <a:bodyPr/>
          <a:lstStyle/>
          <a:p>
            <a:pPr algn="l"/>
            <a:r>
              <a:rPr lang="en-US" altLang="en-US" sz="2400" b="1"/>
              <a:t>Levels of atomic arrangement</a:t>
            </a:r>
            <a:r>
              <a:rPr lang="en-US" altLang="en-US" sz="2400"/>
              <a:t> where a) has no ordering of atoms, b) and c) have short range order and d) has short and long range order.</a:t>
            </a:r>
          </a:p>
        </p:txBody>
      </p:sp>
      <p:pic>
        <p:nvPicPr>
          <p:cNvPr id="67587" name="Picture 3" descr="Fig 1a">
            <a:extLst>
              <a:ext uri="{FF2B5EF4-FFF2-40B4-BE49-F238E27FC236}">
                <a16:creationId xmlns:a16="http://schemas.microsoft.com/office/drawing/2014/main" id="{B505D196-A11D-4459-98CA-4D610D4CEC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95288"/>
            <a:ext cx="2320925" cy="2144712"/>
          </a:xfrm>
          <a:prstGeom prst="rect">
            <a:avLst/>
          </a:prstGeom>
          <a:noFill/>
          <a:extLst>
            <a:ext uri="{909E8E84-426E-40DD-AFC4-6F175D3DCCD1}">
              <a14:hiddenFill xmlns:a14="http://schemas.microsoft.com/office/drawing/2010/main">
                <a:solidFill>
                  <a:srgbClr val="FFFFFF"/>
                </a:solidFill>
              </a14:hiddenFill>
            </a:ext>
          </a:extLst>
        </p:spPr>
      </p:pic>
      <p:pic>
        <p:nvPicPr>
          <p:cNvPr id="67588" name="Picture 4" descr="Fig 1b">
            <a:extLst>
              <a:ext uri="{FF2B5EF4-FFF2-40B4-BE49-F238E27FC236}">
                <a16:creationId xmlns:a16="http://schemas.microsoft.com/office/drawing/2014/main" id="{041B218A-77DD-478D-8852-BFFE5BEC3E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319088"/>
            <a:ext cx="2286000" cy="2181225"/>
          </a:xfrm>
          <a:prstGeom prst="rect">
            <a:avLst/>
          </a:prstGeom>
          <a:noFill/>
          <a:extLst>
            <a:ext uri="{909E8E84-426E-40DD-AFC4-6F175D3DCCD1}">
              <a14:hiddenFill xmlns:a14="http://schemas.microsoft.com/office/drawing/2010/main">
                <a:solidFill>
                  <a:srgbClr val="FFFFFF"/>
                </a:solidFill>
              </a14:hiddenFill>
            </a:ext>
          </a:extLst>
        </p:spPr>
      </p:pic>
      <p:pic>
        <p:nvPicPr>
          <p:cNvPr id="67589" name="Picture 5" descr="Fig 1c">
            <a:extLst>
              <a:ext uri="{FF2B5EF4-FFF2-40B4-BE49-F238E27FC236}">
                <a16:creationId xmlns:a16="http://schemas.microsoft.com/office/drawing/2014/main" id="{53904478-69E2-4D30-991B-6F98AADD7A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806700"/>
            <a:ext cx="2497138" cy="2422525"/>
          </a:xfrm>
          <a:prstGeom prst="rect">
            <a:avLst/>
          </a:prstGeom>
          <a:noFill/>
          <a:extLst>
            <a:ext uri="{909E8E84-426E-40DD-AFC4-6F175D3DCCD1}">
              <a14:hiddenFill xmlns:a14="http://schemas.microsoft.com/office/drawing/2010/main">
                <a:solidFill>
                  <a:srgbClr val="FFFFFF"/>
                </a:solidFill>
              </a14:hiddenFill>
            </a:ext>
          </a:extLst>
        </p:spPr>
      </p:pic>
      <p:pic>
        <p:nvPicPr>
          <p:cNvPr id="67590" name="Picture 6" descr="Fig 1d">
            <a:extLst>
              <a:ext uri="{FF2B5EF4-FFF2-40B4-BE49-F238E27FC236}">
                <a16:creationId xmlns:a16="http://schemas.microsoft.com/office/drawing/2014/main" id="{4B281546-C901-4709-87FE-C9C7748230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2719388"/>
            <a:ext cx="2181225" cy="25288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F14E1706-3696-4EE0-8344-8E02200577A9}"/>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69635" name="Rectangle 3">
            <a:extLst>
              <a:ext uri="{FF2B5EF4-FFF2-40B4-BE49-F238E27FC236}">
                <a16:creationId xmlns:a16="http://schemas.microsoft.com/office/drawing/2014/main" id="{7E6D7D43-9919-41EA-B137-F2B86DB015DE}"/>
              </a:ext>
            </a:extLst>
          </p:cNvPr>
          <p:cNvSpPr>
            <a:spLocks noChangeArrowheads="1"/>
          </p:cNvSpPr>
          <p:nvPr/>
        </p:nvSpPr>
        <p:spPr bwMode="auto">
          <a:xfrm>
            <a:off x="304800" y="914400"/>
            <a:ext cx="873125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400"/>
              <a:t>A “unit cell” is a subdivision of the lattice that has all the geometric characteristics of the total crystal.</a:t>
            </a:r>
          </a:p>
          <a:p>
            <a:r>
              <a:rPr lang="en-US" altLang="en-US" sz="2400"/>
              <a:t>The simplest choice of this repeating combination of the atoms on a set of lattice points is called the unit cell.  </a:t>
            </a:r>
          </a:p>
          <a:p>
            <a:r>
              <a:rPr lang="en-US" altLang="en-US" sz="2400"/>
              <a:t>All unit cells in a perfect crystalline solid are identical so if we describe one unit cell then we have described them all.</a:t>
            </a:r>
          </a:p>
        </p:txBody>
      </p:sp>
      <p:pic>
        <p:nvPicPr>
          <p:cNvPr id="69636" name="Picture 4" descr="Fig 2 - unit cell">
            <a:extLst>
              <a:ext uri="{FF2B5EF4-FFF2-40B4-BE49-F238E27FC236}">
                <a16:creationId xmlns:a16="http://schemas.microsoft.com/office/drawing/2014/main" id="{9AE0C911-3C04-4055-A59E-040BE04B6F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505200"/>
            <a:ext cx="2243138" cy="2533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B4FA1A61-DA83-4689-B0DF-5851954892BB}"/>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71683" name="Rectangle 3">
            <a:extLst>
              <a:ext uri="{FF2B5EF4-FFF2-40B4-BE49-F238E27FC236}">
                <a16:creationId xmlns:a16="http://schemas.microsoft.com/office/drawing/2014/main" id="{8066CFC5-5B34-487D-8B9A-B29468CC4939}"/>
              </a:ext>
            </a:extLst>
          </p:cNvPr>
          <p:cNvSpPr>
            <a:spLocks noChangeArrowheads="1"/>
          </p:cNvSpPr>
          <p:nvPr/>
        </p:nvSpPr>
        <p:spPr bwMode="auto">
          <a:xfrm>
            <a:off x="304800" y="914400"/>
            <a:ext cx="873125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400"/>
              <a:t>The lattice parameters describe the size and shape of the unit cell.</a:t>
            </a:r>
          </a:p>
          <a:p>
            <a:r>
              <a:rPr lang="en-US" altLang="en-US" sz="2400"/>
              <a:t>There are </a:t>
            </a:r>
            <a:r>
              <a:rPr lang="en-US" altLang="en-US" sz="2400" b="1" u="sng"/>
              <a:t>three lengths</a:t>
            </a:r>
            <a:r>
              <a:rPr lang="en-US" altLang="en-US" sz="2400"/>
              <a:t>, a, b, and c that describe the cell’s edges.</a:t>
            </a:r>
          </a:p>
          <a:p>
            <a:r>
              <a:rPr lang="en-US" altLang="en-US" sz="2400"/>
              <a:t>There are </a:t>
            </a:r>
            <a:r>
              <a:rPr lang="en-US" altLang="en-US" sz="2400" b="1" u="sng"/>
              <a:t>three angles</a:t>
            </a:r>
            <a:r>
              <a:rPr lang="en-US" altLang="en-US" sz="2400"/>
              <a:t>, alpha, beta, and gamma, that describe the three angles between the adjacent cell axes.</a:t>
            </a:r>
          </a:p>
        </p:txBody>
      </p:sp>
      <p:pic>
        <p:nvPicPr>
          <p:cNvPr id="71684" name="Picture 4" descr="Fig 3-12a - crystal systems">
            <a:extLst>
              <a:ext uri="{FF2B5EF4-FFF2-40B4-BE49-F238E27FC236}">
                <a16:creationId xmlns:a16="http://schemas.microsoft.com/office/drawing/2014/main" id="{F413C9A4-FF67-441C-9F6E-ACE662FB14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3810000"/>
            <a:ext cx="2436812" cy="1617663"/>
          </a:xfrm>
          <a:prstGeom prst="rect">
            <a:avLst/>
          </a:prstGeom>
          <a:noFill/>
          <a:extLst>
            <a:ext uri="{909E8E84-426E-40DD-AFC4-6F175D3DCCD1}">
              <a14:hiddenFill xmlns:a14="http://schemas.microsoft.com/office/drawing/2010/main">
                <a:solidFill>
                  <a:srgbClr val="FFFFFF"/>
                </a:solidFill>
              </a14:hiddenFill>
            </a:ext>
          </a:extLst>
        </p:spPr>
      </p:pic>
      <p:pic>
        <p:nvPicPr>
          <p:cNvPr id="71685" name="Picture 5" descr="Fig 3-12b - crystal systems">
            <a:extLst>
              <a:ext uri="{FF2B5EF4-FFF2-40B4-BE49-F238E27FC236}">
                <a16:creationId xmlns:a16="http://schemas.microsoft.com/office/drawing/2014/main" id="{C93E7300-6E95-4B15-B3EE-7BB2057A5F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362325"/>
            <a:ext cx="5029200" cy="2259013"/>
          </a:xfrm>
          <a:prstGeom prst="rect">
            <a:avLst/>
          </a:prstGeom>
          <a:noFill/>
          <a:extLst>
            <a:ext uri="{909E8E84-426E-40DD-AFC4-6F175D3DCCD1}">
              <a14:hiddenFill xmlns:a14="http://schemas.microsoft.com/office/drawing/2010/main">
                <a:solidFill>
                  <a:srgbClr val="FFFFFF"/>
                </a:solidFill>
              </a14:hiddenFill>
            </a:ext>
          </a:extLst>
        </p:spPr>
      </p:pic>
      <p:sp>
        <p:nvSpPr>
          <p:cNvPr id="71686" name="Rectangle 6">
            <a:extLst>
              <a:ext uri="{FF2B5EF4-FFF2-40B4-BE49-F238E27FC236}">
                <a16:creationId xmlns:a16="http://schemas.microsoft.com/office/drawing/2014/main" id="{978BA40E-E04B-4265-AA75-DBE7AFB26E57}"/>
              </a:ext>
            </a:extLst>
          </p:cNvPr>
          <p:cNvSpPr>
            <a:spLocks noChangeArrowheads="1"/>
          </p:cNvSpPr>
          <p:nvPr/>
        </p:nvSpPr>
        <p:spPr bwMode="auto">
          <a:xfrm>
            <a:off x="304800" y="6096000"/>
            <a:ext cx="8731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000" b="1"/>
              <a:t>Lattice parameters and their use to describe crystal systems.</a:t>
            </a:r>
          </a:p>
        </p:txBody>
      </p:sp>
    </p:spTree>
  </p:cSld>
  <p:clrMapOvr>
    <a:masterClrMapping/>
  </p:clrMapOvr>
  <p:transition>
    <p:pull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1233BD12-EB4C-4377-8F25-6B7B8E2CDE7E}"/>
              </a:ext>
            </a:extLst>
          </p:cNvPr>
          <p:cNvSpPr>
            <a:spLocks noGrp="1" noChangeArrowheads="1"/>
          </p:cNvSpPr>
          <p:nvPr>
            <p:ph type="title"/>
          </p:nvPr>
        </p:nvSpPr>
        <p:spPr>
          <a:xfrm>
            <a:off x="685800" y="114300"/>
            <a:ext cx="7772400" cy="5715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73731" name="Rectangle 3">
            <a:extLst>
              <a:ext uri="{FF2B5EF4-FFF2-40B4-BE49-F238E27FC236}">
                <a16:creationId xmlns:a16="http://schemas.microsoft.com/office/drawing/2014/main" id="{9414C71F-D88A-40F8-B1DA-0CB628285075}"/>
              </a:ext>
            </a:extLst>
          </p:cNvPr>
          <p:cNvSpPr>
            <a:spLocks noChangeArrowheads="1"/>
          </p:cNvSpPr>
          <p:nvPr/>
        </p:nvSpPr>
        <p:spPr bwMode="auto">
          <a:xfrm>
            <a:off x="304800" y="685800"/>
            <a:ext cx="87312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400"/>
              <a:t>There are only </a:t>
            </a:r>
            <a:r>
              <a:rPr lang="en-US" altLang="en-US" sz="2400" b="1" u="sng"/>
              <a:t>seven unique Crystal Systems</a:t>
            </a:r>
            <a:r>
              <a:rPr lang="en-US" altLang="en-US" sz="2400"/>
              <a:t>, i.e.,</a:t>
            </a:r>
          </a:p>
          <a:p>
            <a:pPr lvl="1"/>
            <a:r>
              <a:rPr lang="en-US" altLang="en-US" sz="2400"/>
              <a:t>1. Cubic  2. Tetragonal  3.Orthorhombic  4. Rhombohedral  </a:t>
            </a:r>
          </a:p>
          <a:p>
            <a:pPr lvl="1"/>
            <a:r>
              <a:rPr lang="en-US" altLang="en-US" sz="2400"/>
              <a:t>5. Hexagonal  6. Monoclinic  7. Triclinic</a:t>
            </a:r>
          </a:p>
        </p:txBody>
      </p:sp>
      <p:pic>
        <p:nvPicPr>
          <p:cNvPr id="73732" name="Picture 4" descr="Table 3-1 - 7 Crystal Systems">
            <a:extLst>
              <a:ext uri="{FF2B5EF4-FFF2-40B4-BE49-F238E27FC236}">
                <a16:creationId xmlns:a16="http://schemas.microsoft.com/office/drawing/2014/main" id="{226E5B00-5D78-42F4-B44C-37CC3EE9BD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33600"/>
            <a:ext cx="9144000" cy="40751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598B7F7D-A134-487D-B484-59A777997A15}"/>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75779" name="Rectangle 3">
            <a:extLst>
              <a:ext uri="{FF2B5EF4-FFF2-40B4-BE49-F238E27FC236}">
                <a16:creationId xmlns:a16="http://schemas.microsoft.com/office/drawing/2014/main" id="{840FFE24-C1C4-48B8-99EE-0CE483FAF972}"/>
              </a:ext>
            </a:extLst>
          </p:cNvPr>
          <p:cNvSpPr>
            <a:spLocks noChangeArrowheads="1"/>
          </p:cNvSpPr>
          <p:nvPr/>
        </p:nvSpPr>
        <p:spPr bwMode="auto">
          <a:xfrm>
            <a:off x="304800" y="914400"/>
            <a:ext cx="873125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400"/>
              <a:t>There are </a:t>
            </a:r>
            <a:r>
              <a:rPr lang="en-US" altLang="en-US" sz="2400" b="1" u="sng"/>
              <a:t>14 types of unit cells</a:t>
            </a:r>
            <a:r>
              <a:rPr lang="en-US" altLang="en-US" sz="2400"/>
              <a:t> or Bravais lattices that are grouped into the 7 crystal systems (see next slide).</a:t>
            </a:r>
          </a:p>
          <a:p>
            <a:r>
              <a:rPr lang="en-US" altLang="en-US" sz="2400"/>
              <a:t>There are </a:t>
            </a:r>
            <a:r>
              <a:rPr lang="en-US" altLang="en-US" sz="2400" b="1">
                <a:effectLst>
                  <a:outerShdw blurRad="38100" dist="38100" dir="2700000" algn="tl">
                    <a:srgbClr val="C0C0C0"/>
                  </a:outerShdw>
                </a:effectLst>
              </a:rPr>
              <a:t>four basic types of unit cells</a:t>
            </a:r>
            <a:r>
              <a:rPr lang="en-US" altLang="en-US" sz="2400"/>
              <a:t>:</a:t>
            </a:r>
          </a:p>
          <a:p>
            <a:pPr lvl="1"/>
            <a:r>
              <a:rPr lang="en-US" altLang="en-US" sz="2400"/>
              <a:t>Simple</a:t>
            </a:r>
          </a:p>
          <a:p>
            <a:pPr lvl="1"/>
            <a:r>
              <a:rPr lang="en-US" altLang="en-US" sz="2400"/>
              <a:t>Body-centered </a:t>
            </a:r>
          </a:p>
          <a:p>
            <a:pPr lvl="1"/>
            <a:r>
              <a:rPr lang="en-US" altLang="en-US" sz="2400"/>
              <a:t>Face-centered</a:t>
            </a:r>
          </a:p>
          <a:p>
            <a:pPr lvl="1"/>
            <a:r>
              <a:rPr lang="en-US" altLang="en-US" sz="2400"/>
              <a:t>Base-centered</a:t>
            </a:r>
          </a:p>
          <a:p>
            <a:r>
              <a:rPr lang="en-US" altLang="en-US" sz="2400"/>
              <a:t>These lattices are the skeletons of solids upon which the crystal structures of atoms are built</a:t>
            </a:r>
          </a:p>
        </p:txBody>
      </p:sp>
    </p:spTree>
  </p:cSld>
  <p:clrMapOvr>
    <a:masterClrMapping/>
  </p:clrMapOvr>
  <p:transition>
    <p:pull dir="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7E9F79-0F20-4D51-8356-DD66D0FB88CB}"/>
              </a:ext>
            </a:extLst>
          </p:cNvPr>
          <p:cNvSpPr>
            <a:spLocks noGrp="1"/>
          </p:cNvSpPr>
          <p:nvPr>
            <p:ph type="title"/>
          </p:nvPr>
        </p:nvSpPr>
        <p:spPr>
          <a:xfrm>
            <a:off x="0" y="1295400"/>
            <a:ext cx="2438400" cy="3886200"/>
          </a:xfrm>
        </p:spPr>
        <p:txBody>
          <a:bodyPr/>
          <a:lstStyle/>
          <a:p>
            <a:pPr algn="l"/>
            <a:r>
              <a:rPr lang="en-US" altLang="en-US" sz="2400"/>
              <a:t>The fourteen types of Bravais lattices grouped into the seven crystal systems.</a:t>
            </a:r>
          </a:p>
        </p:txBody>
      </p:sp>
      <p:pic>
        <p:nvPicPr>
          <p:cNvPr id="77827" name="Picture 3" descr="Fig 3-11 - crystal space groups">
            <a:extLst>
              <a:ext uri="{FF2B5EF4-FFF2-40B4-BE49-F238E27FC236}">
                <a16:creationId xmlns:a16="http://schemas.microsoft.com/office/drawing/2014/main" id="{D3F46473-5F24-4E62-A811-B61A8FB89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3825" y="0"/>
            <a:ext cx="6480175"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8CE02C34-CBAD-4BD6-823D-E1CAA6510661}"/>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79875" name="Rectangle 3">
            <a:extLst>
              <a:ext uri="{FF2B5EF4-FFF2-40B4-BE49-F238E27FC236}">
                <a16:creationId xmlns:a16="http://schemas.microsoft.com/office/drawing/2014/main" id="{B4B10C2F-4011-4787-816C-A22C7F04BC85}"/>
              </a:ext>
            </a:extLst>
          </p:cNvPr>
          <p:cNvSpPr>
            <a:spLocks noChangeArrowheads="1"/>
          </p:cNvSpPr>
          <p:nvPr/>
        </p:nvSpPr>
        <p:spPr bwMode="auto">
          <a:xfrm>
            <a:off x="304800" y="914400"/>
            <a:ext cx="873125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u="sng"/>
              <a:t>Direction vs. Postion:</a:t>
            </a:r>
            <a:endParaRPr lang="en-US" altLang="en-US" sz="2400"/>
          </a:p>
          <a:p>
            <a:pPr>
              <a:buFont typeface="Arial" panose="020B0604020202020204" pitchFamily="34" charset="0"/>
              <a:buNone/>
            </a:pPr>
            <a:r>
              <a:rPr lang="en-US" altLang="en-US" sz="2400"/>
              <a:t>Position is denoted by the unit cell having a value of 1 for each side (i.e. for a cubic unit cell).  Thus, an atom in the middle of a BCC unit cell is located at a position of ½, ½, ½ .</a:t>
            </a:r>
            <a:endParaRPr lang="en-US" altLang="en-US" sz="2400" b="1" u="sng"/>
          </a:p>
        </p:txBody>
      </p:sp>
      <p:pic>
        <p:nvPicPr>
          <p:cNvPr id="79877" name="Picture 5" descr="Fig 3-18 - points">
            <a:extLst>
              <a:ext uri="{FF2B5EF4-FFF2-40B4-BE49-F238E27FC236}">
                <a16:creationId xmlns:a16="http://schemas.microsoft.com/office/drawing/2014/main" id="{AC35DADB-5DA8-4D05-B85C-BC537DC5F3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743200"/>
            <a:ext cx="3673475"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F3C81DDE-0E37-4538-B723-F8B5E40CE417}"/>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81923" name="Rectangle 3">
            <a:extLst>
              <a:ext uri="{FF2B5EF4-FFF2-40B4-BE49-F238E27FC236}">
                <a16:creationId xmlns:a16="http://schemas.microsoft.com/office/drawing/2014/main" id="{A2BDF270-E405-4CD6-BF0E-BB842E1BB1FF}"/>
              </a:ext>
            </a:extLst>
          </p:cNvPr>
          <p:cNvSpPr>
            <a:spLocks noChangeArrowheads="1"/>
          </p:cNvSpPr>
          <p:nvPr/>
        </p:nvSpPr>
        <p:spPr bwMode="auto">
          <a:xfrm>
            <a:off x="533400" y="914400"/>
            <a:ext cx="8077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u="sng"/>
              <a:t>Direction vs. Postion (cont’d):</a:t>
            </a:r>
            <a:endParaRPr lang="en-US" altLang="en-US" sz="2400"/>
          </a:p>
          <a:p>
            <a:pPr>
              <a:buFont typeface="Arial" panose="020B0604020202020204" pitchFamily="34" charset="0"/>
              <a:buNone/>
            </a:pPr>
            <a:r>
              <a:rPr lang="en-US" altLang="en-US" sz="2400"/>
              <a:t>Directions are designated by square brackets [uvw].  The BCC center atom is in the direction [111] from the corner (origin).  When a direction is pointing in a negative direction (on any axis), we use a bar            to indicate the negative.</a:t>
            </a:r>
          </a:p>
          <a:p>
            <a:pPr>
              <a:buFont typeface="Arial" panose="020B0604020202020204" pitchFamily="34" charset="0"/>
              <a:buNone/>
            </a:pPr>
            <a:endParaRPr lang="en-US" altLang="en-US" sz="2400"/>
          </a:p>
          <a:p>
            <a:pPr>
              <a:buFont typeface="Arial" panose="020B0604020202020204" pitchFamily="34" charset="0"/>
              <a:buNone/>
            </a:pPr>
            <a:r>
              <a:rPr lang="en-US" altLang="en-US" sz="2400"/>
              <a:t>i.e.                                (Direction)</a:t>
            </a:r>
          </a:p>
          <a:p>
            <a:pPr>
              <a:buFont typeface="Arial" panose="020B0604020202020204" pitchFamily="34" charset="0"/>
              <a:buNone/>
            </a:pPr>
            <a:r>
              <a:rPr lang="en-US" altLang="en-US" sz="2400"/>
              <a:t>Since all [111] diagonals from the origin are identical (in that they all travel corner to corner through a cubic unit cell) and only our chosen orientation is different, we can gather them together as a “family of directions”</a:t>
            </a:r>
          </a:p>
        </p:txBody>
      </p:sp>
      <p:graphicFrame>
        <p:nvGraphicFramePr>
          <p:cNvPr id="81925" name="Object 5">
            <a:extLst>
              <a:ext uri="{FF2B5EF4-FFF2-40B4-BE49-F238E27FC236}">
                <a16:creationId xmlns:a16="http://schemas.microsoft.com/office/drawing/2014/main" id="{016EE5FA-159D-43BC-B3F0-16E9855032D2}"/>
              </a:ext>
            </a:extLst>
          </p:cNvPr>
          <p:cNvGraphicFramePr>
            <a:graphicFrameLocks noChangeAspect="1"/>
          </p:cNvGraphicFramePr>
          <p:nvPr/>
        </p:nvGraphicFramePr>
        <p:xfrm>
          <a:off x="3033713" y="2438400"/>
          <a:ext cx="593725" cy="469900"/>
        </p:xfrm>
        <a:graphic>
          <a:graphicData uri="http://schemas.openxmlformats.org/presentationml/2006/ole">
            <mc:AlternateContent xmlns:mc="http://schemas.openxmlformats.org/markup-compatibility/2006">
              <mc:Choice xmlns:v="urn:schemas-microsoft-com:vml" Requires="v">
                <p:oleObj spid="_x0000_s1026" name="Equation" r:id="rId4" imgW="304560" imgH="241200" progId="Equation.3">
                  <p:embed/>
                </p:oleObj>
              </mc:Choice>
              <mc:Fallback>
                <p:oleObj name="Equation" r:id="rId4" imgW="304560" imgH="241200" progId="Equation.3">
                  <p:embed/>
                  <p:pic>
                    <p:nvPicPr>
                      <p:cNvPr id="81925" name="Object 5">
                        <a:extLst>
                          <a:ext uri="{FF2B5EF4-FFF2-40B4-BE49-F238E27FC236}">
                            <a16:creationId xmlns:a16="http://schemas.microsoft.com/office/drawing/2014/main" id="{016EE5FA-159D-43BC-B3F0-16E9855032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3713" y="2438400"/>
                        <a:ext cx="593725"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6" name="Object 6">
            <a:extLst>
              <a:ext uri="{FF2B5EF4-FFF2-40B4-BE49-F238E27FC236}">
                <a16:creationId xmlns:a16="http://schemas.microsoft.com/office/drawing/2014/main" id="{FAC6FC49-2176-491C-A43D-36E182F30B50}"/>
              </a:ext>
            </a:extLst>
          </p:cNvPr>
          <p:cNvGraphicFramePr>
            <a:graphicFrameLocks noChangeAspect="1"/>
          </p:cNvGraphicFramePr>
          <p:nvPr/>
        </p:nvGraphicFramePr>
        <p:xfrm>
          <a:off x="1447800" y="3352800"/>
          <a:ext cx="1511300" cy="469900"/>
        </p:xfrm>
        <a:graphic>
          <a:graphicData uri="http://schemas.openxmlformats.org/presentationml/2006/ole">
            <mc:AlternateContent xmlns:mc="http://schemas.openxmlformats.org/markup-compatibility/2006">
              <mc:Choice xmlns:v="urn:schemas-microsoft-com:vml" Requires="v">
                <p:oleObj spid="_x0000_s1027" name="Equation" r:id="rId6" imgW="774360" imgH="241200" progId="Equation.3">
                  <p:embed/>
                </p:oleObj>
              </mc:Choice>
              <mc:Fallback>
                <p:oleObj name="Equation" r:id="rId6" imgW="774360" imgH="241200" progId="Equation.3">
                  <p:embed/>
                  <p:pic>
                    <p:nvPicPr>
                      <p:cNvPr id="81926" name="Object 6">
                        <a:extLst>
                          <a:ext uri="{FF2B5EF4-FFF2-40B4-BE49-F238E27FC236}">
                            <a16:creationId xmlns:a16="http://schemas.microsoft.com/office/drawing/2014/main" id="{FAC6FC49-2176-491C-A43D-36E182F30B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3352800"/>
                        <a:ext cx="1511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7" name="Object 7">
            <a:extLst>
              <a:ext uri="{FF2B5EF4-FFF2-40B4-BE49-F238E27FC236}">
                <a16:creationId xmlns:a16="http://schemas.microsoft.com/office/drawing/2014/main" id="{49917D61-ADDC-4754-A0FF-0E6F56A4703A}"/>
              </a:ext>
            </a:extLst>
          </p:cNvPr>
          <p:cNvGraphicFramePr>
            <a:graphicFrameLocks noChangeAspect="1"/>
          </p:cNvGraphicFramePr>
          <p:nvPr/>
        </p:nvGraphicFramePr>
        <p:xfrm>
          <a:off x="415925" y="5410200"/>
          <a:ext cx="8042275" cy="593725"/>
        </p:xfrm>
        <a:graphic>
          <a:graphicData uri="http://schemas.openxmlformats.org/presentationml/2006/ole">
            <mc:AlternateContent xmlns:mc="http://schemas.openxmlformats.org/markup-compatibility/2006">
              <mc:Choice xmlns:v="urn:schemas-microsoft-com:vml" Requires="v">
                <p:oleObj spid="_x0000_s1028" name="Equation" r:id="rId8" imgW="3263760" imgH="241200" progId="Equation.3">
                  <p:embed/>
                </p:oleObj>
              </mc:Choice>
              <mc:Fallback>
                <p:oleObj name="Equation" r:id="rId8" imgW="3263760" imgH="241200" progId="Equation.3">
                  <p:embed/>
                  <p:pic>
                    <p:nvPicPr>
                      <p:cNvPr id="81927" name="Object 7">
                        <a:extLst>
                          <a:ext uri="{FF2B5EF4-FFF2-40B4-BE49-F238E27FC236}">
                            <a16:creationId xmlns:a16="http://schemas.microsoft.com/office/drawing/2014/main" id="{49917D61-ADDC-4754-A0FF-0E6F56A4703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5925" y="5410200"/>
                        <a:ext cx="8042275"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C10EA397-457E-4FC2-A86B-8C81E7ED81B5}"/>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83971" name="Rectangle 3">
            <a:extLst>
              <a:ext uri="{FF2B5EF4-FFF2-40B4-BE49-F238E27FC236}">
                <a16:creationId xmlns:a16="http://schemas.microsoft.com/office/drawing/2014/main" id="{73340CC1-1CD0-40CC-9AC8-5069746DAC9E}"/>
              </a:ext>
            </a:extLst>
          </p:cNvPr>
          <p:cNvSpPr>
            <a:spLocks noChangeArrowheads="1"/>
          </p:cNvSpPr>
          <p:nvPr/>
        </p:nvSpPr>
        <p:spPr bwMode="auto">
          <a:xfrm>
            <a:off x="228600" y="914400"/>
            <a:ext cx="880745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u="sng"/>
              <a:t>Angle between directions:</a:t>
            </a:r>
            <a:endParaRPr lang="en-US" altLang="en-US" sz="2400"/>
          </a:p>
          <a:p>
            <a:pPr>
              <a:buFont typeface="Arial" panose="020B0604020202020204" pitchFamily="34" charset="0"/>
              <a:buNone/>
            </a:pPr>
            <a:r>
              <a:rPr lang="en-US" altLang="en-US" sz="2400"/>
              <a:t>To assist with determining the mechanical properties, it is useful to know the angle  between the  direction vectors.</a:t>
            </a:r>
          </a:p>
          <a:p>
            <a:pPr>
              <a:buFont typeface="Arial" panose="020B0604020202020204" pitchFamily="34" charset="0"/>
              <a:buNone/>
            </a:pPr>
            <a:endParaRPr lang="en-US" altLang="en-US" sz="1000"/>
          </a:p>
          <a:p>
            <a:pPr>
              <a:buFont typeface="Arial" panose="020B0604020202020204" pitchFamily="34" charset="0"/>
              <a:buNone/>
            </a:pPr>
            <a:r>
              <a:rPr lang="en-US" altLang="en-US" sz="2400"/>
              <a:t>The angle can be calculated using trigonometry.  For the cubic system (only) the angle can be found using the following equations:</a:t>
            </a:r>
            <a:endParaRPr lang="en-US" altLang="en-US" sz="2400" b="1" u="sng"/>
          </a:p>
        </p:txBody>
      </p:sp>
      <p:graphicFrame>
        <p:nvGraphicFramePr>
          <p:cNvPr id="83973" name="Object 5">
            <a:extLst>
              <a:ext uri="{FF2B5EF4-FFF2-40B4-BE49-F238E27FC236}">
                <a16:creationId xmlns:a16="http://schemas.microsoft.com/office/drawing/2014/main" id="{87B0C5B3-C12C-478D-8DB0-6AC36ED1AB45}"/>
              </a:ext>
            </a:extLst>
          </p:cNvPr>
          <p:cNvGraphicFramePr>
            <a:graphicFrameLocks noChangeAspect="1"/>
          </p:cNvGraphicFramePr>
          <p:nvPr/>
        </p:nvGraphicFramePr>
        <p:xfrm>
          <a:off x="2057400" y="3352800"/>
          <a:ext cx="3429000" cy="700088"/>
        </p:xfrm>
        <a:graphic>
          <a:graphicData uri="http://schemas.openxmlformats.org/presentationml/2006/ole">
            <mc:AlternateContent xmlns:mc="http://schemas.openxmlformats.org/markup-compatibility/2006">
              <mc:Choice xmlns:v="urn:schemas-microsoft-com:vml" Requires="v">
                <p:oleObj spid="_x0000_s2050" name="Equation" r:id="rId4" imgW="1244520" imgH="253800" progId="Equation.3">
                  <p:embed/>
                </p:oleObj>
              </mc:Choice>
              <mc:Fallback>
                <p:oleObj name="Equation" r:id="rId4" imgW="1244520" imgH="253800" progId="Equation.3">
                  <p:embed/>
                  <p:pic>
                    <p:nvPicPr>
                      <p:cNvPr id="83973" name="Object 5">
                        <a:extLst>
                          <a:ext uri="{FF2B5EF4-FFF2-40B4-BE49-F238E27FC236}">
                            <a16:creationId xmlns:a16="http://schemas.microsoft.com/office/drawing/2014/main" id="{87B0C5B3-C12C-478D-8DB0-6AC36ED1AB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3352800"/>
                        <a:ext cx="3429000" cy="70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4" name="Text Box 6">
            <a:extLst>
              <a:ext uri="{FF2B5EF4-FFF2-40B4-BE49-F238E27FC236}">
                <a16:creationId xmlns:a16="http://schemas.microsoft.com/office/drawing/2014/main" id="{556FBF32-031D-4B91-8896-A5C8051D8F80}"/>
              </a:ext>
            </a:extLst>
          </p:cNvPr>
          <p:cNvSpPr txBox="1">
            <a:spLocks noChangeArrowheads="1"/>
          </p:cNvSpPr>
          <p:nvPr/>
        </p:nvSpPr>
        <p:spPr bwMode="auto">
          <a:xfrm>
            <a:off x="381000" y="4114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Calibri" panose="020F0502020204030204" pitchFamily="34" charset="0"/>
              </a:rPr>
              <a:t>or</a:t>
            </a:r>
          </a:p>
        </p:txBody>
      </p:sp>
      <p:graphicFrame>
        <p:nvGraphicFramePr>
          <p:cNvPr id="83975" name="Object 7">
            <a:extLst>
              <a:ext uri="{FF2B5EF4-FFF2-40B4-BE49-F238E27FC236}">
                <a16:creationId xmlns:a16="http://schemas.microsoft.com/office/drawing/2014/main" id="{FAE80B29-11D1-4599-B9E7-BF830A8F190D}"/>
              </a:ext>
            </a:extLst>
          </p:cNvPr>
          <p:cNvGraphicFramePr>
            <a:graphicFrameLocks noChangeAspect="1"/>
          </p:cNvGraphicFramePr>
          <p:nvPr/>
        </p:nvGraphicFramePr>
        <p:xfrm>
          <a:off x="838200" y="4648200"/>
          <a:ext cx="7593013" cy="1225550"/>
        </p:xfrm>
        <a:graphic>
          <a:graphicData uri="http://schemas.openxmlformats.org/presentationml/2006/ole">
            <mc:AlternateContent xmlns:mc="http://schemas.openxmlformats.org/markup-compatibility/2006">
              <mc:Choice xmlns:v="urn:schemas-microsoft-com:vml" Requires="v">
                <p:oleObj spid="_x0000_s2051" name="Equation" r:id="rId6" imgW="2755800" imgH="444240" progId="Equation.3">
                  <p:embed/>
                </p:oleObj>
              </mc:Choice>
              <mc:Fallback>
                <p:oleObj name="Equation" r:id="rId6" imgW="2755800" imgH="444240" progId="Equation.3">
                  <p:embed/>
                  <p:pic>
                    <p:nvPicPr>
                      <p:cNvPr id="83975" name="Object 7">
                        <a:extLst>
                          <a:ext uri="{FF2B5EF4-FFF2-40B4-BE49-F238E27FC236}">
                            <a16:creationId xmlns:a16="http://schemas.microsoft.com/office/drawing/2014/main" id="{FAE80B29-11D1-4599-B9E7-BF830A8F19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648200"/>
                        <a:ext cx="7593013" cy="1225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42766998-35CA-4723-8197-3DAC6EEF9F6A}"/>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88067" name="Rectangle 3">
            <a:extLst>
              <a:ext uri="{FF2B5EF4-FFF2-40B4-BE49-F238E27FC236}">
                <a16:creationId xmlns:a16="http://schemas.microsoft.com/office/drawing/2014/main" id="{7F2D76EC-62A6-4190-8CC4-E578EBA83E12}"/>
              </a:ext>
            </a:extLst>
          </p:cNvPr>
          <p:cNvSpPr>
            <a:spLocks noChangeArrowheads="1"/>
          </p:cNvSpPr>
          <p:nvPr/>
        </p:nvSpPr>
        <p:spPr bwMode="auto">
          <a:xfrm>
            <a:off x="228600" y="914400"/>
            <a:ext cx="73914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u="sng"/>
              <a:t>Angle between directions (cont’d):</a:t>
            </a:r>
          </a:p>
          <a:p>
            <a:pPr>
              <a:buFont typeface="Arial" panose="020B0604020202020204" pitchFamily="34" charset="0"/>
              <a:buNone/>
            </a:pPr>
            <a:r>
              <a:rPr lang="en-US" altLang="en-US" sz="2400"/>
              <a:t>where:</a:t>
            </a:r>
          </a:p>
          <a:p>
            <a:pPr>
              <a:buFont typeface="Arial" panose="020B0604020202020204" pitchFamily="34" charset="0"/>
              <a:buNone/>
            </a:pPr>
            <a:r>
              <a:rPr lang="en-US" altLang="en-US" sz="2400"/>
              <a:t>	D = ua+vb+wc</a:t>
            </a:r>
          </a:p>
          <a:p>
            <a:pPr>
              <a:buFont typeface="Arial" panose="020B0604020202020204" pitchFamily="34" charset="0"/>
              <a:buNone/>
            </a:pPr>
            <a:r>
              <a:rPr lang="en-US" altLang="en-US" sz="2400"/>
              <a:t>	D’ = u’a+v’b+w’c</a:t>
            </a:r>
          </a:p>
          <a:p>
            <a:pPr>
              <a:buFont typeface="Arial" panose="020B0604020202020204" pitchFamily="34" charset="0"/>
              <a:buNone/>
            </a:pPr>
            <a:r>
              <a:rPr lang="en-US" altLang="en-US" sz="2400"/>
              <a:t>	</a:t>
            </a:r>
            <a:r>
              <a:rPr lang="el-GR" altLang="en-US" sz="2400"/>
              <a:t>δ</a:t>
            </a:r>
            <a:r>
              <a:rPr lang="en-US" altLang="en-US" sz="2400"/>
              <a:t> = the angle between these two directions</a:t>
            </a:r>
          </a:p>
          <a:p>
            <a:pPr>
              <a:buFont typeface="Arial" panose="020B0604020202020204" pitchFamily="34" charset="0"/>
              <a:buNone/>
            </a:pPr>
            <a:endParaRPr lang="en-US" altLang="en-US" sz="2400"/>
          </a:p>
          <a:p>
            <a:pPr>
              <a:buFont typeface="Arial" panose="020B0604020202020204" pitchFamily="34" charset="0"/>
              <a:buNone/>
            </a:pPr>
            <a:r>
              <a:rPr lang="en-US" altLang="en-US" sz="2400"/>
              <a:t>Remember:  they only apply to the cubic system.</a:t>
            </a:r>
            <a:endParaRPr lang="el-GR" altLang="en-US" sz="2400"/>
          </a:p>
        </p:txBody>
      </p:sp>
    </p:spTree>
  </p:cSld>
  <p:clrMapOvr>
    <a:masterClrMapping/>
  </p:clrMapOvr>
  <p:transition>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A3E11F77-3AF2-4705-99D5-AFDD0C55A99A}"/>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90115" name="Rectangle 3">
            <a:extLst>
              <a:ext uri="{FF2B5EF4-FFF2-40B4-BE49-F238E27FC236}">
                <a16:creationId xmlns:a16="http://schemas.microsoft.com/office/drawing/2014/main" id="{E555750E-A873-4D2B-B933-9493BB9D4303}"/>
              </a:ext>
            </a:extLst>
          </p:cNvPr>
          <p:cNvSpPr>
            <a:spLocks noChangeArrowheads="1"/>
          </p:cNvSpPr>
          <p:nvPr/>
        </p:nvSpPr>
        <p:spPr bwMode="auto">
          <a:xfrm>
            <a:off x="533400" y="914400"/>
            <a:ext cx="76200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u="sng"/>
              <a:t>Miller indices:</a:t>
            </a:r>
          </a:p>
          <a:p>
            <a:pPr>
              <a:buFont typeface="Arial" panose="020B0604020202020204" pitchFamily="34" charset="0"/>
              <a:buNone/>
            </a:pPr>
            <a:r>
              <a:rPr lang="en-US" altLang="en-US" sz="2400"/>
              <a:t>Lattice planes are described using Miller indices.  To indicate a plane, integers in curved brackets are used.</a:t>
            </a:r>
          </a:p>
          <a:p>
            <a:pPr>
              <a:buFont typeface="Arial" panose="020B0604020202020204" pitchFamily="34" charset="0"/>
              <a:buNone/>
            </a:pPr>
            <a:r>
              <a:rPr lang="en-US" altLang="en-US" sz="2400"/>
              <a:t>	i.e. (210)</a:t>
            </a:r>
          </a:p>
          <a:p>
            <a:pPr>
              <a:buFont typeface="Arial" panose="020B0604020202020204" pitchFamily="34" charset="0"/>
              <a:buNone/>
            </a:pPr>
            <a:endParaRPr lang="en-US" altLang="en-US" sz="2400"/>
          </a:p>
          <a:p>
            <a:pPr>
              <a:buFont typeface="Arial" panose="020B0604020202020204" pitchFamily="34" charset="0"/>
              <a:buNone/>
            </a:pPr>
            <a:r>
              <a:rPr lang="en-US" altLang="en-US" sz="2400" b="1"/>
              <a:t>“Miller Indices”</a:t>
            </a:r>
            <a:r>
              <a:rPr lang="en-US" altLang="en-US" sz="2400"/>
              <a:t> are also used for atomic planes in cubic crystals.</a:t>
            </a:r>
          </a:p>
          <a:p>
            <a:pPr>
              <a:buFont typeface="Arial" panose="020B0604020202020204" pitchFamily="34" charset="0"/>
              <a:buNone/>
            </a:pPr>
            <a:endParaRPr lang="en-US" altLang="en-US" sz="2400"/>
          </a:p>
          <a:p>
            <a:pPr>
              <a:buFont typeface="Arial" panose="020B0604020202020204" pitchFamily="34" charset="0"/>
              <a:buNone/>
            </a:pPr>
            <a:r>
              <a:rPr lang="en-US" altLang="en-US" sz="2400"/>
              <a:t>The Miller indices of an atomic plane are defined as the reciprocals of the fractional intercepts that the plane makes with the crystallographic x, y, z axes of the three non-parallel edges of the cubic unit cell.</a:t>
            </a:r>
            <a:endParaRPr lang="el-GR" altLang="en-US" sz="2400"/>
          </a:p>
        </p:txBody>
      </p:sp>
    </p:spTree>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C47F4A4A-28A4-4BDE-910B-5D0D757FC0BB}"/>
              </a:ext>
            </a:extLst>
          </p:cNvPr>
          <p:cNvSpPr>
            <a:spLocks noChangeArrowheads="1"/>
          </p:cNvSpPr>
          <p:nvPr/>
        </p:nvSpPr>
        <p:spPr bwMode="auto">
          <a:xfrm>
            <a:off x="307975" y="495300"/>
            <a:ext cx="88392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a:t>Procedure for determining the nomenclature of planes:</a:t>
            </a:r>
          </a:p>
          <a:p>
            <a:pPr lvl="1"/>
            <a:r>
              <a:rPr lang="en-US" altLang="en-US" sz="2400" b="1"/>
              <a:t>Choose a plane which does not pass through the origin. (!)</a:t>
            </a:r>
          </a:p>
          <a:p>
            <a:pPr lvl="1"/>
            <a:r>
              <a:rPr lang="en-US" altLang="en-US" sz="2400"/>
              <a:t>Determine the intercepts of the plane in terms of the crystallographic x, y, z axes for a unit cube.  These intercepts may be fractions.</a:t>
            </a:r>
          </a:p>
          <a:p>
            <a:pPr lvl="1"/>
            <a:r>
              <a:rPr lang="en-US" altLang="en-US" sz="2400"/>
              <a:t>Form the reciprocals of these intercepts.</a:t>
            </a:r>
          </a:p>
          <a:p>
            <a:pPr lvl="1"/>
            <a:r>
              <a:rPr lang="en-US" altLang="en-US" sz="2400"/>
              <a:t>Clear the fractions and determine the smallest set of whole numbers that are in the same ratio as the intercepts.  These whole numbers are the Miller indices of the crystallographic plane and are enclosed in round parentheses without the use of commas.</a:t>
            </a:r>
          </a:p>
          <a:p>
            <a:pPr lvl="1"/>
            <a:r>
              <a:rPr lang="en-US" altLang="en-US" sz="2400"/>
              <a:t>The notation (hkl) is used to indicate Miller indices of planes in a general sense, where h, k, and l are the Miller indices of a cubic crystal plane for the x, y, and z axes, respectively.</a:t>
            </a:r>
          </a:p>
          <a:p>
            <a:pPr lvl="1"/>
            <a:r>
              <a:rPr lang="en-US" altLang="en-US" sz="2400"/>
              <a:t>Note the round brackets and again, negative numbers should be written with a bar over the number.</a:t>
            </a:r>
          </a:p>
        </p:txBody>
      </p:sp>
      <p:sp>
        <p:nvSpPr>
          <p:cNvPr id="94211" name="Rectangle 3">
            <a:extLst>
              <a:ext uri="{FF2B5EF4-FFF2-40B4-BE49-F238E27FC236}">
                <a16:creationId xmlns:a16="http://schemas.microsoft.com/office/drawing/2014/main" id="{BF28376A-3E2D-45B4-B67E-CE5E5A3D6D43}"/>
              </a:ext>
            </a:extLst>
          </p:cNvPr>
          <p:cNvSpPr>
            <a:spLocks noGrp="1" noChangeArrowheads="1"/>
          </p:cNvSpPr>
          <p:nvPr>
            <p:ph type="title"/>
          </p:nvPr>
        </p:nvSpPr>
        <p:spPr>
          <a:xfrm>
            <a:off x="457200" y="-114300"/>
            <a:ext cx="8153400" cy="6477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Tree>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descr="Fig 3-22 - atomic planes">
            <a:extLst>
              <a:ext uri="{FF2B5EF4-FFF2-40B4-BE49-F238E27FC236}">
                <a16:creationId xmlns:a16="http://schemas.microsoft.com/office/drawing/2014/main" id="{9474CF2E-7C5B-405C-A1E9-975F6A9D13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990600"/>
            <a:ext cx="3962400" cy="2560638"/>
          </a:xfrm>
          <a:prstGeom prst="rect">
            <a:avLst/>
          </a:prstGeom>
          <a:noFill/>
          <a:extLst>
            <a:ext uri="{909E8E84-426E-40DD-AFC4-6F175D3DCCD1}">
              <a14:hiddenFill xmlns:a14="http://schemas.microsoft.com/office/drawing/2010/main">
                <a:solidFill>
                  <a:srgbClr val="FFFFFF"/>
                </a:solidFill>
              </a14:hiddenFill>
            </a:ext>
          </a:extLst>
        </p:spPr>
      </p:pic>
      <p:sp>
        <p:nvSpPr>
          <p:cNvPr id="96259" name="Rectangle 3">
            <a:extLst>
              <a:ext uri="{FF2B5EF4-FFF2-40B4-BE49-F238E27FC236}">
                <a16:creationId xmlns:a16="http://schemas.microsoft.com/office/drawing/2014/main" id="{D944EAD7-58FE-4F81-8716-52EDE5AF4AFB}"/>
              </a:ext>
            </a:extLst>
          </p:cNvPr>
          <p:cNvSpPr>
            <a:spLocks noChangeArrowheads="1"/>
          </p:cNvSpPr>
          <p:nvPr/>
        </p:nvSpPr>
        <p:spPr bwMode="auto">
          <a:xfrm>
            <a:off x="307975" y="6096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000" b="1"/>
              <a:t>Determine the Miller indices of planes A, B, and C in the figure below.</a:t>
            </a:r>
            <a:endParaRPr lang="en-US" altLang="en-US" sz="2400" b="1"/>
          </a:p>
        </p:txBody>
      </p:sp>
      <p:sp>
        <p:nvSpPr>
          <p:cNvPr id="96260" name="Rectangle 4">
            <a:extLst>
              <a:ext uri="{FF2B5EF4-FFF2-40B4-BE49-F238E27FC236}">
                <a16:creationId xmlns:a16="http://schemas.microsoft.com/office/drawing/2014/main" id="{DF45B7A0-8BBF-4878-931A-A2776A3DE419}"/>
              </a:ext>
            </a:extLst>
          </p:cNvPr>
          <p:cNvSpPr>
            <a:spLocks noGrp="1" noChangeArrowheads="1"/>
          </p:cNvSpPr>
          <p:nvPr>
            <p:ph type="title"/>
          </p:nvPr>
        </p:nvSpPr>
        <p:spPr>
          <a:xfrm>
            <a:off x="457200" y="114300"/>
            <a:ext cx="8153400" cy="3429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96261" name="Rectangle 5">
            <a:extLst>
              <a:ext uri="{FF2B5EF4-FFF2-40B4-BE49-F238E27FC236}">
                <a16:creationId xmlns:a16="http://schemas.microsoft.com/office/drawing/2014/main" id="{E5CE1489-D89A-4364-9480-4FE85CF94771}"/>
              </a:ext>
            </a:extLst>
          </p:cNvPr>
          <p:cNvSpPr>
            <a:spLocks noChangeArrowheads="1"/>
          </p:cNvSpPr>
          <p:nvPr/>
        </p:nvSpPr>
        <p:spPr bwMode="auto">
          <a:xfrm>
            <a:off x="76200" y="2895600"/>
            <a:ext cx="50292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000" b="1"/>
              <a:t>Plane A</a:t>
            </a:r>
          </a:p>
          <a:p>
            <a:pPr lvl="1"/>
            <a:r>
              <a:rPr lang="en-US" altLang="en-US" sz="1800" b="1"/>
              <a:t>1. x = 1, y = 1, z = 1</a:t>
            </a:r>
          </a:p>
          <a:p>
            <a:pPr lvl="1"/>
            <a:r>
              <a:rPr lang="en-US" altLang="en-US" sz="1800" b="1"/>
              <a:t>2. 1/x = 1, 1/y = 1, 1/z = 1</a:t>
            </a:r>
          </a:p>
          <a:p>
            <a:pPr lvl="1"/>
            <a:r>
              <a:rPr lang="en-US" altLang="en-US" sz="1800" b="1"/>
              <a:t>3. No fractions to clear or integers to reduce</a:t>
            </a:r>
          </a:p>
          <a:p>
            <a:pPr lvl="1"/>
            <a:r>
              <a:rPr lang="en-US" altLang="en-US" sz="1800" b="1"/>
              <a:t>4. (111) is the answer.</a:t>
            </a:r>
          </a:p>
          <a:p>
            <a:r>
              <a:rPr lang="en-US" altLang="en-US" sz="2000" b="1"/>
              <a:t>Plane B</a:t>
            </a:r>
          </a:p>
          <a:p>
            <a:pPr lvl="1"/>
            <a:r>
              <a:rPr lang="en-US" altLang="en-US" sz="1800" b="1"/>
              <a:t>1. x = 1, y = 2, z = infinity</a:t>
            </a:r>
          </a:p>
          <a:p>
            <a:pPr lvl="1"/>
            <a:r>
              <a:rPr lang="en-US" altLang="en-US" sz="1800" b="1"/>
              <a:t>2. 1/x = 1, 1/y = 1/2, 1/z = 0</a:t>
            </a:r>
          </a:p>
          <a:p>
            <a:pPr lvl="1"/>
            <a:r>
              <a:rPr lang="en-US" altLang="en-US" sz="1800" b="1"/>
              <a:t>3. clear fractions: 1/x = 2, 1/y = 1, 1/z = 0 </a:t>
            </a:r>
          </a:p>
          <a:p>
            <a:pPr lvl="1"/>
            <a:r>
              <a:rPr lang="en-US" altLang="en-US" sz="1800" b="1"/>
              <a:t>4. (210) is the answer</a:t>
            </a:r>
          </a:p>
          <a:p>
            <a:pPr lvl="1">
              <a:buFont typeface="Arial" panose="020B0604020202020204" pitchFamily="34" charset="0"/>
              <a:buNone/>
            </a:pPr>
            <a:endParaRPr lang="en-US" altLang="en-US" sz="2000" b="1"/>
          </a:p>
        </p:txBody>
      </p:sp>
      <p:sp>
        <p:nvSpPr>
          <p:cNvPr id="96262" name="Rectangle 6">
            <a:extLst>
              <a:ext uri="{FF2B5EF4-FFF2-40B4-BE49-F238E27FC236}">
                <a16:creationId xmlns:a16="http://schemas.microsoft.com/office/drawing/2014/main" id="{48B8CFF7-BA40-4134-81AD-13683538DF70}"/>
              </a:ext>
            </a:extLst>
          </p:cNvPr>
          <p:cNvSpPr>
            <a:spLocks noChangeArrowheads="1"/>
          </p:cNvSpPr>
          <p:nvPr/>
        </p:nvSpPr>
        <p:spPr bwMode="auto">
          <a:xfrm>
            <a:off x="4953000" y="3124200"/>
            <a:ext cx="41910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000" b="1"/>
              <a:t>Plane C – we must move the origin since it passes through 0,0,0.  We’ll move it one lattice parameter in the negative y-direction. Then,</a:t>
            </a:r>
          </a:p>
          <a:p>
            <a:pPr lvl="1"/>
            <a:r>
              <a:rPr lang="en-US" altLang="en-US" sz="1800" b="1"/>
              <a:t>1. x = infinity, y = -1, z = infinity</a:t>
            </a:r>
          </a:p>
          <a:p>
            <a:pPr lvl="1"/>
            <a:r>
              <a:rPr lang="en-US" altLang="en-US" sz="1800" b="1"/>
              <a:t>2. 1/x = 0, 1/y = -1, 1/z = 0 </a:t>
            </a:r>
          </a:p>
          <a:p>
            <a:pPr lvl="1"/>
            <a:r>
              <a:rPr lang="en-US" altLang="en-US" sz="1800" b="1"/>
              <a:t>3. No fractions to clear or integers to reduce </a:t>
            </a:r>
          </a:p>
          <a:p>
            <a:pPr lvl="1"/>
            <a:r>
              <a:rPr lang="en-US" altLang="en-US" sz="1800" b="1"/>
              <a:t>4.              is the answer</a:t>
            </a:r>
          </a:p>
          <a:p>
            <a:pPr lvl="1">
              <a:buFont typeface="Arial" panose="020B0604020202020204" pitchFamily="34" charset="0"/>
              <a:buNone/>
            </a:pPr>
            <a:endParaRPr lang="en-US" altLang="en-US" sz="2000" b="1"/>
          </a:p>
        </p:txBody>
      </p:sp>
      <p:graphicFrame>
        <p:nvGraphicFramePr>
          <p:cNvPr id="96263" name="Object 7">
            <a:extLst>
              <a:ext uri="{FF2B5EF4-FFF2-40B4-BE49-F238E27FC236}">
                <a16:creationId xmlns:a16="http://schemas.microsoft.com/office/drawing/2014/main" id="{DB00AA82-CA65-486B-8C98-F88D563D6830}"/>
              </a:ext>
            </a:extLst>
          </p:cNvPr>
          <p:cNvGraphicFramePr>
            <a:graphicFrameLocks noChangeAspect="1"/>
          </p:cNvGraphicFramePr>
          <p:nvPr/>
        </p:nvGraphicFramePr>
        <p:xfrm>
          <a:off x="6019800" y="5943600"/>
          <a:ext cx="723900" cy="393700"/>
        </p:xfrm>
        <a:graphic>
          <a:graphicData uri="http://schemas.openxmlformats.org/presentationml/2006/ole">
            <mc:AlternateContent xmlns:mc="http://schemas.openxmlformats.org/markup-compatibility/2006">
              <mc:Choice xmlns:v="urn:schemas-microsoft-com:vml" Requires="v">
                <p:oleObj spid="_x0000_s3074" name="Equation" r:id="rId5" imgW="419040" imgH="228600" progId="Equation.3">
                  <p:embed/>
                </p:oleObj>
              </mc:Choice>
              <mc:Fallback>
                <p:oleObj name="Equation" r:id="rId5" imgW="419040" imgH="228600" progId="Equation.3">
                  <p:embed/>
                  <p:pic>
                    <p:nvPicPr>
                      <p:cNvPr id="96263" name="Object 7">
                        <a:extLst>
                          <a:ext uri="{FF2B5EF4-FFF2-40B4-BE49-F238E27FC236}">
                            <a16:creationId xmlns:a16="http://schemas.microsoft.com/office/drawing/2014/main" id="{DB00AA82-CA65-486B-8C98-F88D563D68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5943600"/>
                        <a:ext cx="7239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54C6B8DF-9FA5-42CD-96CC-1FCDB0942FD8}"/>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98307" name="Rectangle 3">
            <a:extLst>
              <a:ext uri="{FF2B5EF4-FFF2-40B4-BE49-F238E27FC236}">
                <a16:creationId xmlns:a16="http://schemas.microsoft.com/office/drawing/2014/main" id="{F828170D-17DB-4493-A58D-F1354A1AD110}"/>
              </a:ext>
            </a:extLst>
          </p:cNvPr>
          <p:cNvSpPr>
            <a:spLocks noChangeArrowheads="1"/>
          </p:cNvSpPr>
          <p:nvPr/>
        </p:nvSpPr>
        <p:spPr bwMode="auto">
          <a:xfrm>
            <a:off x="228600" y="914400"/>
            <a:ext cx="7391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u="sng"/>
              <a:t>Miller indices (cont’d):</a:t>
            </a:r>
          </a:p>
          <a:p>
            <a:pPr>
              <a:buFont typeface="Arial" panose="020B0604020202020204" pitchFamily="34" charset="0"/>
              <a:buNone/>
            </a:pPr>
            <a:endParaRPr lang="en-US" altLang="en-US" sz="2400"/>
          </a:p>
        </p:txBody>
      </p:sp>
      <p:grpSp>
        <p:nvGrpSpPr>
          <p:cNvPr id="98319" name="Group 15">
            <a:extLst>
              <a:ext uri="{FF2B5EF4-FFF2-40B4-BE49-F238E27FC236}">
                <a16:creationId xmlns:a16="http://schemas.microsoft.com/office/drawing/2014/main" id="{C616CDC0-9D3D-47B9-8F16-726102A0C317}"/>
              </a:ext>
            </a:extLst>
          </p:cNvPr>
          <p:cNvGrpSpPr>
            <a:grpSpLocks/>
          </p:cNvGrpSpPr>
          <p:nvPr/>
        </p:nvGrpSpPr>
        <p:grpSpPr bwMode="auto">
          <a:xfrm>
            <a:off x="5791200" y="990600"/>
            <a:ext cx="2743200" cy="3262313"/>
            <a:chOff x="912" y="960"/>
            <a:chExt cx="1728" cy="2055"/>
          </a:xfrm>
        </p:grpSpPr>
        <p:sp>
          <p:nvSpPr>
            <p:cNvPr id="98308" name="Rectangle 4">
              <a:extLst>
                <a:ext uri="{FF2B5EF4-FFF2-40B4-BE49-F238E27FC236}">
                  <a16:creationId xmlns:a16="http://schemas.microsoft.com/office/drawing/2014/main" id="{BAD80F34-2870-4BE6-B7E2-227DF43DCBA7}"/>
                </a:ext>
              </a:extLst>
            </p:cNvPr>
            <p:cNvSpPr>
              <a:spLocks noChangeArrowheads="1"/>
            </p:cNvSpPr>
            <p:nvPr/>
          </p:nvSpPr>
          <p:spPr bwMode="auto">
            <a:xfrm>
              <a:off x="1296" y="1152"/>
              <a:ext cx="864" cy="81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8309" name="Rectangle 5">
              <a:extLst>
                <a:ext uri="{FF2B5EF4-FFF2-40B4-BE49-F238E27FC236}">
                  <a16:creationId xmlns:a16="http://schemas.microsoft.com/office/drawing/2014/main" id="{86DEBF37-7C12-470A-A3AF-783FD12200B3}"/>
                </a:ext>
              </a:extLst>
            </p:cNvPr>
            <p:cNvSpPr>
              <a:spLocks noChangeArrowheads="1"/>
            </p:cNvSpPr>
            <p:nvPr/>
          </p:nvSpPr>
          <p:spPr bwMode="auto">
            <a:xfrm>
              <a:off x="1296" y="1968"/>
              <a:ext cx="864" cy="81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8310" name="Line 6">
              <a:extLst>
                <a:ext uri="{FF2B5EF4-FFF2-40B4-BE49-F238E27FC236}">
                  <a16:creationId xmlns:a16="http://schemas.microsoft.com/office/drawing/2014/main" id="{5B74529E-E76B-4892-9DD8-FE805417FB9A}"/>
                </a:ext>
              </a:extLst>
            </p:cNvPr>
            <p:cNvSpPr>
              <a:spLocks noChangeShapeType="1"/>
            </p:cNvSpPr>
            <p:nvPr/>
          </p:nvSpPr>
          <p:spPr bwMode="auto">
            <a:xfrm>
              <a:off x="1296" y="1152"/>
              <a:ext cx="864" cy="163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8311" name="Line 7">
              <a:extLst>
                <a:ext uri="{FF2B5EF4-FFF2-40B4-BE49-F238E27FC236}">
                  <a16:creationId xmlns:a16="http://schemas.microsoft.com/office/drawing/2014/main" id="{81D0A94B-EEF7-4111-A56C-F4D5A70F7981}"/>
                </a:ext>
              </a:extLst>
            </p:cNvPr>
            <p:cNvSpPr>
              <a:spLocks noChangeShapeType="1"/>
            </p:cNvSpPr>
            <p:nvPr/>
          </p:nvSpPr>
          <p:spPr bwMode="auto">
            <a:xfrm>
              <a:off x="1479" y="1488"/>
              <a:ext cx="144" cy="28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8312" name="Line 8">
              <a:extLst>
                <a:ext uri="{FF2B5EF4-FFF2-40B4-BE49-F238E27FC236}">
                  <a16:creationId xmlns:a16="http://schemas.microsoft.com/office/drawing/2014/main" id="{BACA0B89-CD86-4CD8-B8A7-DB47C53BB6E7}"/>
                </a:ext>
              </a:extLst>
            </p:cNvPr>
            <p:cNvSpPr>
              <a:spLocks noChangeShapeType="1"/>
            </p:cNvSpPr>
            <p:nvPr/>
          </p:nvSpPr>
          <p:spPr bwMode="auto">
            <a:xfrm flipV="1">
              <a:off x="1296" y="1152"/>
              <a:ext cx="864"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8313" name="Rectangle 9">
              <a:extLst>
                <a:ext uri="{FF2B5EF4-FFF2-40B4-BE49-F238E27FC236}">
                  <a16:creationId xmlns:a16="http://schemas.microsoft.com/office/drawing/2014/main" id="{20C851FC-AD5E-4C02-B556-BBD01E7978A3}"/>
                </a:ext>
              </a:extLst>
            </p:cNvPr>
            <p:cNvSpPr>
              <a:spLocks noChangeArrowheads="1"/>
            </p:cNvSpPr>
            <p:nvPr/>
          </p:nvSpPr>
          <p:spPr bwMode="auto">
            <a:xfrm rot="3660000">
              <a:off x="1506" y="1470"/>
              <a:ext cx="96" cy="9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8314" name="Text Box 10">
              <a:extLst>
                <a:ext uri="{FF2B5EF4-FFF2-40B4-BE49-F238E27FC236}">
                  <a16:creationId xmlns:a16="http://schemas.microsoft.com/office/drawing/2014/main" id="{7D5B01E7-B809-4F12-9D62-55D52B12DA17}"/>
                </a:ext>
              </a:extLst>
            </p:cNvPr>
            <p:cNvSpPr txBox="1">
              <a:spLocks noChangeArrowheads="1"/>
            </p:cNvSpPr>
            <p:nvPr/>
          </p:nvSpPr>
          <p:spPr bwMode="auto">
            <a:xfrm>
              <a:off x="960" y="148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½ a</a:t>
              </a:r>
            </a:p>
          </p:txBody>
        </p:sp>
        <p:sp>
          <p:nvSpPr>
            <p:cNvPr id="98315" name="Text Box 11">
              <a:extLst>
                <a:ext uri="{FF2B5EF4-FFF2-40B4-BE49-F238E27FC236}">
                  <a16:creationId xmlns:a16="http://schemas.microsoft.com/office/drawing/2014/main" id="{78DF1F02-5CE1-42C8-964F-E5D55602998A}"/>
                </a:ext>
              </a:extLst>
            </p:cNvPr>
            <p:cNvSpPr txBox="1">
              <a:spLocks noChangeArrowheads="1"/>
            </p:cNvSpPr>
            <p:nvPr/>
          </p:nvSpPr>
          <p:spPr bwMode="auto">
            <a:xfrm>
              <a:off x="912" y="960"/>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0,0,0</a:t>
              </a:r>
            </a:p>
          </p:txBody>
        </p:sp>
        <p:sp>
          <p:nvSpPr>
            <p:cNvPr id="98316" name="Text Box 12">
              <a:extLst>
                <a:ext uri="{FF2B5EF4-FFF2-40B4-BE49-F238E27FC236}">
                  <a16:creationId xmlns:a16="http://schemas.microsoft.com/office/drawing/2014/main" id="{CC611BF1-82A3-43BF-BEF9-97A4715565AF}"/>
                </a:ext>
              </a:extLst>
            </p:cNvPr>
            <p:cNvSpPr txBox="1">
              <a:spLocks noChangeArrowheads="1"/>
            </p:cNvSpPr>
            <p:nvPr/>
          </p:nvSpPr>
          <p:spPr bwMode="auto">
            <a:xfrm>
              <a:off x="2112" y="96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b</a:t>
              </a:r>
            </a:p>
          </p:txBody>
        </p:sp>
        <p:sp>
          <p:nvSpPr>
            <p:cNvPr id="98317" name="Text Box 13">
              <a:extLst>
                <a:ext uri="{FF2B5EF4-FFF2-40B4-BE49-F238E27FC236}">
                  <a16:creationId xmlns:a16="http://schemas.microsoft.com/office/drawing/2014/main" id="{B2C618C7-D202-4CAE-A93C-CD2FF62C67D3}"/>
                </a:ext>
              </a:extLst>
            </p:cNvPr>
            <p:cNvSpPr txBox="1">
              <a:spLocks noChangeArrowheads="1"/>
            </p:cNvSpPr>
            <p:nvPr/>
          </p:nvSpPr>
          <p:spPr bwMode="auto">
            <a:xfrm>
              <a:off x="2160" y="278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2,1,0</a:t>
              </a:r>
            </a:p>
          </p:txBody>
        </p:sp>
      </p:grpSp>
      <p:sp>
        <p:nvSpPr>
          <p:cNvPr id="98318" name="Text Box 14">
            <a:extLst>
              <a:ext uri="{FF2B5EF4-FFF2-40B4-BE49-F238E27FC236}">
                <a16:creationId xmlns:a16="http://schemas.microsoft.com/office/drawing/2014/main" id="{A0DE5D8E-1079-4414-B3B8-C36963B5172C}"/>
              </a:ext>
            </a:extLst>
          </p:cNvPr>
          <p:cNvSpPr txBox="1">
            <a:spLocks noChangeArrowheads="1"/>
          </p:cNvSpPr>
          <p:nvPr/>
        </p:nvSpPr>
        <p:spPr bwMode="auto">
          <a:xfrm>
            <a:off x="2438400" y="1600200"/>
            <a:ext cx="3276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en-US" sz="2400" b="1"/>
              <a:t>2-dimensional view (Top view)</a:t>
            </a:r>
          </a:p>
        </p:txBody>
      </p:sp>
      <p:sp>
        <p:nvSpPr>
          <p:cNvPr id="98320" name="Text Box 16">
            <a:extLst>
              <a:ext uri="{FF2B5EF4-FFF2-40B4-BE49-F238E27FC236}">
                <a16:creationId xmlns:a16="http://schemas.microsoft.com/office/drawing/2014/main" id="{D65A6AAF-1E3A-4EB7-B003-0F7F643A0004}"/>
              </a:ext>
            </a:extLst>
          </p:cNvPr>
          <p:cNvSpPr txBox="1">
            <a:spLocks noChangeArrowheads="1"/>
          </p:cNvSpPr>
          <p:nvPr/>
        </p:nvSpPr>
        <p:spPr bwMode="auto">
          <a:xfrm>
            <a:off x="381000" y="4572000"/>
            <a:ext cx="8229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The (210) describes a vector that is orthogonal to the plane itself.  Standard notation is given as (h k l); however, hexagonal and rhombohedral cells can be defined using a 4-digit system.   i.e. (h k i l)</a:t>
            </a:r>
          </a:p>
        </p:txBody>
      </p:sp>
    </p:spTree>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DF34324D-34FD-4FF0-8AAE-F250533BC33E}"/>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100355" name="Rectangle 3">
            <a:extLst>
              <a:ext uri="{FF2B5EF4-FFF2-40B4-BE49-F238E27FC236}">
                <a16:creationId xmlns:a16="http://schemas.microsoft.com/office/drawing/2014/main" id="{F6326270-0CBF-4801-A56F-216D332BDE09}"/>
              </a:ext>
            </a:extLst>
          </p:cNvPr>
          <p:cNvSpPr>
            <a:spLocks noChangeArrowheads="1"/>
          </p:cNvSpPr>
          <p:nvPr/>
        </p:nvSpPr>
        <p:spPr bwMode="auto">
          <a:xfrm>
            <a:off x="228600" y="914400"/>
            <a:ext cx="7391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u="sng"/>
              <a:t>Miller indices (cont’d):</a:t>
            </a:r>
          </a:p>
          <a:p>
            <a:pPr>
              <a:buFont typeface="Arial" panose="020B0604020202020204" pitchFamily="34" charset="0"/>
              <a:buNone/>
            </a:pPr>
            <a:endParaRPr lang="en-US" altLang="en-US" sz="2400"/>
          </a:p>
        </p:txBody>
      </p:sp>
      <p:sp>
        <p:nvSpPr>
          <p:cNvPr id="100368" name="Text Box 16">
            <a:extLst>
              <a:ext uri="{FF2B5EF4-FFF2-40B4-BE49-F238E27FC236}">
                <a16:creationId xmlns:a16="http://schemas.microsoft.com/office/drawing/2014/main" id="{237A3007-A456-4A37-8473-861499198F14}"/>
              </a:ext>
            </a:extLst>
          </p:cNvPr>
          <p:cNvSpPr txBox="1">
            <a:spLocks noChangeArrowheads="1"/>
          </p:cNvSpPr>
          <p:nvPr/>
        </p:nvSpPr>
        <p:spPr bwMode="auto">
          <a:xfrm>
            <a:off x="381000" y="15240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This extra digit makes similar planes easier to note.</a:t>
            </a:r>
          </a:p>
        </p:txBody>
      </p:sp>
      <p:graphicFrame>
        <p:nvGraphicFramePr>
          <p:cNvPr id="100369" name="Object 17">
            <a:extLst>
              <a:ext uri="{FF2B5EF4-FFF2-40B4-BE49-F238E27FC236}">
                <a16:creationId xmlns:a16="http://schemas.microsoft.com/office/drawing/2014/main" id="{456E398B-2F02-44FE-A637-535D462DEBE1}"/>
              </a:ext>
            </a:extLst>
          </p:cNvPr>
          <p:cNvGraphicFramePr>
            <a:graphicFrameLocks noChangeAspect="1"/>
          </p:cNvGraphicFramePr>
          <p:nvPr/>
        </p:nvGraphicFramePr>
        <p:xfrm>
          <a:off x="685800" y="2133600"/>
          <a:ext cx="6419850" cy="666750"/>
        </p:xfrm>
        <a:graphic>
          <a:graphicData uri="http://schemas.openxmlformats.org/presentationml/2006/ole">
            <mc:AlternateContent xmlns:mc="http://schemas.openxmlformats.org/markup-compatibility/2006">
              <mc:Choice xmlns:v="urn:schemas-microsoft-com:vml" Requires="v">
                <p:oleObj spid="_x0000_s4098" name="Equation" r:id="rId4" imgW="2323800" imgH="241200" progId="Equation.3">
                  <p:embed/>
                </p:oleObj>
              </mc:Choice>
              <mc:Fallback>
                <p:oleObj name="Equation" r:id="rId4" imgW="2323800" imgH="241200" progId="Equation.3">
                  <p:embed/>
                  <p:pic>
                    <p:nvPicPr>
                      <p:cNvPr id="100369" name="Object 17">
                        <a:extLst>
                          <a:ext uri="{FF2B5EF4-FFF2-40B4-BE49-F238E27FC236}">
                            <a16:creationId xmlns:a16="http://schemas.microsoft.com/office/drawing/2014/main" id="{456E398B-2F02-44FE-A637-535D462DEB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2133600"/>
                        <a:ext cx="6419850"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70" name="Text Box 18">
            <a:extLst>
              <a:ext uri="{FF2B5EF4-FFF2-40B4-BE49-F238E27FC236}">
                <a16:creationId xmlns:a16="http://schemas.microsoft.com/office/drawing/2014/main" id="{6AF560D3-8DAE-4CC6-80DE-C952CC5B9FE1}"/>
              </a:ext>
            </a:extLst>
          </p:cNvPr>
          <p:cNvSpPr txBox="1">
            <a:spLocks noChangeArrowheads="1"/>
          </p:cNvSpPr>
          <p:nvPr/>
        </p:nvSpPr>
        <p:spPr bwMode="auto">
          <a:xfrm>
            <a:off x="381000" y="30480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 family of planes of denoted by:</a:t>
            </a:r>
          </a:p>
        </p:txBody>
      </p:sp>
      <p:graphicFrame>
        <p:nvGraphicFramePr>
          <p:cNvPr id="100371" name="Object 19">
            <a:extLst>
              <a:ext uri="{FF2B5EF4-FFF2-40B4-BE49-F238E27FC236}">
                <a16:creationId xmlns:a16="http://schemas.microsoft.com/office/drawing/2014/main" id="{813058B7-ECD5-48D3-BA57-F6063939530E}"/>
              </a:ext>
            </a:extLst>
          </p:cNvPr>
          <p:cNvGraphicFramePr>
            <a:graphicFrameLocks noChangeAspect="1"/>
          </p:cNvGraphicFramePr>
          <p:nvPr/>
        </p:nvGraphicFramePr>
        <p:xfrm>
          <a:off x="533400" y="3733800"/>
          <a:ext cx="7507288" cy="666750"/>
        </p:xfrm>
        <a:graphic>
          <a:graphicData uri="http://schemas.openxmlformats.org/presentationml/2006/ole">
            <mc:AlternateContent xmlns:mc="http://schemas.openxmlformats.org/markup-compatibility/2006">
              <mc:Choice xmlns:v="urn:schemas-microsoft-com:vml" Requires="v">
                <p:oleObj spid="_x0000_s4099" name="Equation" r:id="rId6" imgW="2717640" imgH="241200" progId="Equation.3">
                  <p:embed/>
                </p:oleObj>
              </mc:Choice>
              <mc:Fallback>
                <p:oleObj name="Equation" r:id="rId6" imgW="2717640" imgH="241200" progId="Equation.3">
                  <p:embed/>
                  <p:pic>
                    <p:nvPicPr>
                      <p:cNvPr id="100371" name="Object 19">
                        <a:extLst>
                          <a:ext uri="{FF2B5EF4-FFF2-40B4-BE49-F238E27FC236}">
                            <a16:creationId xmlns:a16="http://schemas.microsoft.com/office/drawing/2014/main" id="{813058B7-ECD5-48D3-BA57-F606393953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3733800"/>
                        <a:ext cx="7507288"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BA4C93A4-051E-40A0-8F50-E0AA8B85704C}"/>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a:t>Crystal Structure</a:t>
            </a:r>
          </a:p>
        </p:txBody>
      </p:sp>
      <p:sp>
        <p:nvSpPr>
          <p:cNvPr id="102403" name="Rectangle 3">
            <a:extLst>
              <a:ext uri="{FF2B5EF4-FFF2-40B4-BE49-F238E27FC236}">
                <a16:creationId xmlns:a16="http://schemas.microsoft.com/office/drawing/2014/main" id="{2E267058-2A75-4F0A-B568-B779FD4D8B59}"/>
              </a:ext>
            </a:extLst>
          </p:cNvPr>
          <p:cNvSpPr>
            <a:spLocks noChangeArrowheads="1"/>
          </p:cNvSpPr>
          <p:nvPr/>
        </p:nvSpPr>
        <p:spPr bwMode="auto">
          <a:xfrm>
            <a:off x="228600" y="609600"/>
            <a:ext cx="7391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400" b="1" u="sng"/>
              <a:t>Interplanar spacing:</a:t>
            </a:r>
          </a:p>
          <a:p>
            <a:pPr>
              <a:buFont typeface="Arial" panose="020B0604020202020204" pitchFamily="34" charset="0"/>
              <a:buNone/>
            </a:pPr>
            <a:endParaRPr lang="en-US" altLang="en-US" sz="2400"/>
          </a:p>
        </p:txBody>
      </p:sp>
      <p:sp>
        <p:nvSpPr>
          <p:cNvPr id="102404" name="Text Box 4">
            <a:extLst>
              <a:ext uri="{FF2B5EF4-FFF2-40B4-BE49-F238E27FC236}">
                <a16:creationId xmlns:a16="http://schemas.microsoft.com/office/drawing/2014/main" id="{A240FEA4-D420-4DF5-BAD3-A073F7A67B88}"/>
              </a:ext>
            </a:extLst>
          </p:cNvPr>
          <p:cNvSpPr txBox="1">
            <a:spLocks noChangeArrowheads="1"/>
          </p:cNvSpPr>
          <p:nvPr/>
        </p:nvSpPr>
        <p:spPr bwMode="auto">
          <a:xfrm>
            <a:off x="381000" y="1143000"/>
            <a:ext cx="8229600" cy="196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Calibri" panose="020F0502020204030204" pitchFamily="34" charset="0"/>
              </a:rPr>
              <a:t>Given two adjacent parallel planes of atoms (i.e. the planes have the same miller indices) the distance between the planes is denoted by d</a:t>
            </a:r>
            <a:r>
              <a:rPr lang="en-US" altLang="en-US" sz="2400" baseline="-25000">
                <a:latin typeface="Calibri" panose="020F0502020204030204" pitchFamily="34" charset="0"/>
              </a:rPr>
              <a:t>hkl</a:t>
            </a:r>
            <a:r>
              <a:rPr lang="en-US" altLang="en-US" sz="2400">
                <a:latin typeface="Calibri" panose="020F0502020204030204" pitchFamily="34" charset="0"/>
              </a:rPr>
              <a:t>.</a:t>
            </a:r>
          </a:p>
          <a:p>
            <a:pPr>
              <a:spcBef>
                <a:spcPct val="50000"/>
              </a:spcBef>
            </a:pPr>
            <a:endParaRPr lang="en-US" altLang="en-US" sz="1000">
              <a:latin typeface="Calibri" panose="020F0502020204030204" pitchFamily="34" charset="0"/>
            </a:endParaRPr>
          </a:p>
          <a:p>
            <a:pPr>
              <a:spcBef>
                <a:spcPct val="50000"/>
              </a:spcBef>
            </a:pPr>
            <a:r>
              <a:rPr lang="en-US" altLang="en-US" sz="2400">
                <a:latin typeface="Calibri" panose="020F0502020204030204" pitchFamily="34" charset="0"/>
              </a:rPr>
              <a:t>For cubic crystals d</a:t>
            </a:r>
            <a:r>
              <a:rPr lang="en-US" altLang="en-US" sz="2400" baseline="-25000">
                <a:latin typeface="Calibri" panose="020F0502020204030204" pitchFamily="34" charset="0"/>
              </a:rPr>
              <a:t>hkl</a:t>
            </a:r>
            <a:r>
              <a:rPr lang="en-US" altLang="en-US" sz="2400">
                <a:latin typeface="Calibri" panose="020F0502020204030204" pitchFamily="34" charset="0"/>
              </a:rPr>
              <a:t> is found using the following equation:</a:t>
            </a:r>
          </a:p>
        </p:txBody>
      </p:sp>
      <p:sp>
        <p:nvSpPr>
          <p:cNvPr id="102406" name="Text Box 6">
            <a:extLst>
              <a:ext uri="{FF2B5EF4-FFF2-40B4-BE49-F238E27FC236}">
                <a16:creationId xmlns:a16="http://schemas.microsoft.com/office/drawing/2014/main" id="{C4DFB387-A051-43A4-8DA0-9F9A39722A8C}"/>
              </a:ext>
            </a:extLst>
          </p:cNvPr>
          <p:cNvSpPr txBox="1">
            <a:spLocks noChangeArrowheads="1"/>
          </p:cNvSpPr>
          <p:nvPr/>
        </p:nvSpPr>
        <p:spPr bwMode="auto">
          <a:xfrm>
            <a:off x="381000" y="4572000"/>
            <a:ext cx="8229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Calibri" panose="020F0502020204030204" pitchFamily="34" charset="0"/>
              </a:rPr>
              <a:t>where:</a:t>
            </a:r>
          </a:p>
          <a:p>
            <a:pPr>
              <a:spcBef>
                <a:spcPct val="50000"/>
              </a:spcBef>
            </a:pPr>
            <a:r>
              <a:rPr lang="en-US" altLang="en-US" sz="2400">
                <a:latin typeface="Calibri" panose="020F0502020204030204" pitchFamily="34" charset="0"/>
              </a:rPr>
              <a:t>	</a:t>
            </a:r>
            <a:r>
              <a:rPr lang="en-US" altLang="en-US" sz="2400" b="1">
                <a:latin typeface="Calibri" panose="020F0502020204030204" pitchFamily="34" charset="0"/>
              </a:rPr>
              <a:t>a</a:t>
            </a:r>
            <a:r>
              <a:rPr lang="en-US" altLang="en-US" sz="2400" b="1" baseline="-25000">
                <a:latin typeface="Calibri" panose="020F0502020204030204" pitchFamily="34" charset="0"/>
              </a:rPr>
              <a:t>0</a:t>
            </a:r>
            <a:r>
              <a:rPr lang="en-US" altLang="en-US" sz="2400">
                <a:latin typeface="Calibri" panose="020F0502020204030204" pitchFamily="34" charset="0"/>
              </a:rPr>
              <a:t> = the lattice parameter</a:t>
            </a:r>
          </a:p>
          <a:p>
            <a:pPr>
              <a:spcBef>
                <a:spcPct val="50000"/>
              </a:spcBef>
            </a:pPr>
            <a:r>
              <a:rPr lang="en-US" altLang="en-US" sz="2000">
                <a:latin typeface="Calibri" panose="020F0502020204030204" pitchFamily="34" charset="0"/>
              </a:rPr>
              <a:t>	</a:t>
            </a:r>
            <a:r>
              <a:rPr lang="en-US" altLang="en-US" sz="2400" b="1">
                <a:latin typeface="Calibri" panose="020F0502020204030204" pitchFamily="34" charset="0"/>
              </a:rPr>
              <a:t>h, k, l </a:t>
            </a:r>
            <a:r>
              <a:rPr lang="en-US" altLang="en-US" sz="2400">
                <a:latin typeface="Calibri" panose="020F0502020204030204" pitchFamily="34" charset="0"/>
              </a:rPr>
              <a:t>= the miller indices of the planes being considered</a:t>
            </a:r>
          </a:p>
        </p:txBody>
      </p:sp>
      <p:graphicFrame>
        <p:nvGraphicFramePr>
          <p:cNvPr id="102407" name="Object 7">
            <a:extLst>
              <a:ext uri="{FF2B5EF4-FFF2-40B4-BE49-F238E27FC236}">
                <a16:creationId xmlns:a16="http://schemas.microsoft.com/office/drawing/2014/main" id="{8AC72FA8-B58A-4899-AAF9-183709E111D1}"/>
              </a:ext>
            </a:extLst>
          </p:cNvPr>
          <p:cNvGraphicFramePr>
            <a:graphicFrameLocks noChangeAspect="1"/>
          </p:cNvGraphicFramePr>
          <p:nvPr/>
        </p:nvGraphicFramePr>
        <p:xfrm>
          <a:off x="2362200" y="3276600"/>
          <a:ext cx="2971800" cy="1031875"/>
        </p:xfrm>
        <a:graphic>
          <a:graphicData uri="http://schemas.openxmlformats.org/presentationml/2006/ole">
            <mc:AlternateContent xmlns:mc="http://schemas.openxmlformats.org/markup-compatibility/2006">
              <mc:Choice xmlns:v="urn:schemas-microsoft-com:vml" Requires="v">
                <p:oleObj spid="_x0000_s5122" name="Equation" r:id="rId4" imgW="1244520" imgH="431640" progId="Equation.3">
                  <p:embed/>
                </p:oleObj>
              </mc:Choice>
              <mc:Fallback>
                <p:oleObj name="Equation" r:id="rId4" imgW="1244520" imgH="431640" progId="Equation.3">
                  <p:embed/>
                  <p:pic>
                    <p:nvPicPr>
                      <p:cNvPr id="102407" name="Object 7">
                        <a:extLst>
                          <a:ext uri="{FF2B5EF4-FFF2-40B4-BE49-F238E27FC236}">
                            <a16:creationId xmlns:a16="http://schemas.microsoft.com/office/drawing/2014/main" id="{8AC72FA8-B58A-4899-AAF9-183709E111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3276600"/>
                        <a:ext cx="2971800"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4C6F68AD99C264E92B7A45A5C160D07" ma:contentTypeVersion="18" ma:contentTypeDescription="Create a new document." ma:contentTypeScope="" ma:versionID="9008ed0921099fe21e04bfddb6f1d277">
  <xsd:schema xmlns:xsd="http://www.w3.org/2001/XMLSchema" xmlns:xs="http://www.w3.org/2001/XMLSchema" xmlns:p="http://schemas.microsoft.com/office/2006/metadata/properties" xmlns:ns3="28b51251-b8e9-485d-b231-8785e1678778" xmlns:ns4="6b03e0f9-fb11-4730-b1f8-958acc0b9643" targetNamespace="http://schemas.microsoft.com/office/2006/metadata/properties" ma:root="true" ma:fieldsID="be832426ee3933c746d2eadb577693fd" ns3:_="" ns4:_="">
    <xsd:import namespace="28b51251-b8e9-485d-b231-8785e1678778"/>
    <xsd:import namespace="6b03e0f9-fb11-4730-b1f8-958acc0b9643"/>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ServiceLocatio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b51251-b8e9-485d-b231-8785e16787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b03e0f9-fb11-4730-b1f8-958acc0b964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8b51251-b8e9-485d-b231-8785e1678778" xsi:nil="true"/>
  </documentManagement>
</p:properties>
</file>

<file path=customXml/itemProps1.xml><?xml version="1.0" encoding="utf-8"?>
<ds:datastoreItem xmlns:ds="http://schemas.openxmlformats.org/officeDocument/2006/customXml" ds:itemID="{16F87FE7-8D8D-4849-BA01-22F05A1F48C9}">
  <ds:schemaRefs>
    <ds:schemaRef ds:uri="http://schemas.microsoft.com/sharepoint/v3/contenttype/forms"/>
  </ds:schemaRefs>
</ds:datastoreItem>
</file>

<file path=customXml/itemProps2.xml><?xml version="1.0" encoding="utf-8"?>
<ds:datastoreItem xmlns:ds="http://schemas.openxmlformats.org/officeDocument/2006/customXml" ds:itemID="{04A620CF-5490-4882-A3CF-1B44B39696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b51251-b8e9-485d-b231-8785e1678778"/>
    <ds:schemaRef ds:uri="6b03e0f9-fb11-4730-b1f8-958acc0b96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6DE0FDC-388F-400F-9722-5CDB0072F23E}">
  <ds:schemaRefs>
    <ds:schemaRef ds:uri="http://purl.org/dc/elements/1.1/"/>
    <ds:schemaRef ds:uri="28b51251-b8e9-485d-b231-8785e1678778"/>
    <ds:schemaRef ds:uri="http://schemas.microsoft.com/office/2006/metadata/properties"/>
    <ds:schemaRef ds:uri="http://www.w3.org/XML/1998/namespace"/>
    <ds:schemaRef ds:uri="http://purl.org/dc/terms/"/>
    <ds:schemaRef ds:uri="http://schemas.microsoft.com/office/2006/documentManagement/types"/>
    <ds:schemaRef ds:uri="6b03e0f9-fb11-4730-b1f8-958acc0b9643"/>
    <ds:schemaRef ds:uri="http://schemas.openxmlformats.org/package/2006/metadata/core-propertie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7697</TotalTime>
  <Words>1976</Words>
  <Application>Microsoft Office PowerPoint</Application>
  <PresentationFormat>On-screen Show (4:3)</PresentationFormat>
  <Paragraphs>214</Paragraphs>
  <Slides>33</Slides>
  <Notes>22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38" baseType="lpstr">
      <vt:lpstr>Arial</vt:lpstr>
      <vt:lpstr>Calibri</vt:lpstr>
      <vt:lpstr>Times New Roman</vt:lpstr>
      <vt:lpstr>Office Theme</vt:lpstr>
      <vt:lpstr>Equation</vt:lpstr>
      <vt:lpstr>ENGR 290  Atomic Arrangements</vt:lpstr>
      <vt:lpstr>Periodic Table</vt:lpstr>
      <vt:lpstr>PowerPoint Presentation</vt:lpstr>
      <vt:lpstr>PowerPoint Presentation</vt:lpstr>
      <vt:lpstr>Definitions</vt:lpstr>
      <vt:lpstr>Definitions</vt:lpstr>
      <vt:lpstr>PowerPoint Presentation</vt:lpstr>
      <vt:lpstr>Definitions</vt:lpstr>
      <vt:lpstr>PowerPoint Presentation</vt:lpstr>
      <vt:lpstr>PowerPoint Presentation</vt:lpstr>
      <vt:lpstr>Terminology</vt:lpstr>
      <vt:lpstr>Terminology</vt:lpstr>
      <vt:lpstr>Terminology</vt:lpstr>
      <vt:lpstr>Terminology</vt:lpstr>
      <vt:lpstr>Terminology</vt:lpstr>
      <vt:lpstr>Terminology</vt:lpstr>
      <vt:lpstr>Terminology</vt:lpstr>
      <vt:lpstr>Levels of atomic arrangement where a) has no ordering of atoms, b) and c) have short range order and d) has short and long range order.</vt:lpstr>
      <vt:lpstr>Crystal Structure</vt:lpstr>
      <vt:lpstr>Crystal Structure</vt:lpstr>
      <vt:lpstr>Crystal Structure</vt:lpstr>
      <vt:lpstr>Crystal Structure</vt:lpstr>
      <vt:lpstr>The fourteen types of Bravais lattices grouped into the seven crystal systems.</vt:lpstr>
      <vt:lpstr>Crystal Structure</vt:lpstr>
      <vt:lpstr>Crystal Structure</vt:lpstr>
      <vt:lpstr>Crystal Structure</vt:lpstr>
      <vt:lpstr>Crystal Structure</vt:lpstr>
      <vt:lpstr>Crystal Structure</vt:lpstr>
      <vt:lpstr>Crystal Structure</vt:lpstr>
      <vt:lpstr>Crystal Structure</vt:lpstr>
      <vt:lpstr>Crystal Structure</vt:lpstr>
      <vt:lpstr>Crystal Structure</vt:lpstr>
      <vt:lpstr>Crystal Structure</vt:lpstr>
    </vt:vector>
  </TitlesOfParts>
  <Company>Camosun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 Ferguson</dc:creator>
  <cp:lastModifiedBy>Stephen Ferguson</cp:lastModifiedBy>
  <cp:revision>37</cp:revision>
  <dcterms:created xsi:type="dcterms:W3CDTF">2011-10-18T22:33:23Z</dcterms:created>
  <dcterms:modified xsi:type="dcterms:W3CDTF">2024-08-31T23:35:37Z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0x01010094C6F68AD99C264E92B7A45A5C160D07</vt:lpwstr>
  </property>
</Properties>
</file>