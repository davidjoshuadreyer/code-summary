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52"/>
  </p:notesMasterIdLst>
  <p:sldIdLst>
    <p:sldId id="256" r:id="rId5"/>
    <p:sldId id="334" r:id="rId6"/>
    <p:sldId id="401" r:id="rId7"/>
    <p:sldId id="487" r:id="rId8"/>
    <p:sldId id="416" r:id="rId9"/>
    <p:sldId id="417" r:id="rId10"/>
    <p:sldId id="418" r:id="rId11"/>
    <p:sldId id="492" r:id="rId12"/>
    <p:sldId id="489" r:id="rId13"/>
    <p:sldId id="402" r:id="rId14"/>
    <p:sldId id="441" r:id="rId15"/>
    <p:sldId id="442" r:id="rId16"/>
    <p:sldId id="443" r:id="rId17"/>
    <p:sldId id="419" r:id="rId18"/>
    <p:sldId id="398" r:id="rId19"/>
    <p:sldId id="420" r:id="rId20"/>
    <p:sldId id="421" r:id="rId21"/>
    <p:sldId id="452" r:id="rId22"/>
    <p:sldId id="422" r:id="rId23"/>
    <p:sldId id="423" r:id="rId24"/>
    <p:sldId id="403" r:id="rId25"/>
    <p:sldId id="404" r:id="rId26"/>
    <p:sldId id="453" r:id="rId27"/>
    <p:sldId id="424" r:id="rId28"/>
    <p:sldId id="409" r:id="rId29"/>
    <p:sldId id="410" r:id="rId30"/>
    <p:sldId id="425" r:id="rId31"/>
    <p:sldId id="496" r:id="rId32"/>
    <p:sldId id="499" r:id="rId33"/>
    <p:sldId id="481" r:id="rId34"/>
    <p:sldId id="482" r:id="rId35"/>
    <p:sldId id="405" r:id="rId36"/>
    <p:sldId id="427" r:id="rId37"/>
    <p:sldId id="431" r:id="rId38"/>
    <p:sldId id="480" r:id="rId39"/>
    <p:sldId id="478" r:id="rId40"/>
    <p:sldId id="479" r:id="rId41"/>
    <p:sldId id="429" r:id="rId42"/>
    <p:sldId id="437" r:id="rId43"/>
    <p:sldId id="433" r:id="rId44"/>
    <p:sldId id="476" r:id="rId45"/>
    <p:sldId id="494" r:id="rId46"/>
    <p:sldId id="458" r:id="rId47"/>
    <p:sldId id="438" r:id="rId48"/>
    <p:sldId id="439" r:id="rId49"/>
    <p:sldId id="497" r:id="rId50"/>
    <p:sldId id="436" r:id="rId5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76" autoAdjust="0"/>
    <p:restoredTop sz="90929"/>
  </p:normalViewPr>
  <p:slideViewPr>
    <p:cSldViewPr snapToGrid="0">
      <p:cViewPr varScale="1">
        <p:scale>
          <a:sx n="58" d="100"/>
          <a:sy n="58" d="100"/>
        </p:scale>
        <p:origin x="140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7" d="100"/>
        <a:sy n="87" d="100"/>
      </p:scale>
      <p:origin x="0" y="0"/>
    </p:cViewPr>
  </p:sorterViewPr>
  <p:notesViewPr>
    <p:cSldViewPr snapToGrid="0">
      <p:cViewPr varScale="1">
        <p:scale>
          <a:sx n="55" d="100"/>
          <a:sy n="55" d="100"/>
        </p:scale>
        <p:origin x="-183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Ferguson" userId="0cd76bb0-8ee4-400a-a2e9-c5584fbb7d87" providerId="ADAL" clId="{12D6C6FC-1B32-430C-9240-973282A840BD}"/>
    <pc:docChg chg="delSld">
      <pc:chgData name="Stephen Ferguson" userId="0cd76bb0-8ee4-400a-a2e9-c5584fbb7d87" providerId="ADAL" clId="{12D6C6FC-1B32-430C-9240-973282A840BD}" dt="2024-08-31T23:14:29.046" v="14" actId="2696"/>
      <pc:docMkLst>
        <pc:docMk/>
      </pc:docMkLst>
      <pc:sldChg chg="del">
        <pc:chgData name="Stephen Ferguson" userId="0cd76bb0-8ee4-400a-a2e9-c5584fbb7d87" providerId="ADAL" clId="{12D6C6FC-1B32-430C-9240-973282A840BD}" dt="2024-08-31T23:14:28.830" v="0" actId="2696"/>
        <pc:sldMkLst>
          <pc:docMk/>
          <pc:sldMk cId="0" sldId="399"/>
        </pc:sldMkLst>
      </pc:sldChg>
      <pc:sldChg chg="del">
        <pc:chgData name="Stephen Ferguson" userId="0cd76bb0-8ee4-400a-a2e9-c5584fbb7d87" providerId="ADAL" clId="{12D6C6FC-1B32-430C-9240-973282A840BD}" dt="2024-08-31T23:14:28.892" v="5" actId="2696"/>
        <pc:sldMkLst>
          <pc:docMk/>
          <pc:sldMk cId="0" sldId="400"/>
        </pc:sldMkLst>
      </pc:sldChg>
      <pc:sldChg chg="del">
        <pc:chgData name="Stephen Ferguson" userId="0cd76bb0-8ee4-400a-a2e9-c5584fbb7d87" providerId="ADAL" clId="{12D6C6FC-1B32-430C-9240-973282A840BD}" dt="2024-08-31T23:14:28.899" v="6" actId="2696"/>
        <pc:sldMkLst>
          <pc:docMk/>
          <pc:sldMk cId="0" sldId="406"/>
        </pc:sldMkLst>
      </pc:sldChg>
      <pc:sldChg chg="del">
        <pc:chgData name="Stephen Ferguson" userId="0cd76bb0-8ee4-400a-a2e9-c5584fbb7d87" providerId="ADAL" clId="{12D6C6FC-1B32-430C-9240-973282A840BD}" dt="2024-08-31T23:14:28.961" v="10" actId="2696"/>
        <pc:sldMkLst>
          <pc:docMk/>
          <pc:sldMk cId="0" sldId="408"/>
        </pc:sldMkLst>
      </pc:sldChg>
      <pc:sldChg chg="del">
        <pc:chgData name="Stephen Ferguson" userId="0cd76bb0-8ee4-400a-a2e9-c5584fbb7d87" providerId="ADAL" clId="{12D6C6FC-1B32-430C-9240-973282A840BD}" dt="2024-08-31T23:14:28.930" v="8" actId="2696"/>
        <pc:sldMkLst>
          <pc:docMk/>
          <pc:sldMk cId="0" sldId="414"/>
        </pc:sldMkLst>
      </pc:sldChg>
      <pc:sldChg chg="del">
        <pc:chgData name="Stephen Ferguson" userId="0cd76bb0-8ee4-400a-a2e9-c5584fbb7d87" providerId="ADAL" clId="{12D6C6FC-1B32-430C-9240-973282A840BD}" dt="2024-08-31T23:14:29.030" v="13" actId="2696"/>
        <pc:sldMkLst>
          <pc:docMk/>
          <pc:sldMk cId="0" sldId="415"/>
        </pc:sldMkLst>
      </pc:sldChg>
      <pc:sldChg chg="del">
        <pc:chgData name="Stephen Ferguson" userId="0cd76bb0-8ee4-400a-a2e9-c5584fbb7d87" providerId="ADAL" clId="{12D6C6FC-1B32-430C-9240-973282A840BD}" dt="2024-08-31T23:14:28.845" v="2" actId="2696"/>
        <pc:sldMkLst>
          <pc:docMk/>
          <pc:sldMk cId="0" sldId="444"/>
        </pc:sldMkLst>
      </pc:sldChg>
      <pc:sldChg chg="del">
        <pc:chgData name="Stephen Ferguson" userId="0cd76bb0-8ee4-400a-a2e9-c5584fbb7d87" providerId="ADAL" clId="{12D6C6FC-1B32-430C-9240-973282A840BD}" dt="2024-08-31T23:14:28.961" v="9" actId="2696"/>
        <pc:sldMkLst>
          <pc:docMk/>
          <pc:sldMk cId="0" sldId="447"/>
        </pc:sldMkLst>
      </pc:sldChg>
      <pc:sldChg chg="del">
        <pc:chgData name="Stephen Ferguson" userId="0cd76bb0-8ee4-400a-a2e9-c5584fbb7d87" providerId="ADAL" clId="{12D6C6FC-1B32-430C-9240-973282A840BD}" dt="2024-08-31T23:14:28.830" v="1" actId="2696"/>
        <pc:sldMkLst>
          <pc:docMk/>
          <pc:sldMk cId="0" sldId="483"/>
        </pc:sldMkLst>
      </pc:sldChg>
      <pc:sldChg chg="del">
        <pc:chgData name="Stephen Ferguson" userId="0cd76bb0-8ee4-400a-a2e9-c5584fbb7d87" providerId="ADAL" clId="{12D6C6FC-1B32-430C-9240-973282A840BD}" dt="2024-08-31T23:14:28.861" v="3" actId="2696"/>
        <pc:sldMkLst>
          <pc:docMk/>
          <pc:sldMk cId="0" sldId="484"/>
        </pc:sldMkLst>
      </pc:sldChg>
      <pc:sldChg chg="del">
        <pc:chgData name="Stephen Ferguson" userId="0cd76bb0-8ee4-400a-a2e9-c5584fbb7d87" providerId="ADAL" clId="{12D6C6FC-1B32-430C-9240-973282A840BD}" dt="2024-08-31T23:14:28.999" v="11" actId="2696"/>
        <pc:sldMkLst>
          <pc:docMk/>
          <pc:sldMk cId="0" sldId="485"/>
        </pc:sldMkLst>
      </pc:sldChg>
      <pc:sldChg chg="del">
        <pc:chgData name="Stephen Ferguson" userId="0cd76bb0-8ee4-400a-a2e9-c5584fbb7d87" providerId="ADAL" clId="{12D6C6FC-1B32-430C-9240-973282A840BD}" dt="2024-08-31T23:14:29.014" v="12" actId="2696"/>
        <pc:sldMkLst>
          <pc:docMk/>
          <pc:sldMk cId="0" sldId="486"/>
        </pc:sldMkLst>
      </pc:sldChg>
      <pc:sldChg chg="del">
        <pc:chgData name="Stephen Ferguson" userId="0cd76bb0-8ee4-400a-a2e9-c5584fbb7d87" providerId="ADAL" clId="{12D6C6FC-1B32-430C-9240-973282A840BD}" dt="2024-08-31T23:14:29.046" v="14" actId="2696"/>
        <pc:sldMkLst>
          <pc:docMk/>
          <pc:sldMk cId="0" sldId="493"/>
        </pc:sldMkLst>
      </pc:sldChg>
      <pc:sldChg chg="del">
        <pc:chgData name="Stephen Ferguson" userId="0cd76bb0-8ee4-400a-a2e9-c5584fbb7d87" providerId="ADAL" clId="{12D6C6FC-1B32-430C-9240-973282A840BD}" dt="2024-08-31T23:14:28.876" v="4" actId="2696"/>
        <pc:sldMkLst>
          <pc:docMk/>
          <pc:sldMk cId="0" sldId="495"/>
        </pc:sldMkLst>
      </pc:sldChg>
      <pc:sldChg chg="del">
        <pc:chgData name="Stephen Ferguson" userId="0cd76bb0-8ee4-400a-a2e9-c5584fbb7d87" providerId="ADAL" clId="{12D6C6FC-1B32-430C-9240-973282A840BD}" dt="2024-08-31T23:14:28.914" v="7" actId="2696"/>
        <pc:sldMkLst>
          <pc:docMk/>
          <pc:sldMk cId="0" sldId="498"/>
        </pc:sldMkLst>
      </pc:sldChg>
    </pc:docChg>
  </pc:docChgLst>
  <pc:docChgLst>
    <pc:chgData name="Stephen Ferguson" userId="0cd76bb0-8ee4-400a-a2e9-c5584fbb7d87" providerId="ADAL" clId="{60525575-06DC-4CE4-A1BD-7B1FCFE9CFBE}"/>
    <pc:docChg chg="delSld modSld">
      <pc:chgData name="Stephen Ferguson" userId="0cd76bb0-8ee4-400a-a2e9-c5584fbb7d87" providerId="ADAL" clId="{60525575-06DC-4CE4-A1BD-7B1FCFE9CFBE}" dt="2024-08-31T23:37:53.865" v="44" actId="6549"/>
      <pc:docMkLst>
        <pc:docMk/>
      </pc:docMkLst>
      <pc:sldChg chg="modSp">
        <pc:chgData name="Stephen Ferguson" userId="0cd76bb0-8ee4-400a-a2e9-c5584fbb7d87" providerId="ADAL" clId="{60525575-06DC-4CE4-A1BD-7B1FCFE9CFBE}" dt="2024-08-31T23:37:53.865" v="44" actId="6549"/>
        <pc:sldMkLst>
          <pc:docMk/>
          <pc:sldMk cId="0" sldId="256"/>
        </pc:sldMkLst>
        <pc:spChg chg="mod">
          <ac:chgData name="Stephen Ferguson" userId="0cd76bb0-8ee4-400a-a2e9-c5584fbb7d87" providerId="ADAL" clId="{60525575-06DC-4CE4-A1BD-7B1FCFE9CFBE}" dt="2024-08-31T23:37:53.865" v="44" actId="6549"/>
          <ac:spMkLst>
            <pc:docMk/>
            <pc:sldMk cId="0" sldId="256"/>
            <ac:spMk id="6146" creationId="{A0863961-A077-42E9-8579-2A838F21D501}"/>
          </ac:spMkLst>
        </pc:spChg>
      </pc:sldChg>
      <pc:sldChg chg="del">
        <pc:chgData name="Stephen Ferguson" userId="0cd76bb0-8ee4-400a-a2e9-c5584fbb7d87" providerId="ADAL" clId="{60525575-06DC-4CE4-A1BD-7B1FCFE9CFBE}" dt="2024-08-31T23:37:31.243" v="13" actId="2696"/>
        <pc:sldMkLst>
          <pc:docMk/>
          <pc:sldMk cId="0" sldId="257"/>
        </pc:sldMkLst>
      </pc:sldChg>
      <pc:sldChg chg="del">
        <pc:chgData name="Stephen Ferguson" userId="0cd76bb0-8ee4-400a-a2e9-c5584fbb7d87" providerId="ADAL" clId="{60525575-06DC-4CE4-A1BD-7B1FCFE9CFBE}" dt="2024-08-31T23:18:24.787" v="3" actId="2696"/>
        <pc:sldMkLst>
          <pc:docMk/>
          <pc:sldMk cId="0" sldId="411"/>
        </pc:sldMkLst>
      </pc:sldChg>
      <pc:sldChg chg="del">
        <pc:chgData name="Stephen Ferguson" userId="0cd76bb0-8ee4-400a-a2e9-c5584fbb7d87" providerId="ADAL" clId="{60525575-06DC-4CE4-A1BD-7B1FCFE9CFBE}" dt="2024-08-31T23:18:31.571" v="11" actId="2696"/>
        <pc:sldMkLst>
          <pc:docMk/>
          <pc:sldMk cId="0" sldId="440"/>
        </pc:sldMkLst>
      </pc:sldChg>
      <pc:sldChg chg="del">
        <pc:chgData name="Stephen Ferguson" userId="0cd76bb0-8ee4-400a-a2e9-c5584fbb7d87" providerId="ADAL" clId="{60525575-06DC-4CE4-A1BD-7B1FCFE9CFBE}" dt="2024-08-31T23:18:23.619" v="1" actId="2696"/>
        <pc:sldMkLst>
          <pc:docMk/>
          <pc:sldMk cId="0" sldId="445"/>
        </pc:sldMkLst>
      </pc:sldChg>
      <pc:sldChg chg="del">
        <pc:chgData name="Stephen Ferguson" userId="0cd76bb0-8ee4-400a-a2e9-c5584fbb7d87" providerId="ADAL" clId="{60525575-06DC-4CE4-A1BD-7B1FCFE9CFBE}" dt="2024-08-31T23:18:24.214" v="2" actId="2696"/>
        <pc:sldMkLst>
          <pc:docMk/>
          <pc:sldMk cId="0" sldId="446"/>
        </pc:sldMkLst>
      </pc:sldChg>
      <pc:sldChg chg="del">
        <pc:chgData name="Stephen Ferguson" userId="0cd76bb0-8ee4-400a-a2e9-c5584fbb7d87" providerId="ADAL" clId="{60525575-06DC-4CE4-A1BD-7B1FCFE9CFBE}" dt="2024-08-31T23:18:25.370" v="4" actId="2696"/>
        <pc:sldMkLst>
          <pc:docMk/>
          <pc:sldMk cId="0" sldId="448"/>
        </pc:sldMkLst>
      </pc:sldChg>
      <pc:sldChg chg="del">
        <pc:chgData name="Stephen Ferguson" userId="0cd76bb0-8ee4-400a-a2e9-c5584fbb7d87" providerId="ADAL" clId="{60525575-06DC-4CE4-A1BD-7B1FCFE9CFBE}" dt="2024-08-31T23:18:25.971" v="5" actId="2696"/>
        <pc:sldMkLst>
          <pc:docMk/>
          <pc:sldMk cId="0" sldId="449"/>
        </pc:sldMkLst>
      </pc:sldChg>
      <pc:sldChg chg="del">
        <pc:chgData name="Stephen Ferguson" userId="0cd76bb0-8ee4-400a-a2e9-c5584fbb7d87" providerId="ADAL" clId="{60525575-06DC-4CE4-A1BD-7B1FCFE9CFBE}" dt="2024-08-31T23:18:26.604" v="6" actId="2696"/>
        <pc:sldMkLst>
          <pc:docMk/>
          <pc:sldMk cId="0" sldId="450"/>
        </pc:sldMkLst>
      </pc:sldChg>
      <pc:sldChg chg="del">
        <pc:chgData name="Stephen Ferguson" userId="0cd76bb0-8ee4-400a-a2e9-c5584fbb7d87" providerId="ADAL" clId="{60525575-06DC-4CE4-A1BD-7B1FCFE9CFBE}" dt="2024-08-31T23:18:27.144" v="7" actId="2696"/>
        <pc:sldMkLst>
          <pc:docMk/>
          <pc:sldMk cId="0" sldId="454"/>
        </pc:sldMkLst>
      </pc:sldChg>
      <pc:sldChg chg="del">
        <pc:chgData name="Stephen Ferguson" userId="0cd76bb0-8ee4-400a-a2e9-c5584fbb7d87" providerId="ADAL" clId="{60525575-06DC-4CE4-A1BD-7B1FCFE9CFBE}" dt="2024-08-31T23:18:27.629" v="8" actId="2696"/>
        <pc:sldMkLst>
          <pc:docMk/>
          <pc:sldMk cId="0" sldId="455"/>
        </pc:sldMkLst>
      </pc:sldChg>
      <pc:sldChg chg="del">
        <pc:chgData name="Stephen Ferguson" userId="0cd76bb0-8ee4-400a-a2e9-c5584fbb7d87" providerId="ADAL" clId="{60525575-06DC-4CE4-A1BD-7B1FCFE9CFBE}" dt="2024-08-31T23:18:28.176" v="9" actId="2696"/>
        <pc:sldMkLst>
          <pc:docMk/>
          <pc:sldMk cId="0" sldId="456"/>
        </pc:sldMkLst>
      </pc:sldChg>
      <pc:sldChg chg="del">
        <pc:chgData name="Stephen Ferguson" userId="0cd76bb0-8ee4-400a-a2e9-c5584fbb7d87" providerId="ADAL" clId="{60525575-06DC-4CE4-A1BD-7B1FCFE9CFBE}" dt="2024-08-31T23:18:28.723" v="10" actId="2696"/>
        <pc:sldMkLst>
          <pc:docMk/>
          <pc:sldMk cId="0" sldId="457"/>
        </pc:sldMkLst>
      </pc:sldChg>
      <pc:sldChg chg="del">
        <pc:chgData name="Stephen Ferguson" userId="0cd76bb0-8ee4-400a-a2e9-c5584fbb7d87" providerId="ADAL" clId="{60525575-06DC-4CE4-A1BD-7B1FCFE9CFBE}" dt="2024-08-31T23:18:17.375" v="0" actId="2696"/>
        <pc:sldMkLst>
          <pc:docMk/>
          <pc:sldMk cId="0" sldId="488"/>
        </pc:sldMkLst>
      </pc:sldChg>
      <pc:sldChg chg="del">
        <pc:chgData name="Stephen Ferguson" userId="0cd76bb0-8ee4-400a-a2e9-c5584fbb7d87" providerId="ADAL" clId="{60525575-06DC-4CE4-A1BD-7B1FCFE9CFBE}" dt="2024-08-31T23:19:03.812" v="12" actId="2696"/>
        <pc:sldMkLst>
          <pc:docMk/>
          <pc:sldMk cId="0" sldId="500"/>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512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659E41CC-8DE8-46AB-BDCD-338C84B68390}" type="slidenum">
              <a:rPr lang="en-US" altLang="en-US"/>
              <a:pPr/>
              <a:t>‹#›</a:t>
            </a:fld>
            <a:endParaRPr lang="en-US" altLang="en-US"/>
          </a:p>
        </p:txBody>
      </p:sp>
    </p:spTree>
    <p:extLst>
      <p:ext uri="{BB962C8B-B14F-4D97-AF65-F5344CB8AC3E}">
        <p14:creationId xmlns:p14="http://schemas.microsoft.com/office/powerpoint/2010/main" val="32455744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2789EDF-A64C-4F40-875B-FF04350ACCD1}" type="slidenum">
              <a:rPr lang="en-US" altLang="en-US" sz="1200"/>
              <a:pPr/>
              <a:t>2</a:t>
            </a:fld>
            <a:endParaRPr lang="en-US" altLang="en-US" sz="1200"/>
          </a:p>
        </p:txBody>
      </p:sp>
      <p:sp>
        <p:nvSpPr>
          <p:cNvPr id="6147" name="Rectangle 2"/>
          <p:cNvSpPr>
            <a:spLocks noGrp="1" noRot="1" noChangeAspect="1" noChangeArrowheads="1" noTextEdit="1"/>
          </p:cNvSpPr>
          <p:nvPr>
            <p:ph type="sldImg"/>
          </p:nvPr>
        </p:nvSpPr>
        <p:spPr>
          <a:xfrm>
            <a:off x="1152525" y="682625"/>
            <a:ext cx="4551363" cy="3413125"/>
          </a:xfrm>
          <a:ln/>
        </p:spPr>
      </p:sp>
      <p:sp>
        <p:nvSpPr>
          <p:cNvPr id="6148"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F2F73B6-45AD-4709-9ACC-4E9C0CB3B729}" type="slidenum">
              <a:rPr lang="en-US" altLang="en-US" sz="1200"/>
              <a:pPr/>
              <a:t>3</a:t>
            </a:fld>
            <a:endParaRPr lang="en-US" altLang="en-US" sz="1200"/>
          </a:p>
        </p:txBody>
      </p:sp>
      <p:sp>
        <p:nvSpPr>
          <p:cNvPr id="38915" name="Rectangle 2"/>
          <p:cNvSpPr>
            <a:spLocks noGrp="1" noRot="1" noChangeAspect="1" noChangeArrowheads="1" noTextEdit="1"/>
          </p:cNvSpPr>
          <p:nvPr>
            <p:ph type="sldImg"/>
          </p:nvPr>
        </p:nvSpPr>
        <p:spPr>
          <a:xfrm>
            <a:off x="1152525" y="682625"/>
            <a:ext cx="4551363" cy="3413125"/>
          </a:xfrm>
          <a:ln/>
        </p:spPr>
      </p:sp>
      <p:sp>
        <p:nvSpPr>
          <p:cNvPr id="38916"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493E047-C592-4462-B2B4-1A84E668862D}" type="slidenum">
              <a:rPr lang="en-US" altLang="en-US" sz="1200"/>
              <a:pPr/>
              <a:t>4</a:t>
            </a:fld>
            <a:endParaRPr lang="en-US" altLang="en-US" sz="1200"/>
          </a:p>
        </p:txBody>
      </p:sp>
      <p:sp>
        <p:nvSpPr>
          <p:cNvPr id="40963" name="Rectangle 2"/>
          <p:cNvSpPr>
            <a:spLocks noGrp="1" noRot="1" noChangeAspect="1" noChangeArrowheads="1" noTextEdit="1"/>
          </p:cNvSpPr>
          <p:nvPr>
            <p:ph type="sldImg"/>
          </p:nvPr>
        </p:nvSpPr>
        <p:spPr>
          <a:xfrm>
            <a:off x="1152525" y="682625"/>
            <a:ext cx="4551363" cy="3413125"/>
          </a:xfrm>
          <a:ln/>
        </p:spPr>
      </p:sp>
      <p:sp>
        <p:nvSpPr>
          <p:cNvPr id="40964"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9D731C2-FF61-49DF-A4F8-1EEBAAD388F2}" type="slidenum">
              <a:rPr lang="en-US" altLang="en-US" sz="1200"/>
              <a:pPr/>
              <a:t>5</a:t>
            </a:fld>
            <a:endParaRPr lang="en-US" altLang="en-US" sz="1200"/>
          </a:p>
        </p:txBody>
      </p:sp>
      <p:sp>
        <p:nvSpPr>
          <p:cNvPr id="43011" name="Rectangle 2"/>
          <p:cNvSpPr>
            <a:spLocks noGrp="1" noRot="1" noChangeAspect="1" noChangeArrowheads="1" noTextEdit="1"/>
          </p:cNvSpPr>
          <p:nvPr>
            <p:ph type="sldImg"/>
          </p:nvPr>
        </p:nvSpPr>
        <p:spPr>
          <a:xfrm>
            <a:off x="1152525" y="682625"/>
            <a:ext cx="4551363" cy="3413125"/>
          </a:xfrm>
          <a:ln/>
        </p:spPr>
      </p:sp>
      <p:sp>
        <p:nvSpPr>
          <p:cNvPr id="43012"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0EB72C8C-C741-4DE0-9981-EC7C9C738059}" type="slidenum">
              <a:rPr lang="en-US" altLang="en-US" sz="1200"/>
              <a:pPr/>
              <a:t>6</a:t>
            </a:fld>
            <a:endParaRPr lang="en-US" altLang="en-US" sz="1200"/>
          </a:p>
        </p:txBody>
      </p:sp>
      <p:sp>
        <p:nvSpPr>
          <p:cNvPr id="45059" name="Rectangle 2"/>
          <p:cNvSpPr>
            <a:spLocks noGrp="1" noRot="1" noChangeAspect="1" noChangeArrowheads="1" noTextEdit="1"/>
          </p:cNvSpPr>
          <p:nvPr>
            <p:ph type="sldImg"/>
          </p:nvPr>
        </p:nvSpPr>
        <p:spPr>
          <a:xfrm>
            <a:off x="1152525" y="682625"/>
            <a:ext cx="4551363" cy="3413125"/>
          </a:xfrm>
          <a:ln/>
        </p:spPr>
      </p:sp>
      <p:sp>
        <p:nvSpPr>
          <p:cNvPr id="45060"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3020A10-96CA-4D9F-BEA1-AF91F174FF67}" type="slidenum">
              <a:rPr lang="en-US" altLang="en-US" sz="1200"/>
              <a:pPr/>
              <a:t>7</a:t>
            </a:fld>
            <a:endParaRPr lang="en-US" altLang="en-US" sz="1200"/>
          </a:p>
        </p:txBody>
      </p:sp>
      <p:sp>
        <p:nvSpPr>
          <p:cNvPr id="47107" name="Rectangle 2"/>
          <p:cNvSpPr>
            <a:spLocks noGrp="1" noRot="1" noChangeAspect="1" noChangeArrowheads="1" noTextEdit="1"/>
          </p:cNvSpPr>
          <p:nvPr>
            <p:ph type="sldImg"/>
          </p:nvPr>
        </p:nvSpPr>
        <p:spPr>
          <a:xfrm>
            <a:off x="1152525" y="682625"/>
            <a:ext cx="4551363" cy="3413125"/>
          </a:xfrm>
          <a:ln/>
        </p:spPr>
      </p:sp>
      <p:sp>
        <p:nvSpPr>
          <p:cNvPr id="47108"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0297E74-12DD-491C-905C-5C8ED9BC6FA8}" type="slidenum">
              <a:rPr lang="en-US" altLang="en-US" sz="1200"/>
              <a:pPr/>
              <a:t>8</a:t>
            </a:fld>
            <a:endParaRPr lang="en-US" altLang="en-US" sz="1200"/>
          </a:p>
        </p:txBody>
      </p:sp>
      <p:sp>
        <p:nvSpPr>
          <p:cNvPr id="49155" name="Rectangle 2"/>
          <p:cNvSpPr>
            <a:spLocks noGrp="1" noRot="1" noChangeAspect="1" noChangeArrowheads="1" noTextEdit="1"/>
          </p:cNvSpPr>
          <p:nvPr>
            <p:ph type="sldImg"/>
          </p:nvPr>
        </p:nvSpPr>
        <p:spPr>
          <a:xfrm>
            <a:off x="1152525" y="682625"/>
            <a:ext cx="4551363" cy="3413125"/>
          </a:xfrm>
          <a:ln/>
        </p:spPr>
      </p:sp>
      <p:sp>
        <p:nvSpPr>
          <p:cNvPr id="49156"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2277559-E1DD-4812-BE69-88422CEDF801}" type="slidenum">
              <a:rPr lang="en-US" altLang="en-US" sz="1200"/>
              <a:pPr/>
              <a:t>9</a:t>
            </a:fld>
            <a:endParaRPr lang="en-US" altLang="en-US" sz="1200"/>
          </a:p>
        </p:txBody>
      </p:sp>
      <p:sp>
        <p:nvSpPr>
          <p:cNvPr id="51203" name="Rectangle 2"/>
          <p:cNvSpPr>
            <a:spLocks noGrp="1" noRot="1" noChangeAspect="1" noChangeArrowheads="1" noTextEdit="1"/>
          </p:cNvSpPr>
          <p:nvPr>
            <p:ph type="sldImg"/>
          </p:nvPr>
        </p:nvSpPr>
        <p:spPr>
          <a:xfrm>
            <a:off x="1152525" y="682625"/>
            <a:ext cx="4551363" cy="3413125"/>
          </a:xfrm>
          <a:ln/>
        </p:spPr>
      </p:sp>
      <p:sp>
        <p:nvSpPr>
          <p:cNvPr id="51204"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084F1075-0141-41B6-997D-41D648789CCB}" type="slidenum">
              <a:rPr lang="en-US" altLang="en-US" sz="1200"/>
              <a:pPr/>
              <a:t>10</a:t>
            </a:fld>
            <a:endParaRPr lang="en-US" altLang="en-US" sz="1200"/>
          </a:p>
        </p:txBody>
      </p:sp>
      <p:sp>
        <p:nvSpPr>
          <p:cNvPr id="53251" name="Rectangle 2"/>
          <p:cNvSpPr>
            <a:spLocks noGrp="1" noRot="1" noChangeAspect="1" noChangeArrowheads="1" noTextEdit="1"/>
          </p:cNvSpPr>
          <p:nvPr>
            <p:ph type="sldImg"/>
          </p:nvPr>
        </p:nvSpPr>
        <p:spPr>
          <a:xfrm>
            <a:off x="1152525" y="682625"/>
            <a:ext cx="4551363" cy="3413125"/>
          </a:xfrm>
          <a:ln/>
        </p:spPr>
      </p:sp>
      <p:sp>
        <p:nvSpPr>
          <p:cNvPr id="53252"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F2EB932-2742-431D-B3CE-253EA7AEFBB1}" type="slidenum">
              <a:rPr lang="en-US" altLang="en-US" sz="1200"/>
              <a:pPr/>
              <a:t>11</a:t>
            </a:fld>
            <a:endParaRPr lang="en-US" altLang="en-US" sz="1200"/>
          </a:p>
        </p:txBody>
      </p:sp>
      <p:sp>
        <p:nvSpPr>
          <p:cNvPr id="55299" name="Rectangle 2"/>
          <p:cNvSpPr>
            <a:spLocks noGrp="1" noRot="1" noChangeAspect="1" noChangeArrowheads="1" noTextEdit="1"/>
          </p:cNvSpPr>
          <p:nvPr>
            <p:ph type="sldImg"/>
          </p:nvPr>
        </p:nvSpPr>
        <p:spPr>
          <a:xfrm>
            <a:off x="1152525" y="682625"/>
            <a:ext cx="4551363" cy="3413125"/>
          </a:xfrm>
          <a:ln/>
        </p:spPr>
      </p:sp>
      <p:sp>
        <p:nvSpPr>
          <p:cNvPr id="55300"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409B161-8C1E-4E21-A7C6-F71A1A474715}" type="slidenum">
              <a:rPr lang="en-US" altLang="en-US" sz="1200"/>
              <a:pPr/>
              <a:t>12</a:t>
            </a:fld>
            <a:endParaRPr lang="en-US" altLang="en-US" sz="1200"/>
          </a:p>
        </p:txBody>
      </p:sp>
      <p:sp>
        <p:nvSpPr>
          <p:cNvPr id="57347" name="Rectangle 2"/>
          <p:cNvSpPr>
            <a:spLocks noGrp="1" noRot="1" noChangeAspect="1" noChangeArrowheads="1" noTextEdit="1"/>
          </p:cNvSpPr>
          <p:nvPr>
            <p:ph type="sldImg"/>
          </p:nvPr>
        </p:nvSpPr>
        <p:spPr>
          <a:xfrm>
            <a:off x="1152525" y="682625"/>
            <a:ext cx="4551363" cy="3413125"/>
          </a:xfrm>
          <a:ln/>
        </p:spPr>
      </p:sp>
      <p:sp>
        <p:nvSpPr>
          <p:cNvPr id="57348"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00589E89-8B43-47B3-9745-5C034C0DAC7A}" type="slidenum">
              <a:rPr lang="en-US" altLang="en-US" sz="1200"/>
              <a:pPr/>
              <a:t>13</a:t>
            </a:fld>
            <a:endParaRPr lang="en-US" altLang="en-US" sz="120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CCCACF1-DDD7-4AA9-BF34-F255608F5497}" type="slidenum">
              <a:rPr lang="en-US" altLang="en-US" sz="1200"/>
              <a:pPr/>
              <a:t>14</a:t>
            </a:fld>
            <a:endParaRPr lang="en-US" altLang="en-US" sz="1200"/>
          </a:p>
        </p:txBody>
      </p:sp>
      <p:sp>
        <p:nvSpPr>
          <p:cNvPr id="61443" name="Rectangle 2"/>
          <p:cNvSpPr>
            <a:spLocks noGrp="1" noRot="1" noChangeAspect="1" noChangeArrowheads="1" noTextEdit="1"/>
          </p:cNvSpPr>
          <p:nvPr>
            <p:ph type="sldImg"/>
          </p:nvPr>
        </p:nvSpPr>
        <p:spPr>
          <a:xfrm>
            <a:off x="1152525" y="682625"/>
            <a:ext cx="4551363" cy="3413125"/>
          </a:xfrm>
          <a:ln/>
        </p:spPr>
      </p:sp>
      <p:sp>
        <p:nvSpPr>
          <p:cNvPr id="61444"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DDEE46A-C76A-4A07-8E93-1C560B6C862C}" type="slidenum">
              <a:rPr lang="en-US" altLang="en-US" sz="1200"/>
              <a:pPr/>
              <a:t>15</a:t>
            </a:fld>
            <a:endParaRPr lang="en-US" altLang="en-US" sz="120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651D030-FA5A-4A72-A397-46934D7364F6}" type="slidenum">
              <a:rPr lang="en-US" altLang="en-US" sz="1200"/>
              <a:pPr/>
              <a:t>16</a:t>
            </a:fld>
            <a:endParaRPr lang="en-US" altLang="en-US" sz="1200"/>
          </a:p>
        </p:txBody>
      </p:sp>
      <p:sp>
        <p:nvSpPr>
          <p:cNvPr id="65539" name="Rectangle 2"/>
          <p:cNvSpPr>
            <a:spLocks noGrp="1" noRot="1" noChangeAspect="1" noChangeArrowheads="1" noTextEdit="1"/>
          </p:cNvSpPr>
          <p:nvPr>
            <p:ph type="sldImg"/>
          </p:nvPr>
        </p:nvSpPr>
        <p:spPr>
          <a:xfrm>
            <a:off x="1152525" y="682625"/>
            <a:ext cx="4551363" cy="3413125"/>
          </a:xfrm>
          <a:ln/>
        </p:spPr>
      </p:sp>
      <p:sp>
        <p:nvSpPr>
          <p:cNvPr id="65540"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2637685-AC61-4B1B-B793-349A08F891EC}" type="slidenum">
              <a:rPr lang="en-US" altLang="en-US" sz="1200"/>
              <a:pPr/>
              <a:t>17</a:t>
            </a:fld>
            <a:endParaRPr lang="en-US" altLang="en-US" sz="1200"/>
          </a:p>
        </p:txBody>
      </p:sp>
      <p:sp>
        <p:nvSpPr>
          <p:cNvPr id="67587" name="Rectangle 2"/>
          <p:cNvSpPr>
            <a:spLocks noGrp="1" noRot="1" noChangeAspect="1" noChangeArrowheads="1" noTextEdit="1"/>
          </p:cNvSpPr>
          <p:nvPr>
            <p:ph type="sldImg"/>
          </p:nvPr>
        </p:nvSpPr>
        <p:spPr>
          <a:xfrm>
            <a:off x="1152525" y="682625"/>
            <a:ext cx="4551363" cy="3413125"/>
          </a:xfrm>
          <a:ln/>
        </p:spPr>
      </p:sp>
      <p:sp>
        <p:nvSpPr>
          <p:cNvPr id="67588"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A845FB4-8010-439E-A5BD-BE45A2102663}" type="slidenum">
              <a:rPr lang="en-US" altLang="en-US" sz="1200"/>
              <a:pPr/>
              <a:t>18</a:t>
            </a:fld>
            <a:endParaRPr lang="en-US" altLang="en-US" sz="1200"/>
          </a:p>
        </p:txBody>
      </p:sp>
      <p:sp>
        <p:nvSpPr>
          <p:cNvPr id="69635" name="Rectangle 2"/>
          <p:cNvSpPr>
            <a:spLocks noGrp="1" noRot="1" noChangeAspect="1" noChangeArrowheads="1" noTextEdit="1"/>
          </p:cNvSpPr>
          <p:nvPr>
            <p:ph type="sldImg"/>
          </p:nvPr>
        </p:nvSpPr>
        <p:spPr>
          <a:xfrm>
            <a:off x="1152525" y="682625"/>
            <a:ext cx="4551363" cy="3413125"/>
          </a:xfrm>
          <a:ln/>
        </p:spPr>
      </p:sp>
      <p:sp>
        <p:nvSpPr>
          <p:cNvPr id="69636"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64B28BD8-7ADB-4BC8-A208-C378601D9C2D}" type="slidenum">
              <a:rPr lang="en-US" altLang="en-US" sz="1200"/>
              <a:pPr/>
              <a:t>19</a:t>
            </a:fld>
            <a:endParaRPr lang="en-US" altLang="en-US" sz="1200"/>
          </a:p>
        </p:txBody>
      </p:sp>
      <p:sp>
        <p:nvSpPr>
          <p:cNvPr id="71683" name="Rectangle 2"/>
          <p:cNvSpPr>
            <a:spLocks noGrp="1" noRot="1" noChangeAspect="1" noChangeArrowheads="1" noTextEdit="1"/>
          </p:cNvSpPr>
          <p:nvPr>
            <p:ph type="sldImg"/>
          </p:nvPr>
        </p:nvSpPr>
        <p:spPr>
          <a:xfrm>
            <a:off x="1152525" y="682625"/>
            <a:ext cx="4551363" cy="3413125"/>
          </a:xfrm>
          <a:ln/>
        </p:spPr>
      </p:sp>
      <p:sp>
        <p:nvSpPr>
          <p:cNvPr id="71684"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B22F66DB-06CF-41F3-B8CF-A2C598F05D58}" type="slidenum">
              <a:rPr lang="en-US" altLang="en-US" sz="1200"/>
              <a:pPr/>
              <a:t>20</a:t>
            </a:fld>
            <a:endParaRPr lang="en-US" altLang="en-US" sz="1200"/>
          </a:p>
        </p:txBody>
      </p:sp>
      <p:sp>
        <p:nvSpPr>
          <p:cNvPr id="73731" name="Rectangle 2"/>
          <p:cNvSpPr>
            <a:spLocks noGrp="1" noRot="1" noChangeAspect="1" noChangeArrowheads="1" noTextEdit="1"/>
          </p:cNvSpPr>
          <p:nvPr>
            <p:ph type="sldImg"/>
          </p:nvPr>
        </p:nvSpPr>
        <p:spPr>
          <a:xfrm>
            <a:off x="1152525" y="682625"/>
            <a:ext cx="4551363" cy="3413125"/>
          </a:xfrm>
          <a:ln/>
        </p:spPr>
      </p:sp>
      <p:sp>
        <p:nvSpPr>
          <p:cNvPr id="73732"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E3DA345-D3BC-4E38-989C-7DFF0AE65109}" type="slidenum">
              <a:rPr lang="en-US" altLang="en-US" sz="1200"/>
              <a:pPr/>
              <a:t>21</a:t>
            </a:fld>
            <a:endParaRPr lang="en-US" altLang="en-US" sz="1200"/>
          </a:p>
        </p:txBody>
      </p:sp>
      <p:sp>
        <p:nvSpPr>
          <p:cNvPr id="75779" name="Rectangle 2"/>
          <p:cNvSpPr>
            <a:spLocks noGrp="1" noRot="1" noChangeAspect="1" noChangeArrowheads="1" noTextEdit="1"/>
          </p:cNvSpPr>
          <p:nvPr>
            <p:ph type="sldImg"/>
          </p:nvPr>
        </p:nvSpPr>
        <p:spPr>
          <a:xfrm>
            <a:off x="1152525" y="682625"/>
            <a:ext cx="4551363" cy="3413125"/>
          </a:xfrm>
          <a:ln/>
        </p:spPr>
      </p:sp>
      <p:sp>
        <p:nvSpPr>
          <p:cNvPr id="75780"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ACE3858-E48C-4523-9F8C-EEB206E98910}" type="slidenum">
              <a:rPr lang="en-US" altLang="en-US" sz="1200"/>
              <a:pPr/>
              <a:t>22</a:t>
            </a:fld>
            <a:endParaRPr lang="en-US" altLang="en-US" sz="1200"/>
          </a:p>
        </p:txBody>
      </p:sp>
      <p:sp>
        <p:nvSpPr>
          <p:cNvPr id="77827" name="Rectangle 2"/>
          <p:cNvSpPr>
            <a:spLocks noGrp="1" noRot="1" noChangeAspect="1" noChangeArrowheads="1" noTextEdit="1"/>
          </p:cNvSpPr>
          <p:nvPr>
            <p:ph type="sldImg"/>
          </p:nvPr>
        </p:nvSpPr>
        <p:spPr>
          <a:xfrm>
            <a:off x="1152525" y="682625"/>
            <a:ext cx="4551363" cy="3413125"/>
          </a:xfrm>
          <a:ln/>
        </p:spPr>
      </p:sp>
      <p:sp>
        <p:nvSpPr>
          <p:cNvPr id="77828"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9713135-6787-4AFA-A44C-C49643935E8C}" type="slidenum">
              <a:rPr lang="en-US" altLang="en-US" sz="1200"/>
              <a:pPr/>
              <a:t>23</a:t>
            </a:fld>
            <a:endParaRPr lang="en-US" altLang="en-US" sz="1200"/>
          </a:p>
        </p:txBody>
      </p:sp>
      <p:sp>
        <p:nvSpPr>
          <p:cNvPr id="79875" name="Rectangle 2"/>
          <p:cNvSpPr>
            <a:spLocks noGrp="1" noRot="1" noChangeAspect="1" noChangeArrowheads="1" noTextEdit="1"/>
          </p:cNvSpPr>
          <p:nvPr>
            <p:ph type="sldImg"/>
          </p:nvPr>
        </p:nvSpPr>
        <p:spPr>
          <a:xfrm>
            <a:off x="1152525" y="682625"/>
            <a:ext cx="4551363" cy="3413125"/>
          </a:xfrm>
          <a:ln/>
        </p:spPr>
      </p:sp>
      <p:sp>
        <p:nvSpPr>
          <p:cNvPr id="79876"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B8C8C46-4151-48F9-9B71-FE4D18A026CA}" type="slidenum">
              <a:rPr lang="en-US" altLang="en-US" sz="1200"/>
              <a:pPr/>
              <a:t>24</a:t>
            </a:fld>
            <a:endParaRPr lang="en-US" altLang="en-US" sz="1200"/>
          </a:p>
        </p:txBody>
      </p:sp>
      <p:sp>
        <p:nvSpPr>
          <p:cNvPr id="81923" name="Rectangle 2"/>
          <p:cNvSpPr>
            <a:spLocks noGrp="1" noRot="1" noChangeAspect="1" noChangeArrowheads="1" noTextEdit="1"/>
          </p:cNvSpPr>
          <p:nvPr>
            <p:ph type="sldImg"/>
          </p:nvPr>
        </p:nvSpPr>
        <p:spPr>
          <a:xfrm>
            <a:off x="1152525" y="682625"/>
            <a:ext cx="4551363" cy="3413125"/>
          </a:xfrm>
          <a:ln/>
        </p:spPr>
      </p:sp>
      <p:sp>
        <p:nvSpPr>
          <p:cNvPr id="81924"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F129C9D-8861-4991-9651-FD5FBFC1ED58}" type="slidenum">
              <a:rPr lang="en-US" altLang="en-US" sz="1200"/>
              <a:pPr/>
              <a:t>25</a:t>
            </a:fld>
            <a:endParaRPr lang="en-US" altLang="en-US" sz="1200"/>
          </a:p>
        </p:txBody>
      </p:sp>
      <p:sp>
        <p:nvSpPr>
          <p:cNvPr id="83971" name="Rectangle 2"/>
          <p:cNvSpPr>
            <a:spLocks noGrp="1" noRot="1" noChangeAspect="1" noChangeArrowheads="1" noTextEdit="1"/>
          </p:cNvSpPr>
          <p:nvPr>
            <p:ph type="sldImg"/>
          </p:nvPr>
        </p:nvSpPr>
        <p:spPr>
          <a:xfrm>
            <a:off x="1152525" y="682625"/>
            <a:ext cx="4551363" cy="3413125"/>
          </a:xfrm>
          <a:ln/>
        </p:spPr>
      </p:sp>
      <p:sp>
        <p:nvSpPr>
          <p:cNvPr id="83972"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1808FD2-2B10-4D30-AA5A-804FE0028D8E}" type="slidenum">
              <a:rPr lang="en-US" altLang="en-US" sz="1200"/>
              <a:pPr/>
              <a:t>26</a:t>
            </a:fld>
            <a:endParaRPr lang="en-US" altLang="en-US" sz="1200"/>
          </a:p>
        </p:txBody>
      </p:sp>
      <p:sp>
        <p:nvSpPr>
          <p:cNvPr id="86019" name="Rectangle 2"/>
          <p:cNvSpPr>
            <a:spLocks noGrp="1" noRot="1" noChangeAspect="1" noChangeArrowheads="1" noTextEdit="1"/>
          </p:cNvSpPr>
          <p:nvPr>
            <p:ph type="sldImg"/>
          </p:nvPr>
        </p:nvSpPr>
        <p:spPr>
          <a:xfrm>
            <a:off x="1152525" y="682625"/>
            <a:ext cx="4551363" cy="3413125"/>
          </a:xfrm>
          <a:ln/>
        </p:spPr>
      </p:sp>
      <p:sp>
        <p:nvSpPr>
          <p:cNvPr id="86020"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BAA5B63E-E77B-4B8E-A123-2252459222DC}" type="slidenum">
              <a:rPr lang="en-US" altLang="en-US" sz="1200"/>
              <a:pPr/>
              <a:t>27</a:t>
            </a:fld>
            <a:endParaRPr lang="en-US" altLang="en-US" sz="1200"/>
          </a:p>
        </p:txBody>
      </p:sp>
      <p:sp>
        <p:nvSpPr>
          <p:cNvPr id="88067" name="Rectangle 2"/>
          <p:cNvSpPr>
            <a:spLocks noGrp="1" noRot="1" noChangeAspect="1" noChangeArrowheads="1" noTextEdit="1"/>
          </p:cNvSpPr>
          <p:nvPr>
            <p:ph type="sldImg"/>
          </p:nvPr>
        </p:nvSpPr>
        <p:spPr>
          <a:xfrm>
            <a:off x="1152525" y="682625"/>
            <a:ext cx="4551363" cy="3413125"/>
          </a:xfrm>
          <a:ln/>
        </p:spPr>
      </p:sp>
      <p:sp>
        <p:nvSpPr>
          <p:cNvPr id="88068"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548A75A-7C8D-475B-8F26-681A9D82BED4}" type="slidenum">
              <a:rPr lang="en-US" altLang="en-US" sz="1200"/>
              <a:pPr/>
              <a:t>28</a:t>
            </a:fld>
            <a:endParaRPr lang="en-US" altLang="en-US" sz="1200"/>
          </a:p>
        </p:txBody>
      </p:sp>
      <p:sp>
        <p:nvSpPr>
          <p:cNvPr id="90115" name="Rectangle 2"/>
          <p:cNvSpPr>
            <a:spLocks noGrp="1" noRot="1" noChangeAspect="1" noChangeArrowheads="1" noTextEdit="1"/>
          </p:cNvSpPr>
          <p:nvPr>
            <p:ph type="sldImg"/>
          </p:nvPr>
        </p:nvSpPr>
        <p:spPr>
          <a:xfrm>
            <a:off x="1152525" y="682625"/>
            <a:ext cx="4551363" cy="3413125"/>
          </a:xfrm>
          <a:ln/>
        </p:spPr>
      </p:sp>
      <p:sp>
        <p:nvSpPr>
          <p:cNvPr id="90116"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D931C4F-054F-4742-931D-283ECCDE582F}" type="slidenum">
              <a:rPr lang="en-US" altLang="en-US" sz="1200"/>
              <a:pPr/>
              <a:t>29</a:t>
            </a:fld>
            <a:endParaRPr lang="en-US" altLang="en-US" sz="1200"/>
          </a:p>
        </p:txBody>
      </p:sp>
      <p:sp>
        <p:nvSpPr>
          <p:cNvPr id="92163" name="Rectangle 2"/>
          <p:cNvSpPr>
            <a:spLocks noGrp="1" noRot="1" noChangeAspect="1" noChangeArrowheads="1" noTextEdit="1"/>
          </p:cNvSpPr>
          <p:nvPr>
            <p:ph type="sldImg"/>
          </p:nvPr>
        </p:nvSpPr>
        <p:spPr>
          <a:xfrm>
            <a:off x="1152525" y="682625"/>
            <a:ext cx="4551363" cy="3413125"/>
          </a:xfrm>
          <a:ln/>
        </p:spPr>
      </p:sp>
      <p:sp>
        <p:nvSpPr>
          <p:cNvPr id="92164"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A2B7A65-6490-4576-93AC-8BFCA88F63EE}" type="slidenum">
              <a:rPr lang="en-US" altLang="en-US" sz="1200"/>
              <a:pPr/>
              <a:t>30</a:t>
            </a:fld>
            <a:endParaRPr lang="en-US" altLang="en-US" sz="1200"/>
          </a:p>
        </p:txBody>
      </p:sp>
      <p:sp>
        <p:nvSpPr>
          <p:cNvPr id="95235" name="Rectangle 2"/>
          <p:cNvSpPr>
            <a:spLocks noGrp="1" noRot="1" noChangeAspect="1" noChangeArrowheads="1" noTextEdit="1"/>
          </p:cNvSpPr>
          <p:nvPr>
            <p:ph type="sldImg"/>
          </p:nvPr>
        </p:nvSpPr>
        <p:spPr>
          <a:xfrm>
            <a:off x="1152525" y="682625"/>
            <a:ext cx="4551363" cy="3413125"/>
          </a:xfrm>
          <a:ln/>
        </p:spPr>
      </p:sp>
      <p:sp>
        <p:nvSpPr>
          <p:cNvPr id="95236"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99230D2-2CA2-4AA5-AA79-D742D506F8E0}" type="slidenum">
              <a:rPr lang="en-US" altLang="en-US" sz="1200"/>
              <a:pPr/>
              <a:t>31</a:t>
            </a:fld>
            <a:endParaRPr lang="en-US" altLang="en-US" sz="1200"/>
          </a:p>
        </p:txBody>
      </p:sp>
      <p:sp>
        <p:nvSpPr>
          <p:cNvPr id="97283" name="Rectangle 2"/>
          <p:cNvSpPr>
            <a:spLocks noGrp="1" noRot="1" noChangeAspect="1" noChangeArrowheads="1" noTextEdit="1"/>
          </p:cNvSpPr>
          <p:nvPr>
            <p:ph type="sldImg"/>
          </p:nvPr>
        </p:nvSpPr>
        <p:spPr>
          <a:xfrm>
            <a:off x="1152525" y="682625"/>
            <a:ext cx="4551363" cy="3413125"/>
          </a:xfrm>
          <a:ln/>
        </p:spPr>
      </p:sp>
      <p:sp>
        <p:nvSpPr>
          <p:cNvPr id="97284"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D9E11DC-4281-42D5-BCAE-8D0FF6F52B03}" type="slidenum">
              <a:rPr lang="en-US" altLang="en-US" sz="1200"/>
              <a:pPr/>
              <a:t>32</a:t>
            </a:fld>
            <a:endParaRPr lang="en-US" altLang="en-US" sz="1200"/>
          </a:p>
        </p:txBody>
      </p:sp>
      <p:sp>
        <p:nvSpPr>
          <p:cNvPr id="99331" name="Rectangle 2"/>
          <p:cNvSpPr>
            <a:spLocks noGrp="1" noRot="1" noChangeAspect="1" noChangeArrowheads="1" noTextEdit="1"/>
          </p:cNvSpPr>
          <p:nvPr>
            <p:ph type="sldImg"/>
          </p:nvPr>
        </p:nvSpPr>
        <p:spPr>
          <a:xfrm>
            <a:off x="1152525" y="682625"/>
            <a:ext cx="4551363" cy="3413125"/>
          </a:xfrm>
          <a:ln/>
        </p:spPr>
      </p:sp>
      <p:sp>
        <p:nvSpPr>
          <p:cNvPr id="99332"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AA8F8A6-E016-4495-8F21-22FEC974C6FE}" type="slidenum">
              <a:rPr lang="en-US" altLang="en-US" sz="1200"/>
              <a:pPr/>
              <a:t>33</a:t>
            </a:fld>
            <a:endParaRPr lang="en-US" altLang="en-US" sz="1200"/>
          </a:p>
        </p:txBody>
      </p:sp>
      <p:sp>
        <p:nvSpPr>
          <p:cNvPr id="101379" name="Rectangle 2"/>
          <p:cNvSpPr>
            <a:spLocks noGrp="1" noRot="1" noChangeAspect="1" noChangeArrowheads="1" noTextEdit="1"/>
          </p:cNvSpPr>
          <p:nvPr>
            <p:ph type="sldImg"/>
          </p:nvPr>
        </p:nvSpPr>
        <p:spPr>
          <a:xfrm>
            <a:off x="1152525" y="682625"/>
            <a:ext cx="4551363" cy="3413125"/>
          </a:xfrm>
          <a:ln/>
        </p:spPr>
      </p:sp>
      <p:sp>
        <p:nvSpPr>
          <p:cNvPr id="101380"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D5B19C4-2329-4009-BA5F-57B56A6E1EC0}" type="slidenum">
              <a:rPr lang="en-US" altLang="en-US" sz="1200"/>
              <a:pPr/>
              <a:t>34</a:t>
            </a:fld>
            <a:endParaRPr lang="en-US" altLang="en-US" sz="1200"/>
          </a:p>
        </p:txBody>
      </p:sp>
      <p:sp>
        <p:nvSpPr>
          <p:cNvPr id="103427" name="Rectangle 2"/>
          <p:cNvSpPr>
            <a:spLocks noGrp="1" noRot="1" noChangeAspect="1" noChangeArrowheads="1" noTextEdit="1"/>
          </p:cNvSpPr>
          <p:nvPr>
            <p:ph type="sldImg"/>
          </p:nvPr>
        </p:nvSpPr>
        <p:spPr>
          <a:xfrm>
            <a:off x="1152525" y="682625"/>
            <a:ext cx="4551363" cy="3413125"/>
          </a:xfrm>
          <a:ln/>
        </p:spPr>
      </p:sp>
      <p:sp>
        <p:nvSpPr>
          <p:cNvPr id="103428"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2D01738-B18A-4B70-9405-538482474D02}" type="slidenum">
              <a:rPr lang="en-US" altLang="en-US" sz="1200"/>
              <a:pPr/>
              <a:t>35</a:t>
            </a:fld>
            <a:endParaRPr lang="en-US" altLang="en-US" sz="1200"/>
          </a:p>
        </p:txBody>
      </p:sp>
      <p:sp>
        <p:nvSpPr>
          <p:cNvPr id="105475" name="Rectangle 2"/>
          <p:cNvSpPr>
            <a:spLocks noGrp="1" noRot="1" noChangeAspect="1" noChangeArrowheads="1" noTextEdit="1"/>
          </p:cNvSpPr>
          <p:nvPr>
            <p:ph type="sldImg"/>
          </p:nvPr>
        </p:nvSpPr>
        <p:spPr>
          <a:xfrm>
            <a:off x="1152525" y="682625"/>
            <a:ext cx="4551363" cy="3413125"/>
          </a:xfrm>
          <a:ln/>
        </p:spPr>
      </p:sp>
      <p:sp>
        <p:nvSpPr>
          <p:cNvPr id="105476"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B1AA03D-F653-4F6A-87CA-107E24177D7F}" type="slidenum">
              <a:rPr lang="en-US" altLang="en-US" sz="1200"/>
              <a:pPr/>
              <a:t>36</a:t>
            </a:fld>
            <a:endParaRPr lang="en-US" altLang="en-US" sz="120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BDAA34A0-47ED-49B8-89CF-2B07234CD3D3}" type="slidenum">
              <a:rPr lang="en-US" altLang="en-US" sz="1200"/>
              <a:pPr/>
              <a:t>37</a:t>
            </a:fld>
            <a:endParaRPr lang="en-US" altLang="en-US" sz="1200"/>
          </a:p>
        </p:txBody>
      </p:sp>
      <p:sp>
        <p:nvSpPr>
          <p:cNvPr id="109571" name="Rectangle 2"/>
          <p:cNvSpPr>
            <a:spLocks noGrp="1" noRot="1" noChangeAspect="1" noChangeArrowheads="1" noTextEdit="1"/>
          </p:cNvSpPr>
          <p:nvPr>
            <p:ph type="sldImg"/>
          </p:nvPr>
        </p:nvSpPr>
        <p:spPr>
          <a:xfrm>
            <a:off x="1152525" y="682625"/>
            <a:ext cx="4551363" cy="3413125"/>
          </a:xfrm>
          <a:ln/>
        </p:spPr>
      </p:sp>
      <p:sp>
        <p:nvSpPr>
          <p:cNvPr id="109572"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F8BAC16-32C3-4B97-A29B-AD1F62103DDA}" type="slidenum">
              <a:rPr lang="en-US" altLang="en-US" sz="1200"/>
              <a:pPr/>
              <a:t>38</a:t>
            </a:fld>
            <a:endParaRPr lang="en-US" altLang="en-US" sz="1200"/>
          </a:p>
        </p:txBody>
      </p:sp>
      <p:sp>
        <p:nvSpPr>
          <p:cNvPr id="111619" name="Rectangle 2"/>
          <p:cNvSpPr>
            <a:spLocks noGrp="1" noRot="1" noChangeAspect="1" noChangeArrowheads="1" noTextEdit="1"/>
          </p:cNvSpPr>
          <p:nvPr>
            <p:ph type="sldImg"/>
          </p:nvPr>
        </p:nvSpPr>
        <p:spPr>
          <a:xfrm>
            <a:off x="1152525" y="682625"/>
            <a:ext cx="4551363" cy="3413125"/>
          </a:xfrm>
          <a:ln/>
        </p:spPr>
      </p:sp>
      <p:sp>
        <p:nvSpPr>
          <p:cNvPr id="111620"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AA6BE28-7278-443D-AF19-6038D84E2754}" type="slidenum">
              <a:rPr lang="en-US" altLang="en-US" sz="1200"/>
              <a:pPr/>
              <a:t>39</a:t>
            </a:fld>
            <a:endParaRPr lang="en-US" altLang="en-US" sz="1200"/>
          </a:p>
        </p:txBody>
      </p:sp>
      <p:sp>
        <p:nvSpPr>
          <p:cNvPr id="113667" name="Rectangle 2"/>
          <p:cNvSpPr>
            <a:spLocks noGrp="1" noRot="1" noChangeAspect="1" noChangeArrowheads="1" noTextEdit="1"/>
          </p:cNvSpPr>
          <p:nvPr>
            <p:ph type="sldImg"/>
          </p:nvPr>
        </p:nvSpPr>
        <p:spPr>
          <a:xfrm>
            <a:off x="1152525" y="682625"/>
            <a:ext cx="4551363" cy="3413125"/>
          </a:xfrm>
          <a:ln/>
        </p:spPr>
      </p:sp>
      <p:sp>
        <p:nvSpPr>
          <p:cNvPr id="113668"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A66E8B0-07B2-430B-B721-BEEA5C44B512}" type="slidenum">
              <a:rPr lang="en-US" altLang="en-US" sz="1200"/>
              <a:pPr/>
              <a:t>40</a:t>
            </a:fld>
            <a:endParaRPr lang="en-US" altLang="en-US" sz="1200"/>
          </a:p>
        </p:txBody>
      </p:sp>
      <p:sp>
        <p:nvSpPr>
          <p:cNvPr id="115715" name="Rectangle 2"/>
          <p:cNvSpPr>
            <a:spLocks noGrp="1" noRot="1" noChangeAspect="1" noChangeArrowheads="1" noTextEdit="1"/>
          </p:cNvSpPr>
          <p:nvPr>
            <p:ph type="sldImg"/>
          </p:nvPr>
        </p:nvSpPr>
        <p:spPr>
          <a:xfrm>
            <a:off x="1152525" y="682625"/>
            <a:ext cx="4551363" cy="3413125"/>
          </a:xfrm>
          <a:ln/>
        </p:spPr>
      </p:sp>
      <p:sp>
        <p:nvSpPr>
          <p:cNvPr id="115716"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2BC5990-A959-4B94-B342-E3C1F4E8244D}" type="slidenum">
              <a:rPr lang="en-US" altLang="en-US" sz="1200"/>
              <a:pPr/>
              <a:t>41</a:t>
            </a:fld>
            <a:endParaRPr lang="en-US" altLang="en-US" sz="1200"/>
          </a:p>
        </p:txBody>
      </p:sp>
      <p:sp>
        <p:nvSpPr>
          <p:cNvPr id="117763" name="Rectangle 2"/>
          <p:cNvSpPr>
            <a:spLocks noGrp="1" noRot="1" noChangeAspect="1" noChangeArrowheads="1" noTextEdit="1"/>
          </p:cNvSpPr>
          <p:nvPr>
            <p:ph type="sldImg"/>
          </p:nvPr>
        </p:nvSpPr>
        <p:spPr>
          <a:xfrm>
            <a:off x="1152525" y="682625"/>
            <a:ext cx="4551363" cy="3413125"/>
          </a:xfrm>
          <a:ln/>
        </p:spPr>
      </p:sp>
      <p:sp>
        <p:nvSpPr>
          <p:cNvPr id="117764"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6F36690-1BC3-481C-8C6B-0B99A4C94DBC}" type="slidenum">
              <a:rPr lang="en-US" altLang="en-US" sz="1200"/>
              <a:pPr/>
              <a:t>42</a:t>
            </a:fld>
            <a:endParaRPr lang="en-US" altLang="en-US" sz="1200"/>
          </a:p>
        </p:txBody>
      </p:sp>
      <p:sp>
        <p:nvSpPr>
          <p:cNvPr id="119811" name="Rectangle 2"/>
          <p:cNvSpPr>
            <a:spLocks noGrp="1" noRot="1" noChangeAspect="1" noChangeArrowheads="1" noTextEdit="1"/>
          </p:cNvSpPr>
          <p:nvPr>
            <p:ph type="sldImg"/>
          </p:nvPr>
        </p:nvSpPr>
        <p:spPr>
          <a:xfrm>
            <a:off x="1152525" y="682625"/>
            <a:ext cx="4551363" cy="3413125"/>
          </a:xfrm>
          <a:ln/>
        </p:spPr>
      </p:sp>
      <p:sp>
        <p:nvSpPr>
          <p:cNvPr id="119812"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7517F79-9CA7-4B42-BD8D-BAADED3F3941}" type="slidenum">
              <a:rPr lang="en-US" altLang="en-US" sz="1200"/>
              <a:pPr/>
              <a:t>43</a:t>
            </a:fld>
            <a:endParaRPr lang="en-US" altLang="en-US" sz="1200"/>
          </a:p>
        </p:txBody>
      </p:sp>
      <p:sp>
        <p:nvSpPr>
          <p:cNvPr id="121859" name="Rectangle 2"/>
          <p:cNvSpPr>
            <a:spLocks noGrp="1" noRot="1" noChangeAspect="1" noChangeArrowheads="1" noTextEdit="1"/>
          </p:cNvSpPr>
          <p:nvPr>
            <p:ph type="sldImg"/>
          </p:nvPr>
        </p:nvSpPr>
        <p:spPr>
          <a:xfrm>
            <a:off x="1152525" y="682625"/>
            <a:ext cx="4551363" cy="3413125"/>
          </a:xfrm>
          <a:ln/>
        </p:spPr>
      </p:sp>
      <p:sp>
        <p:nvSpPr>
          <p:cNvPr id="121860"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26A2BD4-C500-4120-9D66-24E5D9ABFB66}" type="slidenum">
              <a:rPr lang="en-US" altLang="en-US" sz="1200"/>
              <a:pPr/>
              <a:t>44</a:t>
            </a:fld>
            <a:endParaRPr lang="en-US" altLang="en-US" sz="1200"/>
          </a:p>
        </p:txBody>
      </p:sp>
      <p:sp>
        <p:nvSpPr>
          <p:cNvPr id="123907" name="Rectangle 2"/>
          <p:cNvSpPr>
            <a:spLocks noGrp="1" noRot="1" noChangeAspect="1" noChangeArrowheads="1" noTextEdit="1"/>
          </p:cNvSpPr>
          <p:nvPr>
            <p:ph type="sldImg"/>
          </p:nvPr>
        </p:nvSpPr>
        <p:spPr>
          <a:xfrm>
            <a:off x="1152525" y="682625"/>
            <a:ext cx="4551363" cy="3413125"/>
          </a:xfrm>
          <a:ln/>
        </p:spPr>
      </p:sp>
      <p:sp>
        <p:nvSpPr>
          <p:cNvPr id="123908"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CA3187D-D0ED-4CE1-B74C-25FC6FF5569C}" type="slidenum">
              <a:rPr lang="en-US" altLang="en-US" sz="1200"/>
              <a:pPr/>
              <a:t>45</a:t>
            </a:fld>
            <a:endParaRPr lang="en-US" altLang="en-US" sz="1200"/>
          </a:p>
        </p:txBody>
      </p:sp>
      <p:sp>
        <p:nvSpPr>
          <p:cNvPr id="125955" name="Rectangle 2"/>
          <p:cNvSpPr>
            <a:spLocks noGrp="1" noRot="1" noChangeAspect="1" noChangeArrowheads="1" noTextEdit="1"/>
          </p:cNvSpPr>
          <p:nvPr>
            <p:ph type="sldImg"/>
          </p:nvPr>
        </p:nvSpPr>
        <p:spPr>
          <a:xfrm>
            <a:off x="1152525" y="682625"/>
            <a:ext cx="4551363" cy="3413125"/>
          </a:xfrm>
          <a:ln/>
        </p:spPr>
      </p:sp>
      <p:sp>
        <p:nvSpPr>
          <p:cNvPr id="125956"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021232C-CB3B-4A66-80E5-8182304FC25E}" type="slidenum">
              <a:rPr lang="en-US" altLang="en-US" sz="1200"/>
              <a:pPr/>
              <a:t>47</a:t>
            </a:fld>
            <a:endParaRPr lang="en-US" altLang="en-US" sz="1200"/>
          </a:p>
        </p:txBody>
      </p:sp>
      <p:sp>
        <p:nvSpPr>
          <p:cNvPr id="131075" name="Rectangle 2"/>
          <p:cNvSpPr>
            <a:spLocks noGrp="1" noRot="1" noChangeAspect="1" noChangeArrowheads="1" noTextEdit="1"/>
          </p:cNvSpPr>
          <p:nvPr>
            <p:ph type="sldImg"/>
          </p:nvPr>
        </p:nvSpPr>
        <p:spPr>
          <a:xfrm>
            <a:off x="1152525" y="682625"/>
            <a:ext cx="4551363" cy="3413125"/>
          </a:xfrm>
          <a:ln/>
        </p:spPr>
      </p:sp>
      <p:sp>
        <p:nvSpPr>
          <p:cNvPr id="131076" name="Rectangle 3"/>
          <p:cNvSpPr>
            <a:spLocks noGrp="1" noChangeArrowheads="1"/>
          </p:cNvSpPr>
          <p:nvPr>
            <p:ph type="body" idx="1"/>
          </p:nvPr>
        </p:nvSpPr>
        <p:spPr>
          <a:noFill/>
        </p:spPr>
        <p:txBody>
          <a:bodyPr lIns="90270" tIns="45135" rIns="90270" bIns="45135"/>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179C91FD-BB2F-4150-A615-D7A3CF421B32}" type="slidenum">
              <a:rPr lang="en-US" altLang="en-US"/>
              <a:pPr/>
              <a:t>‹#›</a:t>
            </a:fld>
            <a:endParaRPr lang="en-US" altLang="en-US"/>
          </a:p>
        </p:txBody>
      </p:sp>
    </p:spTree>
    <p:extLst>
      <p:ext uri="{BB962C8B-B14F-4D97-AF65-F5344CB8AC3E}">
        <p14:creationId xmlns:p14="http://schemas.microsoft.com/office/powerpoint/2010/main" val="2309264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BFF6DC9F-7FB7-4BC3-ACE5-08ADEE1E6D1F}" type="slidenum">
              <a:rPr lang="en-US" altLang="en-US"/>
              <a:pPr/>
              <a:t>‹#›</a:t>
            </a:fld>
            <a:endParaRPr lang="en-US" altLang="en-US"/>
          </a:p>
        </p:txBody>
      </p:sp>
    </p:spTree>
    <p:extLst>
      <p:ext uri="{BB962C8B-B14F-4D97-AF65-F5344CB8AC3E}">
        <p14:creationId xmlns:p14="http://schemas.microsoft.com/office/powerpoint/2010/main" val="1237257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A4B7C61C-FA83-46C1-BBF5-462F9E701392}" type="slidenum">
              <a:rPr lang="en-US" altLang="en-US"/>
              <a:pPr/>
              <a:t>‹#›</a:t>
            </a:fld>
            <a:endParaRPr lang="en-US" altLang="en-US"/>
          </a:p>
        </p:txBody>
      </p:sp>
    </p:spTree>
    <p:extLst>
      <p:ext uri="{BB962C8B-B14F-4D97-AF65-F5344CB8AC3E}">
        <p14:creationId xmlns:p14="http://schemas.microsoft.com/office/powerpoint/2010/main" val="3141085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7EF8F2C5-91F9-46D9-A9EC-43DEA65D9008}" type="slidenum">
              <a:rPr lang="en-US" altLang="en-US"/>
              <a:pPr/>
              <a:t>‹#›</a:t>
            </a:fld>
            <a:endParaRPr lang="en-US" altLang="en-US"/>
          </a:p>
        </p:txBody>
      </p:sp>
    </p:spTree>
    <p:extLst>
      <p:ext uri="{BB962C8B-B14F-4D97-AF65-F5344CB8AC3E}">
        <p14:creationId xmlns:p14="http://schemas.microsoft.com/office/powerpoint/2010/main" val="2335309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fld id="{779707D9-D49B-4D39-A78C-0D8A4E4B1A11}" type="slidenum">
              <a:rPr lang="en-US" altLang="en-US"/>
              <a:pPr/>
              <a:t>‹#›</a:t>
            </a:fld>
            <a:endParaRPr lang="en-US" altLang="en-US"/>
          </a:p>
        </p:txBody>
      </p:sp>
    </p:spTree>
    <p:extLst>
      <p:ext uri="{BB962C8B-B14F-4D97-AF65-F5344CB8AC3E}">
        <p14:creationId xmlns:p14="http://schemas.microsoft.com/office/powerpoint/2010/main" val="143025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fld id="{3CD53816-CCD6-480E-8FBA-82C290F29C6B}" type="slidenum">
              <a:rPr lang="en-US" altLang="en-US"/>
              <a:pPr/>
              <a:t>‹#›</a:t>
            </a:fld>
            <a:endParaRPr lang="en-US" altLang="en-US"/>
          </a:p>
        </p:txBody>
      </p:sp>
    </p:spTree>
    <p:extLst>
      <p:ext uri="{BB962C8B-B14F-4D97-AF65-F5344CB8AC3E}">
        <p14:creationId xmlns:p14="http://schemas.microsoft.com/office/powerpoint/2010/main" val="168484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fld id="{6945FC9B-0E53-4894-9EAC-755DBE42BD94}" type="slidenum">
              <a:rPr lang="en-US" altLang="en-US"/>
              <a:pPr/>
              <a:t>‹#›</a:t>
            </a:fld>
            <a:endParaRPr lang="en-US" altLang="en-US"/>
          </a:p>
        </p:txBody>
      </p:sp>
    </p:spTree>
    <p:extLst>
      <p:ext uri="{BB962C8B-B14F-4D97-AF65-F5344CB8AC3E}">
        <p14:creationId xmlns:p14="http://schemas.microsoft.com/office/powerpoint/2010/main" val="1112592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48D2D3C8-FEBA-427B-A55F-5C48DD4482E2}" type="slidenum">
              <a:rPr lang="en-US" altLang="en-US"/>
              <a:pPr/>
              <a:t>‹#›</a:t>
            </a:fld>
            <a:endParaRPr lang="en-US" altLang="en-US"/>
          </a:p>
        </p:txBody>
      </p:sp>
    </p:spTree>
    <p:extLst>
      <p:ext uri="{BB962C8B-B14F-4D97-AF65-F5344CB8AC3E}">
        <p14:creationId xmlns:p14="http://schemas.microsoft.com/office/powerpoint/2010/main" val="2277434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DF42A6C7-4C84-4C20-834E-8C66F593006C}" type="slidenum">
              <a:rPr lang="en-US" altLang="en-US"/>
              <a:pPr/>
              <a:t>‹#›</a:t>
            </a:fld>
            <a:endParaRPr lang="en-US" altLang="en-US"/>
          </a:p>
        </p:txBody>
      </p:sp>
    </p:spTree>
    <p:extLst>
      <p:ext uri="{BB962C8B-B14F-4D97-AF65-F5344CB8AC3E}">
        <p14:creationId xmlns:p14="http://schemas.microsoft.com/office/powerpoint/2010/main" val="4110864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97D44180-F67D-4193-B7DA-A17B947060B9}" type="slidenum">
              <a:rPr lang="en-US" altLang="en-US"/>
              <a:pPr/>
              <a:t>‹#›</a:t>
            </a:fld>
            <a:endParaRPr lang="en-US" altLang="en-US"/>
          </a:p>
        </p:txBody>
      </p:sp>
    </p:spTree>
    <p:extLst>
      <p:ext uri="{BB962C8B-B14F-4D97-AF65-F5344CB8AC3E}">
        <p14:creationId xmlns:p14="http://schemas.microsoft.com/office/powerpoint/2010/main" val="799239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BEA05724-2C8B-4161-B4B3-D9BB8209531D}" type="slidenum">
              <a:rPr lang="en-US" altLang="en-US"/>
              <a:pPr/>
              <a:t>‹#›</a:t>
            </a:fld>
            <a:endParaRPr lang="en-US" altLang="en-US"/>
          </a:p>
        </p:txBody>
      </p:sp>
    </p:spTree>
    <p:extLst>
      <p:ext uri="{BB962C8B-B14F-4D97-AF65-F5344CB8AC3E}">
        <p14:creationId xmlns:p14="http://schemas.microsoft.com/office/powerpoint/2010/main" val="1124822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fld id="{48625409-6F2E-4A65-896A-FA8AD765DB5B}" type="slidenum">
              <a:rPr lang="en-US" altLang="en-US"/>
              <a:pPr/>
              <a:t>‹#›</a:t>
            </a:fld>
            <a:endParaRPr lang="en-US" altLang="en-US"/>
          </a:p>
        </p:txBody>
      </p:sp>
    </p:spTree>
    <p:extLst>
      <p:ext uri="{BB962C8B-B14F-4D97-AF65-F5344CB8AC3E}">
        <p14:creationId xmlns:p14="http://schemas.microsoft.com/office/powerpoint/2010/main" val="1004136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33F5BAF7-8C60-4886-9561-727B5F385CE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7.wmf"/><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8.png"/><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17.xml"/><Relationship Id="rId7" Type="http://schemas.openxmlformats.org/officeDocument/2006/relationships/oleObject" Target="../embeddings/oleObject2.bin"/><Relationship Id="rId12"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8.png"/><Relationship Id="rId11" Type="http://schemas.openxmlformats.org/officeDocument/2006/relationships/oleObject" Target="../embeddings/oleObject4.bin"/><Relationship Id="rId5" Type="http://schemas.openxmlformats.org/officeDocument/2006/relationships/image" Target="../media/image17.png"/><Relationship Id="rId10" Type="http://schemas.openxmlformats.org/officeDocument/2006/relationships/image" Target="../media/image15.png"/><Relationship Id="rId4" Type="http://schemas.openxmlformats.org/officeDocument/2006/relationships/image" Target="../media/image1.jpeg"/><Relationship Id="rId9"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29.wmf"/><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30.png"/><Relationship Id="rId4" Type="http://schemas.openxmlformats.org/officeDocument/2006/relationships/image" Target="../media/image1.jpe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video" Target="file:///C:\Users\rherring\Documents\Old%20My%20Documents\Mech%20285%20desk%20top\melting_kurz.avi" TargetMode="Externa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34.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35.png"/><Relationship Id="rId4" Type="http://schemas.openxmlformats.org/officeDocument/2006/relationships/image" Target="../media/image1.jpe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7" Type="http://schemas.openxmlformats.org/officeDocument/2006/relationships/image" Target="../media/image38.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39.png"/><Relationship Id="rId4" Type="http://schemas.openxmlformats.org/officeDocument/2006/relationships/image" Target="../media/image1.jpeg"/></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0863961-A077-42E9-8579-2A838F21D501}"/>
              </a:ext>
            </a:extLst>
          </p:cNvPr>
          <p:cNvSpPr>
            <a:spLocks noGrp="1"/>
          </p:cNvSpPr>
          <p:nvPr>
            <p:ph type="ctrTitle"/>
          </p:nvPr>
        </p:nvSpPr>
        <p:spPr>
          <a:xfrm>
            <a:off x="685800" y="1600200"/>
            <a:ext cx="7772400" cy="2838450"/>
          </a:xfrm>
        </p:spPr>
        <p:txBody>
          <a:bodyPr/>
          <a:lstStyle/>
          <a:p>
            <a:pPr eaLnBrk="1" hangingPunct="1"/>
            <a:r>
              <a:rPr lang="en-US" altLang="en-US" dirty="0">
                <a:solidFill>
                  <a:srgbClr val="0070C0"/>
                </a:solidFill>
              </a:rPr>
              <a:t>ENGR 290</a:t>
            </a:r>
            <a:br>
              <a:rPr lang="en-US" altLang="en-US" dirty="0"/>
            </a:br>
            <a:br>
              <a:rPr lang="en-US" altLang="en-US" dirty="0"/>
            </a:br>
            <a:r>
              <a:rPr lang="en-US" altLang="en-US" dirty="0"/>
              <a:t>Dislocations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85800" y="114300"/>
            <a:ext cx="7772400" cy="647700"/>
          </a:xfrm>
          <a:solidFill>
            <a:schemeClr val="bg1"/>
          </a:solidFill>
          <a:ln>
            <a:solidFill>
              <a:schemeClr val="bg1"/>
            </a:solidFill>
            <a:miter lim="800000"/>
            <a:headEnd/>
            <a:tailEnd/>
          </a:ln>
        </p:spPr>
        <p:txBody>
          <a:bodyPr/>
          <a:lstStyle/>
          <a:p>
            <a:r>
              <a:rPr lang="en-US" altLang="en-US" sz="4000" b="1">
                <a:solidFill>
                  <a:srgbClr val="FF0000"/>
                </a:solidFill>
              </a:rPr>
              <a:t>Objectives (Chapter 4)</a:t>
            </a:r>
            <a:endParaRPr lang="en-US" altLang="en-US" sz="3200" b="1">
              <a:solidFill>
                <a:srgbClr val="FF0000"/>
              </a:solidFill>
            </a:endParaRPr>
          </a:p>
        </p:txBody>
      </p:sp>
      <p:sp>
        <p:nvSpPr>
          <p:cNvPr id="5123" name="Rectangle 3"/>
          <p:cNvSpPr>
            <a:spLocks noChangeArrowheads="1"/>
          </p:cNvSpPr>
          <p:nvPr/>
        </p:nvSpPr>
        <p:spPr bwMode="auto">
          <a:xfrm>
            <a:off x="412750" y="914400"/>
            <a:ext cx="873125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buFontTx/>
              <a:buNone/>
            </a:pPr>
            <a:r>
              <a:rPr lang="en-US" altLang="en-US" sz="2400" b="1">
                <a:solidFill>
                  <a:schemeClr val="tx2"/>
                </a:solidFill>
              </a:rPr>
              <a:t>At the end of this lecture you should be able to:</a:t>
            </a:r>
          </a:p>
          <a:p>
            <a:r>
              <a:rPr lang="en-US" altLang="en-US" sz="2400" b="1">
                <a:solidFill>
                  <a:schemeClr val="tx2"/>
                </a:solidFill>
              </a:rPr>
              <a:t>Define four types of imperfections in common solids</a:t>
            </a:r>
          </a:p>
          <a:p>
            <a:r>
              <a:rPr lang="en-US" altLang="en-US" sz="2400" b="1">
                <a:solidFill>
                  <a:schemeClr val="tx2"/>
                </a:solidFill>
              </a:rPr>
              <a:t>Define the different types of vacancies</a:t>
            </a:r>
          </a:p>
          <a:p>
            <a:r>
              <a:rPr lang="en-US" altLang="en-US" sz="2400" b="1">
                <a:solidFill>
                  <a:schemeClr val="tx2"/>
                </a:solidFill>
              </a:rPr>
              <a:t>Define a Frenkel imperfection</a:t>
            </a:r>
          </a:p>
          <a:p>
            <a:r>
              <a:rPr lang="en-US" altLang="en-US" sz="2400" b="1">
                <a:solidFill>
                  <a:schemeClr val="tx2"/>
                </a:solidFill>
              </a:rPr>
              <a:t>Define a Schottky defect</a:t>
            </a:r>
          </a:p>
          <a:p>
            <a:r>
              <a:rPr lang="en-US" altLang="en-US" sz="2400" b="1">
                <a:solidFill>
                  <a:schemeClr val="tx2"/>
                </a:solidFill>
              </a:rPr>
              <a:t>Draw edge and screw dislocations.</a:t>
            </a:r>
          </a:p>
          <a:p>
            <a:r>
              <a:rPr lang="en-US" altLang="en-US" sz="2400" b="1">
                <a:solidFill>
                  <a:schemeClr val="tx2"/>
                </a:solidFill>
              </a:rPr>
              <a:t>Define and draw a Burger’s vector.</a:t>
            </a:r>
          </a:p>
          <a:p>
            <a:r>
              <a:rPr lang="en-US" altLang="en-US" sz="2400" b="1">
                <a:solidFill>
                  <a:schemeClr val="tx2"/>
                </a:solidFill>
              </a:rPr>
              <a:t>Describe the structure of planar defects and grain boundaries</a:t>
            </a:r>
          </a:p>
          <a:p>
            <a:r>
              <a:rPr lang="en-US" altLang="en-US" sz="2400" b="1">
                <a:solidFill>
                  <a:schemeClr val="tx2"/>
                </a:solidFill>
              </a:rPr>
              <a:t>Describe methods to strengthen materials by blocking dislocation motion</a:t>
            </a:r>
          </a:p>
          <a:p>
            <a:r>
              <a:rPr lang="en-US" altLang="en-US" sz="2400" b="1">
                <a:solidFill>
                  <a:schemeClr val="tx2"/>
                </a:solidFill>
              </a:rPr>
              <a:t>Show the relationship between grain size and material strength</a:t>
            </a:r>
          </a:p>
          <a:p>
            <a:r>
              <a:rPr lang="en-US" altLang="en-US" sz="2400" b="1">
                <a:solidFill>
                  <a:schemeClr val="tx2"/>
                </a:solidFill>
              </a:rPr>
              <a:t>Apply Schmid’s Law</a:t>
            </a:r>
          </a:p>
          <a:p>
            <a:endParaRPr lang="en-US" altLang="en-US" sz="2400" b="1">
              <a:solidFill>
                <a:schemeClr val="tx2"/>
              </a:solidFill>
            </a:endParaRPr>
          </a:p>
        </p:txBody>
      </p:sp>
    </p:spTree>
  </p:cSld>
  <p:clrMapOvr>
    <a:masterClrMapping/>
  </p:clrMapOvr>
  <p:transition>
    <p:pull dir="ru"/>
  </p:transition>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5800" y="114300"/>
            <a:ext cx="7772400" cy="342900"/>
          </a:xfrm>
          <a:solidFill>
            <a:schemeClr val="bg1"/>
          </a:solidFill>
          <a:ln>
            <a:solidFill>
              <a:schemeClr val="bg1"/>
            </a:solidFill>
            <a:miter lim="800000"/>
            <a:headEnd/>
            <a:tailEnd/>
          </a:ln>
        </p:spPr>
        <p:txBody>
          <a:bodyPr/>
          <a:lstStyle/>
          <a:p>
            <a:r>
              <a:rPr lang="en-US" altLang="en-US" sz="4000" b="1">
                <a:solidFill>
                  <a:srgbClr val="FF0000"/>
                </a:solidFill>
              </a:rPr>
              <a:t>Dislocations</a:t>
            </a:r>
            <a:endParaRPr lang="en-US" altLang="en-US" sz="3200" b="1">
              <a:solidFill>
                <a:srgbClr val="FF0000"/>
              </a:solidFill>
            </a:endParaRPr>
          </a:p>
        </p:txBody>
      </p:sp>
      <p:sp>
        <p:nvSpPr>
          <p:cNvPr id="37891" name="Rectangle 3"/>
          <p:cNvSpPr>
            <a:spLocks noChangeArrowheads="1"/>
          </p:cNvSpPr>
          <p:nvPr/>
        </p:nvSpPr>
        <p:spPr bwMode="auto">
          <a:xfrm>
            <a:off x="152400" y="914400"/>
            <a:ext cx="8763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r>
              <a:rPr lang="en-US" altLang="en-US" sz="2400" b="1">
                <a:solidFill>
                  <a:srgbClr val="FF0000"/>
                </a:solidFill>
              </a:rPr>
              <a:t>Dislocations </a:t>
            </a:r>
            <a:r>
              <a:rPr lang="en-US" altLang="en-US" sz="2400" b="1"/>
              <a:t>are very important</a:t>
            </a:r>
            <a:r>
              <a:rPr lang="en-US" altLang="en-US" sz="2400" b="1">
                <a:solidFill>
                  <a:schemeClr val="tx2"/>
                </a:solidFill>
              </a:rPr>
              <a:t>, perhaps </a:t>
            </a:r>
            <a:r>
              <a:rPr lang="en-US" altLang="en-US" sz="2400" b="1">
                <a:solidFill>
                  <a:srgbClr val="FF0000"/>
                </a:solidFill>
              </a:rPr>
              <a:t>THE most important imperfection</a:t>
            </a:r>
            <a:r>
              <a:rPr lang="en-US" altLang="en-US" sz="2400" b="1">
                <a:solidFill>
                  <a:schemeClr val="tx2"/>
                </a:solidFill>
              </a:rPr>
              <a:t> in real materials.</a:t>
            </a:r>
          </a:p>
          <a:p>
            <a:endParaRPr lang="en-US" altLang="en-US" sz="2400" b="1">
              <a:solidFill>
                <a:schemeClr val="tx2"/>
              </a:solidFill>
            </a:endParaRPr>
          </a:p>
          <a:p>
            <a:r>
              <a:rPr lang="en-US" altLang="en-US" sz="2400" b="1">
                <a:solidFill>
                  <a:schemeClr val="tx2"/>
                </a:solidFill>
              </a:rPr>
              <a:t>Dislocations are line imperfections in otherwise perfect lattices.</a:t>
            </a:r>
          </a:p>
          <a:p>
            <a:endParaRPr lang="en-US" altLang="en-US" sz="2400" b="1">
              <a:solidFill>
                <a:schemeClr val="tx2"/>
              </a:solidFill>
            </a:endParaRPr>
          </a:p>
          <a:p>
            <a:r>
              <a:rPr lang="en-US" altLang="en-US" sz="2400" b="1">
                <a:solidFill>
                  <a:schemeClr val="tx2"/>
                </a:solidFill>
              </a:rPr>
              <a:t>Dislocations are formed during solidification because of thermal contraction stresses or when the material is deformed.</a:t>
            </a:r>
          </a:p>
          <a:p>
            <a:endParaRPr lang="en-US" altLang="en-US" sz="2400" b="1">
              <a:solidFill>
                <a:schemeClr val="tx2"/>
              </a:solidFill>
            </a:endParaRPr>
          </a:p>
          <a:p>
            <a:r>
              <a:rPr lang="en-US" altLang="en-US" sz="2400" b="1">
                <a:solidFill>
                  <a:schemeClr val="tx2"/>
                </a:solidFill>
              </a:rPr>
              <a:t>Dislocations strongly affect the mechanical, electrical and photonic properties of materials.</a:t>
            </a:r>
          </a:p>
        </p:txBody>
      </p:sp>
    </p:spTree>
  </p:cSld>
  <p:clrMapOvr>
    <a:masterClrMapping/>
  </p:clrMapOvr>
  <p:transition>
    <p:pull dir="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85800" y="114300"/>
            <a:ext cx="7772400" cy="723900"/>
          </a:xfrm>
          <a:solidFill>
            <a:schemeClr val="bg1"/>
          </a:solidFill>
          <a:ln>
            <a:solidFill>
              <a:schemeClr val="bg1"/>
            </a:solidFill>
            <a:miter lim="800000"/>
            <a:headEnd/>
            <a:tailEnd/>
          </a:ln>
        </p:spPr>
        <p:txBody>
          <a:bodyPr/>
          <a:lstStyle/>
          <a:p>
            <a:r>
              <a:rPr lang="en-US" altLang="en-US" sz="4000" b="1">
                <a:solidFill>
                  <a:srgbClr val="FF0000"/>
                </a:solidFill>
              </a:rPr>
              <a:t>Dislocations</a:t>
            </a:r>
            <a:endParaRPr lang="en-US" altLang="en-US" sz="3200" b="1">
              <a:solidFill>
                <a:srgbClr val="FF0000"/>
              </a:solidFill>
            </a:endParaRPr>
          </a:p>
        </p:txBody>
      </p:sp>
      <p:sp>
        <p:nvSpPr>
          <p:cNvPr id="39939" name="Rectangle 3"/>
          <p:cNvSpPr>
            <a:spLocks noChangeArrowheads="1"/>
          </p:cNvSpPr>
          <p:nvPr/>
        </p:nvSpPr>
        <p:spPr bwMode="auto">
          <a:xfrm>
            <a:off x="495300" y="1027113"/>
            <a:ext cx="81534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r>
              <a:rPr lang="en-US" altLang="en-US" sz="2800" b="1">
                <a:solidFill>
                  <a:schemeClr val="tx2"/>
                </a:solidFill>
              </a:rPr>
              <a:t>There are </a:t>
            </a:r>
            <a:r>
              <a:rPr lang="en-US" altLang="en-US" sz="2800" b="1">
                <a:solidFill>
                  <a:srgbClr val="FF0000"/>
                </a:solidFill>
              </a:rPr>
              <a:t>two basic types </a:t>
            </a:r>
            <a:r>
              <a:rPr lang="en-US" altLang="en-US" sz="2800" b="1">
                <a:solidFill>
                  <a:schemeClr val="tx2"/>
                </a:solidFill>
              </a:rPr>
              <a:t>of dislocations </a:t>
            </a:r>
          </a:p>
          <a:p>
            <a:endParaRPr lang="en-US" altLang="en-US" sz="2800" b="1">
              <a:solidFill>
                <a:schemeClr val="tx2"/>
              </a:solidFill>
            </a:endParaRPr>
          </a:p>
          <a:p>
            <a:pPr lvl="2"/>
            <a:r>
              <a:rPr lang="en-US" altLang="en-US" sz="2800" b="1">
                <a:solidFill>
                  <a:srgbClr val="FF0000"/>
                </a:solidFill>
              </a:rPr>
              <a:t>edge and screw.</a:t>
            </a:r>
          </a:p>
          <a:p>
            <a:endParaRPr lang="en-US" altLang="en-US" sz="2400" b="1">
              <a:solidFill>
                <a:srgbClr val="FF0000"/>
              </a:solidFill>
            </a:endParaRPr>
          </a:p>
          <a:p>
            <a:r>
              <a:rPr lang="en-US" altLang="en-US" sz="2400" b="1">
                <a:solidFill>
                  <a:schemeClr val="tx2"/>
                </a:solidFill>
              </a:rPr>
              <a:t>Dislocations are described by the following three crystal structures.</a:t>
            </a:r>
          </a:p>
          <a:p>
            <a:endParaRPr lang="en-US" altLang="en-US" sz="2400" b="1">
              <a:solidFill>
                <a:schemeClr val="tx2"/>
              </a:solidFill>
            </a:endParaRPr>
          </a:p>
          <a:p>
            <a:pPr lvl="2"/>
            <a:r>
              <a:rPr lang="en-US" altLang="en-US" sz="2800" b="1">
                <a:solidFill>
                  <a:srgbClr val="FF0000"/>
                </a:solidFill>
              </a:rPr>
              <a:t>Burgers vector </a:t>
            </a:r>
          </a:p>
          <a:p>
            <a:pPr lvl="2"/>
            <a:r>
              <a:rPr lang="en-US" altLang="en-US" sz="2800" b="1">
                <a:solidFill>
                  <a:srgbClr val="FF0000"/>
                </a:solidFill>
              </a:rPr>
              <a:t>line direction</a:t>
            </a:r>
          </a:p>
          <a:p>
            <a:pPr lvl="2"/>
            <a:r>
              <a:rPr lang="en-US" altLang="en-US" sz="2800" b="1">
                <a:solidFill>
                  <a:srgbClr val="FF0000"/>
                </a:solidFill>
              </a:rPr>
              <a:t>habit plane</a:t>
            </a:r>
            <a:endParaRPr lang="en-US" altLang="en-US" sz="2800" b="1">
              <a:solidFill>
                <a:schemeClr val="tx2"/>
              </a:solidFill>
            </a:endParaRPr>
          </a:p>
        </p:txBody>
      </p:sp>
    </p:spTree>
  </p:cSld>
  <p:clrMapOvr>
    <a:masterClrMapping/>
  </p:clrMapOvr>
  <p:transition>
    <p:pull dir="ru"/>
  </p:transition>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41986" name="Picture 3" descr="Fig 4-4 - scre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85800"/>
            <a:ext cx="9144000"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Text Box 4"/>
          <p:cNvSpPr txBox="1">
            <a:spLocks noChangeArrowheads="1"/>
          </p:cNvSpPr>
          <p:nvPr/>
        </p:nvSpPr>
        <p:spPr bwMode="auto">
          <a:xfrm>
            <a:off x="0" y="3813175"/>
            <a:ext cx="9144000" cy="30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latin typeface="Arial" charset="0"/>
              </a:rPr>
              <a:t>The perfect crystal in a) is </a:t>
            </a:r>
            <a:r>
              <a:rPr lang="en-US" altLang="en-US" sz="2400" b="1">
                <a:solidFill>
                  <a:srgbClr val="FF0000"/>
                </a:solidFill>
                <a:latin typeface="Arial" charset="0"/>
              </a:rPr>
              <a:t>cut and sheared one atom spacing</a:t>
            </a:r>
            <a:r>
              <a:rPr lang="en-US" altLang="en-US" sz="2400" b="1">
                <a:latin typeface="Arial" charset="0"/>
              </a:rPr>
              <a:t> in b) and c).  The line along which the shearing occurs is a screw dislocation.  A </a:t>
            </a:r>
            <a:r>
              <a:rPr lang="en-US" altLang="en-US" sz="2400" b="1">
                <a:solidFill>
                  <a:srgbClr val="FF0000"/>
                </a:solidFill>
                <a:latin typeface="Arial" charset="0"/>
              </a:rPr>
              <a:t>Burgers vector, b</a:t>
            </a:r>
            <a:r>
              <a:rPr lang="en-US" altLang="en-US" sz="2400" b="1">
                <a:latin typeface="Arial" charset="0"/>
              </a:rPr>
              <a:t>, is required to close a loop of equal atom spacings around the screw dislocation. The </a:t>
            </a:r>
            <a:r>
              <a:rPr lang="en-US" altLang="en-US" sz="2400" b="1">
                <a:solidFill>
                  <a:srgbClr val="FF0000"/>
                </a:solidFill>
                <a:latin typeface="Arial" charset="0"/>
              </a:rPr>
              <a:t>Burgers vector </a:t>
            </a:r>
            <a:r>
              <a:rPr lang="en-US" altLang="en-US" sz="2400" b="1">
                <a:latin typeface="Arial" charset="0"/>
              </a:rPr>
              <a:t>and </a:t>
            </a:r>
            <a:r>
              <a:rPr lang="en-US" altLang="en-US" sz="2400" b="1">
                <a:solidFill>
                  <a:srgbClr val="FF0000"/>
                </a:solidFill>
                <a:latin typeface="Arial" charset="0"/>
              </a:rPr>
              <a:t>screw dislocation line direction, u</a:t>
            </a:r>
            <a:r>
              <a:rPr lang="en-US" altLang="en-US" sz="2400" b="1">
                <a:latin typeface="Arial" charset="0"/>
              </a:rPr>
              <a:t>, are in the </a:t>
            </a:r>
            <a:r>
              <a:rPr lang="en-US" altLang="en-US" sz="2400" b="1">
                <a:solidFill>
                  <a:srgbClr val="FF0000"/>
                </a:solidFill>
                <a:latin typeface="Arial" charset="0"/>
              </a:rPr>
              <a:t>same direction </a:t>
            </a:r>
            <a:r>
              <a:rPr lang="en-US" altLang="en-US" sz="2400" b="1">
                <a:latin typeface="Arial" charset="0"/>
              </a:rPr>
              <a:t>so there is </a:t>
            </a:r>
            <a:r>
              <a:rPr lang="en-US" altLang="en-US" sz="2400" b="1">
                <a:solidFill>
                  <a:srgbClr val="FF0000"/>
                </a:solidFill>
                <a:latin typeface="Arial" charset="0"/>
              </a:rPr>
              <a:t>no habit plane</a:t>
            </a:r>
            <a:r>
              <a:rPr lang="en-US" altLang="en-US" sz="2400" b="1">
                <a:latin typeface="Arial" charset="0"/>
              </a:rPr>
              <a:t>, just a line. The </a:t>
            </a:r>
            <a:r>
              <a:rPr lang="en-US" altLang="en-US" sz="2400" b="1">
                <a:solidFill>
                  <a:srgbClr val="FF0000"/>
                </a:solidFill>
                <a:latin typeface="Arial" charset="0"/>
              </a:rPr>
              <a:t>line</a:t>
            </a:r>
            <a:r>
              <a:rPr lang="en-US" altLang="en-US" sz="2400" b="1">
                <a:latin typeface="Arial" charset="0"/>
              </a:rPr>
              <a:t> though </a:t>
            </a:r>
            <a:r>
              <a:rPr lang="en-US" altLang="en-US" sz="2400" b="1">
                <a:solidFill>
                  <a:srgbClr val="FF0000"/>
                </a:solidFill>
                <a:latin typeface="Arial" charset="0"/>
              </a:rPr>
              <a:t>exists on an atomic plane </a:t>
            </a:r>
            <a:r>
              <a:rPr lang="en-US" altLang="en-US" sz="2400" b="1">
                <a:latin typeface="Arial" charset="0"/>
              </a:rPr>
              <a:t>called a </a:t>
            </a:r>
            <a:r>
              <a:rPr lang="en-US" altLang="en-US" sz="2400" b="1">
                <a:solidFill>
                  <a:srgbClr val="FF0000"/>
                </a:solidFill>
                <a:latin typeface="Arial" charset="0"/>
              </a:rPr>
              <a:t>habit plane or glide plane</a:t>
            </a:r>
            <a:r>
              <a:rPr lang="en-US" altLang="en-US" sz="2400" b="1">
                <a:latin typeface="Arial" charset="0"/>
              </a:rPr>
              <a:t>.</a:t>
            </a:r>
          </a:p>
        </p:txBody>
      </p:sp>
      <p:sp>
        <p:nvSpPr>
          <p:cNvPr id="41988" name="Text Box 5"/>
          <p:cNvSpPr txBox="1">
            <a:spLocks noChangeArrowheads="1"/>
          </p:cNvSpPr>
          <p:nvPr/>
        </p:nvSpPr>
        <p:spPr bwMode="auto">
          <a:xfrm>
            <a:off x="2651125" y="44450"/>
            <a:ext cx="3676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3600" b="1"/>
              <a:t>Screw Dislocation</a:t>
            </a:r>
          </a:p>
        </p:txBody>
      </p:sp>
      <p:sp>
        <p:nvSpPr>
          <p:cNvPr id="41989" name="Line 6"/>
          <p:cNvSpPr>
            <a:spLocks noChangeShapeType="1"/>
          </p:cNvSpPr>
          <p:nvPr/>
        </p:nvSpPr>
        <p:spPr bwMode="auto">
          <a:xfrm flipV="1">
            <a:off x="7924800" y="6858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1990" name="Text Box 7"/>
          <p:cNvSpPr txBox="1">
            <a:spLocks noChangeArrowheads="1"/>
          </p:cNvSpPr>
          <p:nvPr/>
        </p:nvSpPr>
        <p:spPr bwMode="auto">
          <a:xfrm>
            <a:off x="7985125" y="727075"/>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u</a:t>
            </a:r>
          </a:p>
        </p:txBody>
      </p:sp>
    </p:spTree>
  </p:cSld>
  <p:clrMapOvr>
    <a:masterClrMapping/>
  </p:clrMapOvr>
  <p:transition>
    <p:pull dir="ru"/>
  </p:transition>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44034" name="Picture 3" descr="Fig 4-5 - ed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16025"/>
            <a:ext cx="8915400" cy="298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Text Box 4"/>
          <p:cNvSpPr txBox="1">
            <a:spLocks noChangeArrowheads="1"/>
          </p:cNvSpPr>
          <p:nvPr/>
        </p:nvSpPr>
        <p:spPr bwMode="auto">
          <a:xfrm>
            <a:off x="142875" y="4114800"/>
            <a:ext cx="8848725"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The perfect crystal in a) is </a:t>
            </a:r>
            <a:r>
              <a:rPr lang="en-US" altLang="en-US" sz="2400" b="1">
                <a:solidFill>
                  <a:srgbClr val="FF0000"/>
                </a:solidFill>
              </a:rPr>
              <a:t>cut and an extra plane of atoms is inserted</a:t>
            </a:r>
            <a:r>
              <a:rPr lang="en-US" altLang="en-US" sz="2400" b="1"/>
              <a:t> in b).  The bottom edge of the extra plane is an edge dislocation in c).  A </a:t>
            </a:r>
            <a:r>
              <a:rPr lang="en-US" altLang="en-US" sz="2400" b="1">
                <a:solidFill>
                  <a:srgbClr val="FF0000"/>
                </a:solidFill>
              </a:rPr>
              <a:t>Burgers vector b </a:t>
            </a:r>
            <a:r>
              <a:rPr lang="en-US" altLang="en-US" sz="2400" b="1"/>
              <a:t>is required to close a loop of equal atom spacings around the edge dislocation. b is </a:t>
            </a:r>
            <a:r>
              <a:rPr lang="en-US" altLang="en-US" sz="2400" b="1">
                <a:solidFill>
                  <a:srgbClr val="FF0000"/>
                </a:solidFill>
              </a:rPr>
              <a:t>perpendicular</a:t>
            </a:r>
            <a:r>
              <a:rPr lang="en-US" altLang="en-US" sz="2400" b="1"/>
              <a:t> to the dislocation </a:t>
            </a:r>
            <a:r>
              <a:rPr lang="en-US" altLang="en-US" sz="2400" b="1">
                <a:solidFill>
                  <a:srgbClr val="FF0000"/>
                </a:solidFill>
              </a:rPr>
              <a:t>line direction, u</a:t>
            </a:r>
            <a:r>
              <a:rPr lang="en-US" altLang="en-US" sz="2400" b="1"/>
              <a:t>, so </a:t>
            </a:r>
            <a:r>
              <a:rPr lang="en-US" altLang="en-US" sz="2400" b="1">
                <a:solidFill>
                  <a:srgbClr val="FF0000"/>
                </a:solidFill>
              </a:rPr>
              <a:t>there is a habit plane</a:t>
            </a:r>
            <a:r>
              <a:rPr lang="en-US" altLang="en-US" sz="2400" b="1"/>
              <a:t>, which most often lies on a </a:t>
            </a:r>
            <a:r>
              <a:rPr lang="en-US" altLang="en-US" sz="2400" b="1">
                <a:solidFill>
                  <a:srgbClr val="FF0000"/>
                </a:solidFill>
              </a:rPr>
              <a:t>close packed atomic plane, </a:t>
            </a:r>
            <a:r>
              <a:rPr lang="en-US" altLang="en-US" sz="2400" b="1"/>
              <a:t>often the </a:t>
            </a:r>
            <a:r>
              <a:rPr lang="en-US" altLang="en-US" sz="2400" b="1">
                <a:solidFill>
                  <a:srgbClr val="FF0000"/>
                </a:solidFill>
              </a:rPr>
              <a:t>glide plane</a:t>
            </a:r>
            <a:r>
              <a:rPr lang="en-US" altLang="en-US" sz="2400" b="1"/>
              <a:t>.</a:t>
            </a:r>
          </a:p>
        </p:txBody>
      </p:sp>
      <p:sp>
        <p:nvSpPr>
          <p:cNvPr id="44036" name="Text Box 5"/>
          <p:cNvSpPr txBox="1">
            <a:spLocks noChangeArrowheads="1"/>
          </p:cNvSpPr>
          <p:nvPr/>
        </p:nvSpPr>
        <p:spPr bwMode="auto">
          <a:xfrm>
            <a:off x="746125" y="3546475"/>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a:t>a)</a:t>
            </a:r>
          </a:p>
        </p:txBody>
      </p:sp>
      <p:sp>
        <p:nvSpPr>
          <p:cNvPr id="44037" name="Text Box 6"/>
          <p:cNvSpPr txBox="1">
            <a:spLocks noChangeArrowheads="1"/>
          </p:cNvSpPr>
          <p:nvPr/>
        </p:nvSpPr>
        <p:spPr bwMode="auto">
          <a:xfrm>
            <a:off x="3717925" y="3622675"/>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a:t>b)</a:t>
            </a:r>
          </a:p>
        </p:txBody>
      </p:sp>
      <p:sp>
        <p:nvSpPr>
          <p:cNvPr id="44038" name="Text Box 7"/>
          <p:cNvSpPr txBox="1">
            <a:spLocks noChangeArrowheads="1"/>
          </p:cNvSpPr>
          <p:nvPr/>
        </p:nvSpPr>
        <p:spPr bwMode="auto">
          <a:xfrm>
            <a:off x="7070725" y="3698875"/>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a:t>c)</a:t>
            </a:r>
          </a:p>
        </p:txBody>
      </p:sp>
      <p:sp>
        <p:nvSpPr>
          <p:cNvPr id="44039" name="Text Box 8"/>
          <p:cNvSpPr txBox="1">
            <a:spLocks noChangeArrowheads="1"/>
          </p:cNvSpPr>
          <p:nvPr/>
        </p:nvSpPr>
        <p:spPr bwMode="auto">
          <a:xfrm>
            <a:off x="2825750" y="196850"/>
            <a:ext cx="3506788"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3600" b="1"/>
              <a:t>Edge Dislocation</a:t>
            </a:r>
          </a:p>
        </p:txBody>
      </p:sp>
      <p:sp>
        <p:nvSpPr>
          <p:cNvPr id="44040" name="Text Box 9"/>
          <p:cNvSpPr txBox="1">
            <a:spLocks noChangeArrowheads="1"/>
          </p:cNvSpPr>
          <p:nvPr/>
        </p:nvSpPr>
        <p:spPr bwMode="auto">
          <a:xfrm>
            <a:off x="3200400" y="6384925"/>
            <a:ext cx="5826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000" b="1">
                <a:solidFill>
                  <a:schemeClr val="accent2"/>
                </a:solidFill>
              </a:rPr>
              <a:t>What are these planes for FCC and BCC materials?</a:t>
            </a:r>
          </a:p>
        </p:txBody>
      </p:sp>
      <p:sp>
        <p:nvSpPr>
          <p:cNvPr id="44041" name="Line 10"/>
          <p:cNvSpPr>
            <a:spLocks noChangeShapeType="1"/>
          </p:cNvSpPr>
          <p:nvPr/>
        </p:nvSpPr>
        <p:spPr bwMode="auto">
          <a:xfrm flipV="1">
            <a:off x="7772400" y="1295400"/>
            <a:ext cx="4572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4042" name="Text Box 11"/>
          <p:cNvSpPr txBox="1">
            <a:spLocks noChangeArrowheads="1"/>
          </p:cNvSpPr>
          <p:nvPr/>
        </p:nvSpPr>
        <p:spPr bwMode="auto">
          <a:xfrm>
            <a:off x="8289925" y="1108075"/>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u</a:t>
            </a:r>
          </a:p>
        </p:txBody>
      </p:sp>
    </p:spTree>
  </p:cSld>
  <p:clrMapOvr>
    <a:masterClrMapping/>
  </p:clrMapOvr>
  <p:transition>
    <p:pull dir="ru"/>
  </p:transition>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46082" name="Picture 3" descr="Fig 4-6 - mix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7463"/>
            <a:ext cx="5943600" cy="471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Text Box 4"/>
          <p:cNvSpPr txBox="1">
            <a:spLocks noChangeArrowheads="1"/>
          </p:cNvSpPr>
          <p:nvPr/>
        </p:nvSpPr>
        <p:spPr bwMode="auto">
          <a:xfrm>
            <a:off x="0" y="4876800"/>
            <a:ext cx="91440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A </a:t>
            </a:r>
            <a:r>
              <a:rPr lang="en-US" altLang="en-US" sz="2400" b="1">
                <a:solidFill>
                  <a:srgbClr val="FF0000"/>
                </a:solidFill>
              </a:rPr>
              <a:t>mixed dislocation</a:t>
            </a:r>
            <a:r>
              <a:rPr lang="en-US" altLang="en-US" sz="2400" b="1"/>
              <a:t> showing a screw dislocation at the front of the crystal gradually changing to an edge dislocation at the side of the crystal.  Note that the line direction of the dislocation lying on the glide plane is parallel to the Burgers vector of the screw dislocation and perpendicular to the edge dislocation.</a:t>
            </a:r>
            <a:endParaRPr lang="en-US" altLang="en-US" sz="2400" b="1">
              <a:solidFill>
                <a:schemeClr val="accent2"/>
              </a:solidFill>
            </a:endParaRPr>
          </a:p>
        </p:txBody>
      </p:sp>
    </p:spTree>
  </p:cSld>
  <p:clrMapOvr>
    <a:masterClrMapping/>
  </p:clrMapOvr>
  <p:transition>
    <p:pull dir="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descr="Fig 3-21 - repeat distance &amp; packing efficienc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971800"/>
            <a:ext cx="4572000"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1" name="Rectangle 3"/>
          <p:cNvSpPr>
            <a:spLocks noGrp="1" noChangeArrowheads="1"/>
          </p:cNvSpPr>
          <p:nvPr>
            <p:ph type="title"/>
          </p:nvPr>
        </p:nvSpPr>
        <p:spPr>
          <a:xfrm>
            <a:off x="381000" y="-85725"/>
            <a:ext cx="8458200" cy="596900"/>
          </a:xfrm>
          <a:solidFill>
            <a:schemeClr val="bg1"/>
          </a:solidFill>
          <a:ln>
            <a:solidFill>
              <a:schemeClr val="bg1"/>
            </a:solidFill>
            <a:miter lim="800000"/>
            <a:headEnd/>
            <a:tailEnd/>
          </a:ln>
        </p:spPr>
        <p:txBody>
          <a:bodyPr/>
          <a:lstStyle/>
          <a:p>
            <a:r>
              <a:rPr lang="en-US" altLang="en-US" sz="2800" b="1">
                <a:solidFill>
                  <a:srgbClr val="FF0000"/>
                </a:solidFill>
              </a:rPr>
              <a:t>Repeat Distance</a:t>
            </a:r>
          </a:p>
        </p:txBody>
      </p:sp>
      <p:sp>
        <p:nvSpPr>
          <p:cNvPr id="48132" name="Rectangle 4"/>
          <p:cNvSpPr>
            <a:spLocks noChangeArrowheads="1"/>
          </p:cNvSpPr>
          <p:nvPr/>
        </p:nvSpPr>
        <p:spPr bwMode="auto">
          <a:xfrm>
            <a:off x="412750" y="609600"/>
            <a:ext cx="87312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r>
              <a:rPr lang="en-US" altLang="en-US" sz="2400" b="1">
                <a:solidFill>
                  <a:schemeClr val="tx2"/>
                </a:solidFill>
              </a:rPr>
              <a:t>A means to characterize crystal directions is by the </a:t>
            </a:r>
            <a:r>
              <a:rPr lang="en-US" altLang="en-US" sz="2400" b="1">
                <a:solidFill>
                  <a:srgbClr val="FF0000"/>
                </a:solidFill>
              </a:rPr>
              <a:t>repeat distance</a:t>
            </a:r>
            <a:r>
              <a:rPr lang="en-US" altLang="en-US" sz="2400" b="1">
                <a:solidFill>
                  <a:schemeClr val="tx2"/>
                </a:solidFill>
              </a:rPr>
              <a:t> or distance between the lattice points or atomic positions along a direction.</a:t>
            </a:r>
          </a:p>
          <a:p>
            <a:r>
              <a:rPr lang="en-US" altLang="en-US" sz="2400" b="1">
                <a:solidFill>
                  <a:schemeClr val="tx2"/>
                </a:solidFill>
              </a:rPr>
              <a:t>For example, for a FCC crystal, if we start at 0, 0, 0 location the next closest lattice point is at the ½, ½, 0 site.</a:t>
            </a:r>
          </a:p>
          <a:p>
            <a:r>
              <a:rPr lang="en-US" altLang="en-US" sz="2400" b="1">
                <a:solidFill>
                  <a:schemeClr val="tx2"/>
                </a:solidFill>
              </a:rPr>
              <a:t>The distance is then ½ of the face diagonal as shown below.</a:t>
            </a:r>
          </a:p>
        </p:txBody>
      </p:sp>
      <p:sp>
        <p:nvSpPr>
          <p:cNvPr id="48133" name="TextBox 1"/>
          <p:cNvSpPr txBox="1">
            <a:spLocks noChangeArrowheads="1"/>
          </p:cNvSpPr>
          <p:nvPr/>
        </p:nvSpPr>
        <p:spPr bwMode="auto">
          <a:xfrm>
            <a:off x="247650" y="3429000"/>
            <a:ext cx="29829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b="1"/>
              <a:t>For FCC dislocations</a:t>
            </a:r>
          </a:p>
          <a:p>
            <a:r>
              <a:rPr lang="en-US" altLang="en-US" b="1" u="sng"/>
              <a:t>B</a:t>
            </a:r>
            <a:r>
              <a:rPr lang="en-US" altLang="en-US" b="1"/>
              <a:t> = a</a:t>
            </a:r>
            <a:r>
              <a:rPr lang="en-US" altLang="en-US" b="1" baseline="-25000"/>
              <a:t>o</a:t>
            </a:r>
            <a:r>
              <a:rPr lang="en-US" altLang="en-US" b="1"/>
              <a:t>/2 &lt;110&gt;{111}</a:t>
            </a:r>
          </a:p>
        </p:txBody>
      </p:sp>
    </p:spTree>
  </p:cSld>
  <p:clrMapOvr>
    <a:masterClrMapping/>
  </p:clrMapOvr>
  <p:transition>
    <p:pull dir="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85800" y="114300"/>
            <a:ext cx="7772400" cy="342900"/>
          </a:xfrm>
          <a:solidFill>
            <a:schemeClr val="bg1"/>
          </a:solidFill>
          <a:ln>
            <a:solidFill>
              <a:schemeClr val="bg1"/>
            </a:solidFill>
            <a:miter lim="800000"/>
            <a:headEnd/>
            <a:tailEnd/>
          </a:ln>
        </p:spPr>
        <p:txBody>
          <a:bodyPr/>
          <a:lstStyle/>
          <a:p>
            <a:r>
              <a:rPr lang="en-US" altLang="en-US" sz="4000">
                <a:solidFill>
                  <a:srgbClr val="FF0000"/>
                </a:solidFill>
              </a:rPr>
              <a:t>Dislocation’s Burgers Vector</a:t>
            </a:r>
            <a:endParaRPr lang="en-US" altLang="en-US" sz="3200">
              <a:solidFill>
                <a:srgbClr val="FF0000"/>
              </a:solidFill>
            </a:endParaRPr>
          </a:p>
        </p:txBody>
      </p:sp>
      <p:sp>
        <p:nvSpPr>
          <p:cNvPr id="50179" name="Rectangle 3"/>
          <p:cNvSpPr>
            <a:spLocks noChangeArrowheads="1"/>
          </p:cNvSpPr>
          <p:nvPr/>
        </p:nvSpPr>
        <p:spPr bwMode="auto">
          <a:xfrm>
            <a:off x="609600" y="874713"/>
            <a:ext cx="82296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buFontTx/>
              <a:buNone/>
            </a:pPr>
            <a:r>
              <a:rPr lang="en-US" altLang="en-US" sz="2800" b="1">
                <a:solidFill>
                  <a:schemeClr val="accent2"/>
                </a:solidFill>
              </a:rPr>
              <a:t>See, example 4-7 - Calculate the length of the Burgers vector in copper. </a:t>
            </a:r>
          </a:p>
          <a:p>
            <a:pPr>
              <a:buFontTx/>
              <a:buNone/>
            </a:pPr>
            <a:endParaRPr lang="en-US" altLang="en-US" sz="2800" b="1">
              <a:solidFill>
                <a:schemeClr val="accent2"/>
              </a:solidFill>
            </a:endParaRPr>
          </a:p>
          <a:p>
            <a:pPr>
              <a:buFontTx/>
              <a:buNone/>
            </a:pPr>
            <a:r>
              <a:rPr lang="en-US" altLang="en-US" sz="2800" b="1"/>
              <a:t>Note that often the Burgers vector is the </a:t>
            </a:r>
            <a:r>
              <a:rPr lang="en-US" altLang="en-US" sz="2800" b="1">
                <a:solidFill>
                  <a:srgbClr val="FF0000"/>
                </a:solidFill>
              </a:rPr>
              <a:t>repeat distance</a:t>
            </a:r>
            <a:r>
              <a:rPr lang="en-US" altLang="en-US" sz="2800" b="1"/>
              <a:t> between the atoms in the close packed plane. </a:t>
            </a:r>
          </a:p>
          <a:p>
            <a:pPr>
              <a:buFontTx/>
              <a:buNone/>
            </a:pPr>
            <a:endParaRPr lang="en-US" altLang="en-US" sz="800" b="1"/>
          </a:p>
          <a:p>
            <a:pPr>
              <a:buFontTx/>
              <a:buNone/>
            </a:pPr>
            <a:r>
              <a:rPr lang="en-US" altLang="en-US" sz="2800" b="1"/>
              <a:t>Since BCC materials don’t have close packed planes, the ones often used have high densities such as the {110} and {112} planes gliding in the &lt;111&gt; directions on those planes. </a:t>
            </a:r>
          </a:p>
        </p:txBody>
      </p:sp>
      <p:sp>
        <p:nvSpPr>
          <p:cNvPr id="50180" name="TextBox 3"/>
          <p:cNvSpPr txBox="1">
            <a:spLocks noChangeArrowheads="1"/>
          </p:cNvSpPr>
          <p:nvPr/>
        </p:nvSpPr>
        <p:spPr bwMode="auto">
          <a:xfrm>
            <a:off x="3022600" y="5572125"/>
            <a:ext cx="59261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b="1"/>
              <a:t>For BCC dislocations</a:t>
            </a:r>
          </a:p>
          <a:p>
            <a:r>
              <a:rPr lang="en-US" altLang="en-US" b="1" u="sng"/>
              <a:t>B</a:t>
            </a:r>
            <a:r>
              <a:rPr lang="en-US" altLang="en-US" b="1"/>
              <a:t> = a</a:t>
            </a:r>
            <a:r>
              <a:rPr lang="en-US" altLang="en-US" b="1" baseline="-25000"/>
              <a:t>o</a:t>
            </a:r>
            <a:r>
              <a:rPr lang="en-US" altLang="en-US" b="1"/>
              <a:t>/3 &lt;111&gt;{110} or </a:t>
            </a:r>
            <a:r>
              <a:rPr lang="en-US" altLang="en-US" b="1" u="sng"/>
              <a:t>B</a:t>
            </a:r>
            <a:r>
              <a:rPr lang="en-US" altLang="en-US" b="1"/>
              <a:t> = a</a:t>
            </a:r>
            <a:r>
              <a:rPr lang="en-US" altLang="en-US" b="1" baseline="-25000"/>
              <a:t>o</a:t>
            </a:r>
            <a:r>
              <a:rPr lang="en-US" altLang="en-US" b="1"/>
              <a:t>/3 &lt;111&gt;{112} or </a:t>
            </a:r>
            <a:r>
              <a:rPr lang="en-US" altLang="en-US" b="1" u="sng"/>
              <a:t>B</a:t>
            </a:r>
            <a:r>
              <a:rPr lang="en-US" altLang="en-US" b="1"/>
              <a:t> = a</a:t>
            </a:r>
            <a:r>
              <a:rPr lang="en-US" altLang="en-US" b="1" baseline="-25000"/>
              <a:t>o</a:t>
            </a:r>
            <a:r>
              <a:rPr lang="en-US" altLang="en-US" b="1"/>
              <a:t>/3 &lt;111&gt;{113} </a:t>
            </a:r>
          </a:p>
        </p:txBody>
      </p:sp>
    </p:spTree>
  </p:cSld>
  <p:clrMapOvr>
    <a:masterClrMapping/>
  </p:clrMapOvr>
  <p:transition>
    <p:pull dir="ru"/>
  </p:transition>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85800" y="114300"/>
            <a:ext cx="7772400" cy="342900"/>
          </a:xfrm>
          <a:solidFill>
            <a:schemeClr val="bg1"/>
          </a:solidFill>
          <a:ln>
            <a:solidFill>
              <a:schemeClr val="bg1"/>
            </a:solidFill>
            <a:miter lim="800000"/>
            <a:headEnd/>
            <a:tailEnd/>
          </a:ln>
        </p:spPr>
        <p:txBody>
          <a:bodyPr/>
          <a:lstStyle/>
          <a:p>
            <a:r>
              <a:rPr lang="en-US" altLang="en-US" sz="4000" b="1">
                <a:solidFill>
                  <a:srgbClr val="FF0000"/>
                </a:solidFill>
              </a:rPr>
              <a:t>Surface Defects</a:t>
            </a:r>
            <a:endParaRPr lang="en-US" altLang="en-US" sz="3200" b="1">
              <a:solidFill>
                <a:srgbClr val="FF0000"/>
              </a:solidFill>
            </a:endParaRPr>
          </a:p>
        </p:txBody>
      </p:sp>
      <p:sp>
        <p:nvSpPr>
          <p:cNvPr id="530435" name="Rectangle 3"/>
          <p:cNvSpPr>
            <a:spLocks noChangeArrowheads="1"/>
          </p:cNvSpPr>
          <p:nvPr/>
        </p:nvSpPr>
        <p:spPr bwMode="auto">
          <a:xfrm>
            <a:off x="0" y="914400"/>
            <a:ext cx="91440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defRPr/>
            </a:pPr>
            <a:r>
              <a:rPr lang="en-US" altLang="en-US" sz="2400" b="1" dirty="0">
                <a:solidFill>
                  <a:schemeClr val="tx2"/>
                </a:solidFill>
              </a:rPr>
              <a:t>Surface defects are another type of imperfection in real materials.</a:t>
            </a:r>
          </a:p>
          <a:p>
            <a:pPr>
              <a:defRPr/>
            </a:pPr>
            <a:r>
              <a:rPr lang="en-US" altLang="en-US" sz="2400" b="1" dirty="0">
                <a:solidFill>
                  <a:schemeClr val="tx2"/>
                </a:solidFill>
              </a:rPr>
              <a:t>They consist of the </a:t>
            </a:r>
            <a:r>
              <a:rPr lang="en-US" altLang="en-US" sz="2400" b="1" dirty="0">
                <a:solidFill>
                  <a:srgbClr val="FF0000"/>
                </a:solidFill>
              </a:rPr>
              <a:t>boundaries</a:t>
            </a:r>
            <a:r>
              <a:rPr lang="en-US" altLang="en-US" sz="2400" b="1" dirty="0">
                <a:solidFill>
                  <a:schemeClr val="tx2"/>
                </a:solidFill>
              </a:rPr>
              <a:t> or planes that separate a material into regions of </a:t>
            </a:r>
            <a:r>
              <a:rPr lang="en-US" altLang="en-US" sz="2400" b="1" dirty="0">
                <a:solidFill>
                  <a:srgbClr val="FF0000"/>
                </a:solidFill>
              </a:rPr>
              <a:t>different crystal structures or orientations</a:t>
            </a:r>
            <a:r>
              <a:rPr lang="en-US" altLang="en-US" sz="2400" b="1" dirty="0">
                <a:solidFill>
                  <a:schemeClr val="tx2"/>
                </a:solidFill>
              </a:rPr>
              <a:t>.</a:t>
            </a:r>
          </a:p>
          <a:p>
            <a:pPr lvl="1">
              <a:defRPr/>
            </a:pPr>
            <a:r>
              <a:rPr lang="en-US" altLang="en-US" sz="2400" b="1" dirty="0">
                <a:solidFill>
                  <a:schemeClr val="tx2"/>
                </a:solidFill>
              </a:rPr>
              <a:t>The material’s </a:t>
            </a:r>
            <a:r>
              <a:rPr lang="en-US" altLang="en-US" sz="2400" b="1" dirty="0">
                <a:solidFill>
                  <a:srgbClr val="FF0000"/>
                </a:solidFill>
              </a:rPr>
              <a:t>surface</a:t>
            </a:r>
            <a:r>
              <a:rPr lang="en-US" altLang="en-US" sz="2400" b="1" dirty="0">
                <a:solidFill>
                  <a:schemeClr val="tx2"/>
                </a:solidFill>
              </a:rPr>
              <a:t> is one example</a:t>
            </a:r>
          </a:p>
          <a:p>
            <a:pPr lvl="1">
              <a:defRPr/>
            </a:pPr>
            <a:r>
              <a:rPr lang="en-US" altLang="en-US" sz="2400" b="1" dirty="0">
                <a:solidFill>
                  <a:srgbClr val="FF0000"/>
                </a:solidFill>
              </a:rPr>
              <a:t>Grain</a:t>
            </a:r>
            <a:r>
              <a:rPr lang="en-US" altLang="en-US" sz="2400" b="1" dirty="0">
                <a:solidFill>
                  <a:schemeClr val="tx2"/>
                </a:solidFill>
              </a:rPr>
              <a:t> </a:t>
            </a:r>
            <a:r>
              <a:rPr lang="en-US" altLang="en-US" sz="2400" b="1" dirty="0">
                <a:solidFill>
                  <a:srgbClr val="FF0000"/>
                </a:solidFill>
              </a:rPr>
              <a:t>boundaries</a:t>
            </a:r>
            <a:r>
              <a:rPr lang="en-US" altLang="en-US" sz="2400" b="1" dirty="0">
                <a:solidFill>
                  <a:schemeClr val="tx2"/>
                </a:solidFill>
              </a:rPr>
              <a:t> are another example of a surface defect.</a:t>
            </a:r>
          </a:p>
          <a:p>
            <a:pPr lvl="1">
              <a:defRPr/>
            </a:pPr>
            <a:r>
              <a:rPr lang="en-US" altLang="en-US" sz="2400" b="1" dirty="0">
                <a:solidFill>
                  <a:schemeClr val="tx2"/>
                </a:solidFill>
              </a:rPr>
              <a:t>Others are </a:t>
            </a:r>
            <a:r>
              <a:rPr lang="en-US" altLang="en-US" sz="2400" b="1" dirty="0">
                <a:solidFill>
                  <a:srgbClr val="FF0000"/>
                </a:solidFill>
              </a:rPr>
              <a:t>stacking faults, twin boundaries </a:t>
            </a:r>
            <a:r>
              <a:rPr lang="en-US" altLang="en-US" sz="2400" b="1" dirty="0"/>
              <a:t>and</a:t>
            </a:r>
            <a:r>
              <a:rPr lang="en-US" altLang="en-US" sz="2400" b="1" dirty="0">
                <a:solidFill>
                  <a:srgbClr val="FF0000"/>
                </a:solidFill>
              </a:rPr>
              <a:t> magnetic domain boundaries</a:t>
            </a:r>
            <a:r>
              <a:rPr lang="en-US" altLang="en-US" sz="2400" b="1" dirty="0">
                <a:solidFill>
                  <a:schemeClr val="tx2"/>
                </a:solidFill>
              </a:rPr>
              <a:t> </a:t>
            </a:r>
          </a:p>
          <a:p>
            <a:pPr>
              <a:defRPr/>
            </a:pPr>
            <a:r>
              <a:rPr lang="en-US" altLang="en-US" sz="2400" b="1" dirty="0">
                <a:solidFill>
                  <a:schemeClr val="tx2"/>
                </a:solidFill>
              </a:rPr>
              <a:t>Grain boundaries are narrow zones where the atoms are not properly spaced in which tension or compression exists.</a:t>
            </a:r>
          </a:p>
          <a:p>
            <a:pPr>
              <a:defRPr/>
            </a:pPr>
            <a:r>
              <a:rPr lang="en-US" altLang="en-US" sz="2400" b="1" dirty="0">
                <a:solidFill>
                  <a:srgbClr val="FF0000"/>
                </a:solidFill>
              </a:rPr>
              <a:t>Grain size </a:t>
            </a:r>
            <a:r>
              <a:rPr lang="en-US" altLang="en-US" sz="2400" b="1" dirty="0">
                <a:solidFill>
                  <a:schemeClr val="tx2"/>
                </a:solidFill>
              </a:rPr>
              <a:t>influences many material properties such as </a:t>
            </a:r>
            <a:r>
              <a:rPr lang="en-US" altLang="en-US" sz="2400" b="1" dirty="0">
                <a:solidFill>
                  <a:srgbClr val="FF0000"/>
                </a:solidFill>
              </a:rPr>
              <a:t>strength</a:t>
            </a:r>
            <a:r>
              <a:rPr lang="en-US" altLang="en-US" sz="2400" b="1" dirty="0">
                <a:solidFill>
                  <a:schemeClr val="tx2"/>
                </a:solidFill>
              </a:rPr>
              <a:t> and </a:t>
            </a:r>
            <a:r>
              <a:rPr lang="en-US" altLang="en-US" sz="2400" b="1" dirty="0">
                <a:solidFill>
                  <a:srgbClr val="FF0000"/>
                </a:solidFill>
              </a:rPr>
              <a:t>electrical conductivity</a:t>
            </a:r>
            <a:r>
              <a:rPr lang="en-US" altLang="en-US" sz="2400" b="1" dirty="0">
                <a:solidFill>
                  <a:schemeClr val="tx2"/>
                </a:solidFill>
              </a:rPr>
              <a:t>.</a:t>
            </a:r>
          </a:p>
          <a:p>
            <a:pPr lvl="1">
              <a:defRPr/>
            </a:pPr>
            <a:endParaRPr lang="en-US" altLang="en-US" sz="800" b="1" dirty="0">
              <a:solidFill>
                <a:schemeClr val="tx2"/>
              </a:solidFill>
            </a:endParaRPr>
          </a:p>
          <a:p>
            <a:pPr marL="457200" lvl="1" indent="0" algn="ctr">
              <a:buFontTx/>
              <a:buNone/>
              <a:defRPr/>
            </a:pPr>
            <a:r>
              <a:rPr lang="en-US" altLang="en-US" sz="3600" b="1" dirty="0">
                <a:solidFill>
                  <a:srgbClr val="002060"/>
                </a:solidFill>
              </a:rPr>
              <a:t>What is a grain?</a:t>
            </a:r>
          </a:p>
        </p:txBody>
      </p:sp>
    </p:spTree>
  </p:cSld>
  <p:clrMapOvr>
    <a:masterClrMapping/>
  </p:clrMapOvr>
  <p:transition>
    <p:pull dir="ru"/>
  </p:transition>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54274" name="Picture 2" descr="Fig 4-16 Grain Boundari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52400"/>
            <a:ext cx="91440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Text Box 3"/>
          <p:cNvSpPr txBox="1">
            <a:spLocks noChangeArrowheads="1"/>
          </p:cNvSpPr>
          <p:nvPr/>
        </p:nvSpPr>
        <p:spPr bwMode="auto">
          <a:xfrm>
            <a:off x="304800" y="4364038"/>
            <a:ext cx="8839200"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Grain boundaries showing in a) that the atoms at the boundaries near the three grains (referred to as a </a:t>
            </a:r>
            <a:r>
              <a:rPr lang="en-US" altLang="en-US" sz="2400" b="1">
                <a:solidFill>
                  <a:srgbClr val="FF0000"/>
                </a:solidFill>
              </a:rPr>
              <a:t>triple point</a:t>
            </a:r>
            <a:r>
              <a:rPr lang="en-US" altLang="en-US" sz="2400" b="1"/>
              <a:t>) do not have an equilibrium spacing and in b) grains in a stainless steel sample. (The black spots are little crystals in the grains, not dirt, called </a:t>
            </a:r>
            <a:r>
              <a:rPr lang="en-US" altLang="en-US" sz="2400" b="1">
                <a:solidFill>
                  <a:srgbClr val="FF0000"/>
                </a:solidFill>
              </a:rPr>
              <a:t>precipitates</a:t>
            </a:r>
            <a:r>
              <a:rPr lang="en-US" altLang="en-US" sz="2400" b="1"/>
              <a:t>, which produce </a:t>
            </a:r>
            <a:r>
              <a:rPr lang="en-US" altLang="en-US" sz="2400" b="1">
                <a:solidFill>
                  <a:srgbClr val="FF0000"/>
                </a:solidFill>
              </a:rPr>
              <a:t>interface boundaries </a:t>
            </a:r>
            <a:r>
              <a:rPr lang="en-US" altLang="en-US" sz="2400" b="1"/>
              <a:t>with their host crystal.)</a:t>
            </a:r>
          </a:p>
        </p:txBody>
      </p:sp>
    </p:spTree>
  </p:cSld>
  <p:clrMapOvr>
    <a:masterClrMapping/>
  </p:clrMapOvr>
  <p:transition>
    <p:pull dir="ru"/>
  </p:transition>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56322" name="Picture 2" descr="Fig 4-18 Low Angle Grain Boundar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0"/>
            <a:ext cx="2613025"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Text Box 3"/>
          <p:cNvSpPr txBox="1">
            <a:spLocks noChangeArrowheads="1"/>
          </p:cNvSpPr>
          <p:nvPr/>
        </p:nvSpPr>
        <p:spPr bwMode="auto">
          <a:xfrm>
            <a:off x="4343400" y="762000"/>
            <a:ext cx="44958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The </a:t>
            </a:r>
            <a:r>
              <a:rPr lang="en-US" altLang="en-US" sz="2400" b="1">
                <a:solidFill>
                  <a:srgbClr val="FF0000"/>
                </a:solidFill>
              </a:rPr>
              <a:t>angle, </a:t>
            </a:r>
            <a:r>
              <a:rPr lang="en-US" altLang="en-US" sz="2400" b="1">
                <a:solidFill>
                  <a:srgbClr val="FF0000"/>
                </a:solidFill>
                <a:latin typeface="Symbol" pitchFamily="18" charset="2"/>
              </a:rPr>
              <a:t>q</a:t>
            </a:r>
            <a:r>
              <a:rPr lang="en-US" altLang="en-US" sz="2400" b="1">
                <a:solidFill>
                  <a:srgbClr val="FF0000"/>
                </a:solidFill>
              </a:rPr>
              <a:t>, </a:t>
            </a:r>
            <a:r>
              <a:rPr lang="en-US" altLang="en-US" sz="2400" b="1"/>
              <a:t>of a tilt boundary is made from </a:t>
            </a:r>
            <a:r>
              <a:rPr lang="en-US" altLang="en-US" sz="2400" b="1">
                <a:solidFill>
                  <a:srgbClr val="FF0000"/>
                </a:solidFill>
              </a:rPr>
              <a:t>three dislocations </a:t>
            </a:r>
            <a:r>
              <a:rPr lang="en-US" altLang="en-US" sz="2400" b="1"/>
              <a:t>and can be described by the equation below.</a:t>
            </a:r>
          </a:p>
        </p:txBody>
      </p:sp>
      <p:grpSp>
        <p:nvGrpSpPr>
          <p:cNvPr id="56324" name="Group 13"/>
          <p:cNvGrpSpPr>
            <a:grpSpLocks/>
          </p:cNvGrpSpPr>
          <p:nvPr/>
        </p:nvGrpSpPr>
        <p:grpSpPr bwMode="auto">
          <a:xfrm>
            <a:off x="4151313" y="2376488"/>
            <a:ext cx="1563687" cy="3186112"/>
            <a:chOff x="3110" y="1881"/>
            <a:chExt cx="985" cy="2007"/>
          </a:xfrm>
        </p:grpSpPr>
        <p:sp>
          <p:nvSpPr>
            <p:cNvPr id="56328" name="Line 4"/>
            <p:cNvSpPr>
              <a:spLocks noChangeShapeType="1"/>
            </p:cNvSpPr>
            <p:nvPr/>
          </p:nvSpPr>
          <p:spPr bwMode="auto">
            <a:xfrm>
              <a:off x="3360" y="2160"/>
              <a:ext cx="96" cy="17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6329" name="Line 5"/>
            <p:cNvSpPr>
              <a:spLocks noChangeShapeType="1"/>
            </p:cNvSpPr>
            <p:nvPr/>
          </p:nvSpPr>
          <p:spPr bwMode="auto">
            <a:xfrm flipH="1">
              <a:off x="3456" y="2160"/>
              <a:ext cx="48" cy="17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6330" name="Line 6"/>
            <p:cNvSpPr>
              <a:spLocks noChangeShapeType="1"/>
            </p:cNvSpPr>
            <p:nvPr/>
          </p:nvSpPr>
          <p:spPr bwMode="auto">
            <a:xfrm flipH="1">
              <a:off x="3360" y="216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6331" name="Text Box 7"/>
            <p:cNvSpPr txBox="1">
              <a:spLocks noChangeArrowheads="1"/>
            </p:cNvSpPr>
            <p:nvPr/>
          </p:nvSpPr>
          <p:spPr bwMode="auto">
            <a:xfrm>
              <a:off x="3316" y="18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1800" b="1"/>
                <a:t>b</a:t>
              </a:r>
            </a:p>
          </p:txBody>
        </p:sp>
        <p:sp>
          <p:nvSpPr>
            <p:cNvPr id="56332" name="Line 8"/>
            <p:cNvSpPr>
              <a:spLocks noChangeShapeType="1"/>
            </p:cNvSpPr>
            <p:nvPr/>
          </p:nvSpPr>
          <p:spPr bwMode="auto">
            <a:xfrm flipV="1">
              <a:off x="3456" y="2784"/>
              <a:ext cx="38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6333" name="Text Box 9"/>
            <p:cNvSpPr txBox="1">
              <a:spLocks noChangeArrowheads="1"/>
            </p:cNvSpPr>
            <p:nvPr/>
          </p:nvSpPr>
          <p:spPr bwMode="auto">
            <a:xfrm>
              <a:off x="3792" y="2601"/>
              <a:ext cx="30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1800" b="1">
                  <a:latin typeface="Symbol" pitchFamily="18" charset="2"/>
                </a:rPr>
                <a:t>q/2</a:t>
              </a:r>
            </a:p>
          </p:txBody>
        </p:sp>
        <p:sp>
          <p:nvSpPr>
            <p:cNvPr id="56334" name="Text Box 10"/>
            <p:cNvSpPr txBox="1">
              <a:spLocks noChangeArrowheads="1"/>
            </p:cNvSpPr>
            <p:nvPr/>
          </p:nvSpPr>
          <p:spPr bwMode="auto">
            <a:xfrm rot="-5400000">
              <a:off x="3079" y="2841"/>
              <a:ext cx="3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000" b="1"/>
                <a:t>2D</a:t>
              </a:r>
            </a:p>
          </p:txBody>
        </p:sp>
      </p:grpSp>
      <p:graphicFrame>
        <p:nvGraphicFramePr>
          <p:cNvPr id="56325" name="Object 11"/>
          <p:cNvGraphicFramePr>
            <a:graphicFrameLocks noGrp="1" noChangeAspect="1"/>
          </p:cNvGraphicFramePr>
          <p:nvPr>
            <p:ph/>
          </p:nvPr>
        </p:nvGraphicFramePr>
        <p:xfrm>
          <a:off x="6324600" y="3233738"/>
          <a:ext cx="2438400" cy="500062"/>
        </p:xfrm>
        <a:graphic>
          <a:graphicData uri="http://schemas.openxmlformats.org/presentationml/2006/ole">
            <mc:AlternateContent xmlns:mc="http://schemas.openxmlformats.org/markup-compatibility/2006">
              <mc:Choice xmlns:v="urn:schemas-microsoft-com:vml" Requires="v">
                <p:oleObj spid="_x0000_s1026" name="Equation" r:id="rId6" imgW="1053643" imgH="215806" progId="Equation.3">
                  <p:embed/>
                </p:oleObj>
              </mc:Choice>
              <mc:Fallback>
                <p:oleObj name="Equation" r:id="rId6" imgW="1053643" imgH="215806" progId="Equation.3">
                  <p:embed/>
                  <p:pic>
                    <p:nvPicPr>
                      <p:cNvPr id="56325"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0" y="3233738"/>
                        <a:ext cx="243840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26" name="Text Box 14"/>
          <p:cNvSpPr txBox="1">
            <a:spLocks noChangeArrowheads="1"/>
          </p:cNvSpPr>
          <p:nvPr/>
        </p:nvSpPr>
        <p:spPr bwMode="auto">
          <a:xfrm>
            <a:off x="5638800" y="4156075"/>
            <a:ext cx="3292475"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Note: </a:t>
            </a:r>
            <a:r>
              <a:rPr lang="en-US" altLang="en-US" sz="2400" b="1">
                <a:solidFill>
                  <a:srgbClr val="FF0000"/>
                </a:solidFill>
              </a:rPr>
              <a:t>grain boundaries </a:t>
            </a:r>
            <a:r>
              <a:rPr lang="en-US" altLang="en-US" sz="2400" b="1"/>
              <a:t>are actually a </a:t>
            </a:r>
            <a:r>
              <a:rPr lang="en-US" altLang="en-US" sz="2400" b="1">
                <a:solidFill>
                  <a:srgbClr val="FF0000"/>
                </a:solidFill>
              </a:rPr>
              <a:t>two-dimensional  network</a:t>
            </a:r>
            <a:r>
              <a:rPr lang="en-US" altLang="en-US" sz="2400" b="1"/>
              <a:t> </a:t>
            </a:r>
            <a:r>
              <a:rPr lang="en-US" altLang="en-US" sz="2400" b="1">
                <a:solidFill>
                  <a:srgbClr val="FF0000"/>
                </a:solidFill>
              </a:rPr>
              <a:t>of dislocations</a:t>
            </a:r>
            <a:r>
              <a:rPr lang="en-US" altLang="en-US" sz="2400" b="1"/>
              <a:t>.</a:t>
            </a:r>
          </a:p>
        </p:txBody>
      </p:sp>
      <p:sp>
        <p:nvSpPr>
          <p:cNvPr id="56327" name="TextBox 1"/>
          <p:cNvSpPr txBox="1">
            <a:spLocks noChangeArrowheads="1"/>
          </p:cNvSpPr>
          <p:nvPr/>
        </p:nvSpPr>
        <p:spPr bwMode="auto">
          <a:xfrm>
            <a:off x="0" y="5795963"/>
            <a:ext cx="9144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Grain boundaries are very important defects in materials with the smaller the grains, the more grain boundary area -&gt; nanotechnology.</a:t>
            </a:r>
          </a:p>
        </p:txBody>
      </p:sp>
    </p:spTree>
  </p:cSld>
  <p:clrMapOvr>
    <a:masterClrMapping/>
  </p:clrMapOvr>
  <p:transition>
    <p:pull dir="ru"/>
  </p:transition>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58370" name="Picture 2" descr="Grain Boounda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3675" y="0"/>
            <a:ext cx="64103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Rectangle 3"/>
          <p:cNvSpPr>
            <a:spLocks noChangeArrowheads="1"/>
          </p:cNvSpPr>
          <p:nvPr/>
        </p:nvSpPr>
        <p:spPr bwMode="auto">
          <a:xfrm>
            <a:off x="152400" y="536575"/>
            <a:ext cx="2438400" cy="600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20000"/>
              </a:spcBef>
              <a:buChar char="•"/>
              <a:defRPr sz="3200">
                <a:solidFill>
                  <a:schemeClr val="tx1"/>
                </a:solidFill>
                <a:latin typeface="Times New Roman" pitchFamily="18" charset="0"/>
              </a:defRPr>
            </a:lvl1pPr>
            <a:lvl2pPr marL="742950" indent="-285750" defTabSz="762000">
              <a:spcBef>
                <a:spcPct val="20000"/>
              </a:spcBef>
              <a:buChar char="–"/>
              <a:defRPr sz="2800">
                <a:solidFill>
                  <a:schemeClr val="tx1"/>
                </a:solidFill>
                <a:latin typeface="Times New Roman" pitchFamily="18" charset="0"/>
              </a:defRPr>
            </a:lvl2pPr>
            <a:lvl3pPr marL="1143000" indent="-228600" defTabSz="762000">
              <a:spcBef>
                <a:spcPct val="20000"/>
              </a:spcBef>
              <a:buChar char="•"/>
              <a:defRPr sz="2400">
                <a:solidFill>
                  <a:schemeClr val="tx1"/>
                </a:solidFill>
                <a:latin typeface="Times New Roman" pitchFamily="18" charset="0"/>
              </a:defRPr>
            </a:lvl3pPr>
            <a:lvl4pPr marL="1600200" indent="-228600" defTabSz="762000">
              <a:spcBef>
                <a:spcPct val="20000"/>
              </a:spcBef>
              <a:buChar char="–"/>
              <a:defRPr sz="2000">
                <a:solidFill>
                  <a:schemeClr val="tx1"/>
                </a:solidFill>
                <a:latin typeface="Times New Roman" pitchFamily="18" charset="0"/>
              </a:defRPr>
            </a:lvl4pPr>
            <a:lvl5pPr marL="2057400" indent="-228600" defTabSz="762000">
              <a:spcBef>
                <a:spcPct val="20000"/>
              </a:spcBef>
              <a:buChar char="»"/>
              <a:defRPr sz="2000">
                <a:solidFill>
                  <a:schemeClr val="tx1"/>
                </a:solidFill>
                <a:latin typeface="Times New Roman"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r>
              <a:rPr lang="en-US" altLang="en-US" sz="2000" b="1">
                <a:latin typeface="Times" pitchFamily="18" charset="0"/>
              </a:rPr>
              <a:t>Low angle grain boundaries in Cubic Zirconia seen using a Transmission Electron Microscope</a:t>
            </a:r>
          </a:p>
          <a:p>
            <a:pPr algn="ctr">
              <a:spcBef>
                <a:spcPct val="0"/>
              </a:spcBef>
              <a:buFontTx/>
              <a:buNone/>
            </a:pPr>
            <a:endParaRPr lang="en-US" altLang="en-US" sz="2000" b="1">
              <a:latin typeface="Times" pitchFamily="18" charset="0"/>
            </a:endParaRPr>
          </a:p>
          <a:p>
            <a:pPr algn="ctr">
              <a:spcBef>
                <a:spcPct val="0"/>
              </a:spcBef>
              <a:buFontTx/>
              <a:buNone/>
            </a:pPr>
            <a:r>
              <a:rPr lang="en-US" altLang="en-US" sz="2000" b="1">
                <a:latin typeface="Times" pitchFamily="18" charset="0"/>
              </a:rPr>
              <a:t>Note that the lower grain boundary having higher tilt angle is strained more than the above grain boundary as seen by the fuzzier atomic positions.</a:t>
            </a:r>
          </a:p>
          <a:p>
            <a:pPr algn="ctr">
              <a:spcBef>
                <a:spcPct val="0"/>
              </a:spcBef>
              <a:buFontTx/>
              <a:buNone/>
            </a:pPr>
            <a:endParaRPr lang="en-US" altLang="en-US" sz="2000" b="1">
              <a:latin typeface="Times" pitchFamily="18" charset="0"/>
            </a:endParaRPr>
          </a:p>
          <a:p>
            <a:pPr algn="ctr">
              <a:spcBef>
                <a:spcPct val="0"/>
              </a:spcBef>
              <a:buFontTx/>
              <a:buNone/>
            </a:pPr>
            <a:r>
              <a:rPr lang="en-US" altLang="en-US" sz="2000" b="1">
                <a:solidFill>
                  <a:schemeClr val="accent2"/>
                </a:solidFill>
                <a:latin typeface="Times" pitchFamily="18" charset="0"/>
              </a:rPr>
              <a:t>What might cause the fuzziness?</a:t>
            </a:r>
          </a:p>
          <a:p>
            <a:pPr algn="ctr">
              <a:spcBef>
                <a:spcPct val="0"/>
              </a:spcBef>
              <a:buFontTx/>
              <a:buNone/>
            </a:pPr>
            <a:endParaRPr lang="en-US" altLang="en-US" sz="2000" b="1">
              <a:latin typeface="Times" pitchFamily="18" charset="0"/>
            </a:endParaRPr>
          </a:p>
          <a:p>
            <a:pPr algn="ctr">
              <a:spcBef>
                <a:spcPct val="0"/>
              </a:spcBef>
              <a:buFontTx/>
              <a:buNone/>
            </a:pPr>
            <a:r>
              <a:rPr lang="en-US" altLang="en-US" sz="1200" b="1">
                <a:latin typeface="Times" pitchFamily="18" charset="0"/>
              </a:rPr>
              <a:t>Dickey et. al., Microscopy and Microanalysis (2000) pg. 120</a:t>
            </a:r>
            <a:endParaRPr lang="en-US" altLang="en-US" sz="2000" b="1" i="1">
              <a:latin typeface="Times" pitchFamily="18" charset="0"/>
            </a:endParaRPr>
          </a:p>
        </p:txBody>
      </p:sp>
    </p:spTree>
  </p:cSld>
  <p:clrMapOvr>
    <a:masterClrMapping/>
  </p:clrMapOvr>
  <p:transition>
    <p:pull dir="ru"/>
  </p:transition>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0418" name="Picture 3" descr="Fig 4-22 Stacking Faul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575" y="652463"/>
            <a:ext cx="7010400" cy="431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Text Box 4"/>
          <p:cNvSpPr txBox="1">
            <a:spLocks noChangeArrowheads="1"/>
          </p:cNvSpPr>
          <p:nvPr/>
        </p:nvSpPr>
        <p:spPr bwMode="auto">
          <a:xfrm>
            <a:off x="0" y="4808538"/>
            <a:ext cx="9144000" cy="193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A </a:t>
            </a:r>
            <a:r>
              <a:rPr lang="en-US" altLang="en-US" sz="2400" b="1">
                <a:solidFill>
                  <a:srgbClr val="FF0000"/>
                </a:solidFill>
              </a:rPr>
              <a:t>stacking fault</a:t>
            </a:r>
            <a:r>
              <a:rPr lang="en-US" altLang="en-US" sz="2400" b="1"/>
              <a:t> is shown where atomic column “a” is interfaced with atomic column “b”, which resulted from the </a:t>
            </a:r>
            <a:r>
              <a:rPr lang="en-US" altLang="en-US" sz="2400" b="1">
                <a:solidFill>
                  <a:srgbClr val="FF0000"/>
                </a:solidFill>
              </a:rPr>
              <a:t>partial dislocations </a:t>
            </a:r>
            <a:r>
              <a:rPr lang="en-US" altLang="en-US" sz="2400" b="1"/>
              <a:t>(i.e., one dislocation splitting into two dislocations) found on either end of the stacking fault. The </a:t>
            </a:r>
            <a:r>
              <a:rPr lang="en-US" altLang="en-US" sz="2400" b="1">
                <a:solidFill>
                  <a:srgbClr val="FF0000"/>
                </a:solidFill>
              </a:rPr>
              <a:t>theoretical strength </a:t>
            </a:r>
            <a:r>
              <a:rPr lang="en-US" altLang="en-US" sz="2400" b="1"/>
              <a:t>of the material (elastic modulus) is proportional to the </a:t>
            </a:r>
            <a:r>
              <a:rPr lang="en-US" altLang="en-US" sz="2400" b="1">
                <a:solidFill>
                  <a:srgbClr val="FF0000"/>
                </a:solidFill>
              </a:rPr>
              <a:t>stacking fault energy</a:t>
            </a:r>
            <a:r>
              <a:rPr lang="en-US" altLang="en-US" sz="2400" b="1"/>
              <a:t>.</a:t>
            </a:r>
          </a:p>
        </p:txBody>
      </p:sp>
      <p:sp>
        <p:nvSpPr>
          <p:cNvPr id="60420" name="TextBox 1"/>
          <p:cNvSpPr txBox="1">
            <a:spLocks noChangeArrowheads="1"/>
          </p:cNvSpPr>
          <p:nvPr/>
        </p:nvSpPr>
        <p:spPr bwMode="auto">
          <a:xfrm>
            <a:off x="0" y="71438"/>
            <a:ext cx="9144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r>
              <a:rPr lang="en-US" altLang="en-US" b="1"/>
              <a:t>Stacking Faults</a:t>
            </a:r>
          </a:p>
        </p:txBody>
      </p:sp>
    </p:spTree>
  </p:cSld>
  <p:clrMapOvr>
    <a:masterClrMapping/>
  </p:clrMapOvr>
  <p:transition>
    <p:pull dir="ru"/>
  </p:transition>
</p:sld>
</file>

<file path=ppt/slides/slide15.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2466" name="Picture 2" descr="Shuffle Set Disl'n in GaA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5875"/>
            <a:ext cx="7010400" cy="682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Rectangle 3"/>
          <p:cNvSpPr>
            <a:spLocks noChangeArrowheads="1"/>
          </p:cNvSpPr>
          <p:nvPr/>
        </p:nvSpPr>
        <p:spPr bwMode="auto">
          <a:xfrm>
            <a:off x="152400" y="228600"/>
            <a:ext cx="2057400" cy="649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20000"/>
              </a:spcBef>
              <a:buChar char="•"/>
              <a:defRPr sz="3200">
                <a:solidFill>
                  <a:schemeClr val="tx1"/>
                </a:solidFill>
                <a:latin typeface="Times New Roman" pitchFamily="18" charset="0"/>
              </a:defRPr>
            </a:lvl1pPr>
            <a:lvl2pPr marL="742950" indent="-285750" defTabSz="762000">
              <a:spcBef>
                <a:spcPct val="20000"/>
              </a:spcBef>
              <a:buChar char="–"/>
              <a:defRPr sz="2800">
                <a:solidFill>
                  <a:schemeClr val="tx1"/>
                </a:solidFill>
                <a:latin typeface="Times New Roman" pitchFamily="18" charset="0"/>
              </a:defRPr>
            </a:lvl2pPr>
            <a:lvl3pPr marL="1143000" indent="-228600" defTabSz="762000">
              <a:spcBef>
                <a:spcPct val="20000"/>
              </a:spcBef>
              <a:buChar char="•"/>
              <a:defRPr sz="2400">
                <a:solidFill>
                  <a:schemeClr val="tx1"/>
                </a:solidFill>
                <a:latin typeface="Times New Roman" pitchFamily="18" charset="0"/>
              </a:defRPr>
            </a:lvl3pPr>
            <a:lvl4pPr marL="1600200" indent="-228600" defTabSz="762000">
              <a:spcBef>
                <a:spcPct val="20000"/>
              </a:spcBef>
              <a:buChar char="–"/>
              <a:defRPr sz="2000">
                <a:solidFill>
                  <a:schemeClr val="tx1"/>
                </a:solidFill>
                <a:latin typeface="Times New Roman" pitchFamily="18" charset="0"/>
              </a:defRPr>
            </a:lvl4pPr>
            <a:lvl5pPr marL="2057400" indent="-228600" defTabSz="762000">
              <a:spcBef>
                <a:spcPct val="20000"/>
              </a:spcBef>
              <a:buChar char="»"/>
              <a:defRPr sz="2000">
                <a:solidFill>
                  <a:schemeClr val="tx1"/>
                </a:solidFill>
                <a:latin typeface="Times New Roman"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r>
              <a:rPr lang="en-US" altLang="en-US" sz="2400" b="1">
                <a:latin typeface="Times" pitchFamily="18" charset="0"/>
              </a:rPr>
              <a:t>Atomic lattice image of a "Stacking fault" in GaAs showing reverse ordering of Ga and As planes. Note the partial dislocation at the start of the fault (in circle).</a:t>
            </a:r>
          </a:p>
          <a:p>
            <a:pPr algn="ctr">
              <a:spcBef>
                <a:spcPct val="0"/>
              </a:spcBef>
              <a:buFontTx/>
              <a:buNone/>
            </a:pPr>
            <a:endParaRPr lang="en-US" altLang="en-US" sz="2400" b="1">
              <a:latin typeface="Times" pitchFamily="18" charset="0"/>
            </a:endParaRPr>
          </a:p>
          <a:p>
            <a:pPr algn="ctr">
              <a:spcBef>
                <a:spcPct val="0"/>
              </a:spcBef>
              <a:buFontTx/>
              <a:buNone/>
            </a:pPr>
            <a:r>
              <a:rPr lang="en-US" altLang="en-US" sz="1400" b="1">
                <a:latin typeface="Times" pitchFamily="18" charset="0"/>
              </a:rPr>
              <a:t>Kisielowski et. al. Microscopy and Microanalysis (2000) pg. 16</a:t>
            </a:r>
            <a:endParaRPr lang="en-US" altLang="en-US" sz="2400" b="1" i="1">
              <a:latin typeface="Times" pitchFamily="18" charset="0"/>
            </a:endParaRPr>
          </a:p>
        </p:txBody>
      </p:sp>
      <p:sp>
        <p:nvSpPr>
          <p:cNvPr id="62468" name="Line 4"/>
          <p:cNvSpPr>
            <a:spLocks noChangeShapeType="1"/>
          </p:cNvSpPr>
          <p:nvPr/>
        </p:nvSpPr>
        <p:spPr bwMode="auto">
          <a:xfrm>
            <a:off x="5715000" y="1295400"/>
            <a:ext cx="1143000" cy="38862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62469" name="Line 5"/>
          <p:cNvSpPr>
            <a:spLocks noChangeShapeType="1"/>
          </p:cNvSpPr>
          <p:nvPr/>
        </p:nvSpPr>
        <p:spPr bwMode="auto">
          <a:xfrm>
            <a:off x="5410200" y="1295400"/>
            <a:ext cx="1143000" cy="38862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62470" name="Oval 6"/>
          <p:cNvSpPr>
            <a:spLocks noChangeArrowheads="1"/>
          </p:cNvSpPr>
          <p:nvPr/>
        </p:nvSpPr>
        <p:spPr bwMode="auto">
          <a:xfrm>
            <a:off x="5334000" y="2971800"/>
            <a:ext cx="685800" cy="76200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US" altLang="en-US" sz="2400"/>
          </a:p>
        </p:txBody>
      </p:sp>
      <p:sp>
        <p:nvSpPr>
          <p:cNvPr id="62471" name="Line 7"/>
          <p:cNvSpPr>
            <a:spLocks noChangeShapeType="1"/>
          </p:cNvSpPr>
          <p:nvPr/>
        </p:nvSpPr>
        <p:spPr bwMode="auto">
          <a:xfrm>
            <a:off x="6400800" y="3089275"/>
            <a:ext cx="2743200"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62472" name="Line 8"/>
          <p:cNvSpPr>
            <a:spLocks noChangeShapeType="1"/>
          </p:cNvSpPr>
          <p:nvPr/>
        </p:nvSpPr>
        <p:spPr bwMode="auto">
          <a:xfrm>
            <a:off x="6553200" y="3590925"/>
            <a:ext cx="2590800"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Tree>
  </p:cSld>
  <p:clrMapOvr>
    <a:masterClrMapping/>
  </p:clrMapOvr>
  <p:transition>
    <p:pull dir="ru"/>
  </p:transition>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4514" name="Picture 2051" descr="Fig 4-20ab Twin Bounda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819150"/>
            <a:ext cx="8534400" cy="394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Text Box 2052"/>
          <p:cNvSpPr txBox="1">
            <a:spLocks noChangeArrowheads="1"/>
          </p:cNvSpPr>
          <p:nvPr/>
        </p:nvSpPr>
        <p:spPr bwMode="auto">
          <a:xfrm>
            <a:off x="0" y="4619625"/>
            <a:ext cx="91440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A </a:t>
            </a:r>
            <a:r>
              <a:rPr lang="en-US" altLang="en-US" sz="2400" b="1">
                <a:solidFill>
                  <a:srgbClr val="FF0000"/>
                </a:solidFill>
              </a:rPr>
              <a:t>twin boundary</a:t>
            </a:r>
            <a:r>
              <a:rPr lang="en-US" altLang="en-US" sz="2400" b="1"/>
              <a:t>, which is a </a:t>
            </a:r>
            <a:r>
              <a:rPr lang="en-US" altLang="en-US" sz="2400" b="1">
                <a:solidFill>
                  <a:srgbClr val="FF0000"/>
                </a:solidFill>
              </a:rPr>
              <a:t>planar defect</a:t>
            </a:r>
            <a:r>
              <a:rPr lang="en-US" altLang="en-US" sz="2400" b="1"/>
              <a:t>, is the displacement of atoms caused by a stress that </a:t>
            </a:r>
            <a:r>
              <a:rPr lang="en-US" altLang="en-US" sz="2400" b="1">
                <a:solidFill>
                  <a:srgbClr val="FF0000"/>
                </a:solidFill>
              </a:rPr>
              <a:t>reorients a volume </a:t>
            </a:r>
            <a:r>
              <a:rPr lang="en-US" altLang="en-US" sz="2400" b="1"/>
              <a:t>of the crystal, which is bounded by the twin boundary.</a:t>
            </a:r>
          </a:p>
          <a:p>
            <a:pPr>
              <a:spcBef>
                <a:spcPct val="0"/>
              </a:spcBef>
              <a:buFontTx/>
              <a:buNone/>
            </a:pPr>
            <a:r>
              <a:rPr lang="en-US" altLang="en-US" sz="2400" b="1"/>
              <a:t>Twin boundaries have </a:t>
            </a:r>
            <a:r>
              <a:rPr lang="en-US" altLang="en-US" sz="2400" b="1">
                <a:solidFill>
                  <a:srgbClr val="FF0000"/>
                </a:solidFill>
              </a:rPr>
              <a:t>partial dislocations </a:t>
            </a:r>
            <a:r>
              <a:rPr lang="en-US" altLang="en-US" sz="2400" b="1"/>
              <a:t>at their beginning and end that initiate the crystal rotation.</a:t>
            </a:r>
          </a:p>
        </p:txBody>
      </p:sp>
      <p:sp>
        <p:nvSpPr>
          <p:cNvPr id="64516" name="TextBox 3"/>
          <p:cNvSpPr txBox="1">
            <a:spLocks noChangeArrowheads="1"/>
          </p:cNvSpPr>
          <p:nvPr/>
        </p:nvSpPr>
        <p:spPr bwMode="auto">
          <a:xfrm>
            <a:off x="0" y="280988"/>
            <a:ext cx="9144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r>
              <a:rPr lang="en-US" altLang="en-US" b="1"/>
              <a:t>Twin Boundary</a:t>
            </a:r>
          </a:p>
        </p:txBody>
      </p:sp>
    </p:spTree>
  </p:cSld>
  <p:clrMapOvr>
    <a:masterClrMapping/>
  </p:clrMapOvr>
  <p:transition>
    <p:pull dir="ru"/>
  </p:transition>
</p:sld>
</file>

<file path=ppt/slides/slide17.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6562" name="Picture 3" descr="Fig 4-20c Twin Bounda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0088" y="771525"/>
            <a:ext cx="5111750"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Text Box 4"/>
          <p:cNvSpPr txBox="1">
            <a:spLocks noChangeArrowheads="1"/>
          </p:cNvSpPr>
          <p:nvPr/>
        </p:nvSpPr>
        <p:spPr bwMode="auto">
          <a:xfrm>
            <a:off x="609600" y="5029200"/>
            <a:ext cx="77724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solidFill>
                  <a:srgbClr val="FF0000"/>
                </a:solidFill>
              </a:rPr>
              <a:t>Brass, a copper zinc alloy</a:t>
            </a:r>
            <a:r>
              <a:rPr lang="en-US" altLang="en-US" sz="2400" b="1"/>
              <a:t>, deforms by the formation of </a:t>
            </a:r>
            <a:r>
              <a:rPr lang="en-US" altLang="en-US" sz="2400" b="1">
                <a:solidFill>
                  <a:srgbClr val="FF0000"/>
                </a:solidFill>
              </a:rPr>
              <a:t>twins</a:t>
            </a:r>
            <a:r>
              <a:rPr lang="en-US" altLang="en-US" sz="2400" b="1"/>
              <a:t>.  The twin boundaries are at the interface of the dark-white lined regions.</a:t>
            </a:r>
          </a:p>
        </p:txBody>
      </p:sp>
      <p:sp>
        <p:nvSpPr>
          <p:cNvPr id="66564" name="Text Box 5"/>
          <p:cNvSpPr txBox="1">
            <a:spLocks noChangeArrowheads="1"/>
          </p:cNvSpPr>
          <p:nvPr/>
        </p:nvSpPr>
        <p:spPr bwMode="auto">
          <a:xfrm>
            <a:off x="230188" y="6248400"/>
            <a:ext cx="862488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solidFill>
                  <a:schemeClr val="accent2"/>
                </a:solidFill>
              </a:rPr>
              <a:t>In which direaction did the material deform in this micrograph?</a:t>
            </a:r>
          </a:p>
        </p:txBody>
      </p:sp>
      <p:sp>
        <p:nvSpPr>
          <p:cNvPr id="66565" name="TextBox 4"/>
          <p:cNvSpPr txBox="1">
            <a:spLocks noChangeArrowheads="1"/>
          </p:cNvSpPr>
          <p:nvPr/>
        </p:nvSpPr>
        <p:spPr bwMode="auto">
          <a:xfrm>
            <a:off x="0" y="153988"/>
            <a:ext cx="9144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r>
              <a:rPr lang="en-US" altLang="en-US" b="1"/>
              <a:t>Twins</a:t>
            </a:r>
          </a:p>
        </p:txBody>
      </p:sp>
    </p:spTree>
  </p:cSld>
  <p:clrMapOvr>
    <a:masterClrMapping/>
  </p:clrMapOvr>
  <p:transition>
    <p:pull dir="ru"/>
  </p:transition>
</p:sld>
</file>

<file path=ppt/slides/slide18.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68610" name="Picture 2" descr="VS 64 -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0"/>
            <a:ext cx="3429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1" name="Picture 3" descr="VS 81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0"/>
            <a:ext cx="3429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8612" name="Object 4"/>
          <p:cNvGraphicFramePr>
            <a:graphicFrameLocks noChangeAspect="1"/>
          </p:cNvGraphicFramePr>
          <p:nvPr/>
        </p:nvGraphicFramePr>
        <p:xfrm>
          <a:off x="6629400" y="3581400"/>
          <a:ext cx="2209800" cy="1657350"/>
        </p:xfrm>
        <a:graphic>
          <a:graphicData uri="http://schemas.openxmlformats.org/presentationml/2006/ole">
            <mc:AlternateContent xmlns:mc="http://schemas.openxmlformats.org/markup-compatibility/2006">
              <mc:Choice xmlns:v="urn:schemas-microsoft-com:vml" Requires="v">
                <p:oleObj spid="_x0000_s2050" name="Bitmap Image" r:id="rId7" imgW="1371429" imgH="1028844" progId="Paint.Picture">
                  <p:embed/>
                </p:oleObj>
              </mc:Choice>
              <mc:Fallback>
                <p:oleObj name="Bitmap Image" r:id="rId7" imgW="1371429" imgH="1028844" progId="Paint.Picture">
                  <p:embed/>
                  <p:pic>
                    <p:nvPicPr>
                      <p:cNvPr id="68612"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9400" y="3581400"/>
                        <a:ext cx="220980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13" name="Object 5"/>
          <p:cNvGraphicFramePr>
            <a:graphicFrameLocks noChangeAspect="1"/>
          </p:cNvGraphicFramePr>
          <p:nvPr/>
        </p:nvGraphicFramePr>
        <p:xfrm>
          <a:off x="533400" y="3581400"/>
          <a:ext cx="2286000" cy="1743075"/>
        </p:xfrm>
        <a:graphic>
          <a:graphicData uri="http://schemas.openxmlformats.org/presentationml/2006/ole">
            <mc:AlternateContent xmlns:mc="http://schemas.openxmlformats.org/markup-compatibility/2006">
              <mc:Choice xmlns:v="urn:schemas-microsoft-com:vml" Requires="v">
                <p:oleObj spid="_x0000_s2051" name="Bitmap Image" r:id="rId9" imgW="800212" imgH="609524" progId="Paint.Picture">
                  <p:embed/>
                </p:oleObj>
              </mc:Choice>
              <mc:Fallback>
                <p:oleObj name="Bitmap Image" r:id="rId9" imgW="800212" imgH="609524" progId="Paint.Picture">
                  <p:embed/>
                  <p:pic>
                    <p:nvPicPr>
                      <p:cNvPr id="68613"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 y="3581400"/>
                        <a:ext cx="2286000"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14" name="Text Box 6"/>
          <p:cNvSpPr txBox="1">
            <a:spLocks noChangeArrowheads="1"/>
          </p:cNvSpPr>
          <p:nvPr/>
        </p:nvSpPr>
        <p:spPr bwMode="auto">
          <a:xfrm>
            <a:off x="609600" y="5451475"/>
            <a:ext cx="82296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Twin boundaries, stacking faults and dislocations found in this small LaF</a:t>
            </a:r>
            <a:r>
              <a:rPr lang="en-US" altLang="en-US" sz="2400" b="1" baseline="-25000"/>
              <a:t>3</a:t>
            </a:r>
            <a:r>
              <a:rPr lang="en-US" altLang="en-US" sz="2400" b="1"/>
              <a:t> crystals. The Lanthanide materials are light emitting diodes being developed in Chemistry at UVic.</a:t>
            </a:r>
          </a:p>
        </p:txBody>
      </p:sp>
      <p:graphicFrame>
        <p:nvGraphicFramePr>
          <p:cNvPr id="68615" name="Object 7"/>
          <p:cNvGraphicFramePr>
            <a:graphicFrameLocks noChangeAspect="1"/>
          </p:cNvGraphicFramePr>
          <p:nvPr/>
        </p:nvGraphicFramePr>
        <p:xfrm>
          <a:off x="3657600" y="3581400"/>
          <a:ext cx="2209800" cy="1728788"/>
        </p:xfrm>
        <a:graphic>
          <a:graphicData uri="http://schemas.openxmlformats.org/presentationml/2006/ole">
            <mc:AlternateContent xmlns:mc="http://schemas.openxmlformats.org/markup-compatibility/2006">
              <mc:Choice xmlns:v="urn:schemas-microsoft-com:vml" Requires="v">
                <p:oleObj spid="_x0000_s2052" name="Bitmap Image" r:id="rId11" imgW="743054" imgH="581106" progId="Paint.Picture">
                  <p:embed/>
                </p:oleObj>
              </mc:Choice>
              <mc:Fallback>
                <p:oleObj name="Bitmap Image" r:id="rId11" imgW="743054" imgH="581106" progId="Paint.Picture">
                  <p:embed/>
                  <p:pic>
                    <p:nvPicPr>
                      <p:cNvPr id="68615"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7600" y="3581400"/>
                        <a:ext cx="2209800" cy="172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16" name="Line 8"/>
          <p:cNvSpPr>
            <a:spLocks noChangeShapeType="1"/>
          </p:cNvSpPr>
          <p:nvPr/>
        </p:nvSpPr>
        <p:spPr bwMode="auto">
          <a:xfrm flipH="1">
            <a:off x="533400" y="990600"/>
            <a:ext cx="762000" cy="2590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68617" name="Line 9"/>
          <p:cNvSpPr>
            <a:spLocks noChangeShapeType="1"/>
          </p:cNvSpPr>
          <p:nvPr/>
        </p:nvSpPr>
        <p:spPr bwMode="auto">
          <a:xfrm>
            <a:off x="1828800" y="914400"/>
            <a:ext cx="914400" cy="2743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68618" name="Line 10"/>
          <p:cNvSpPr>
            <a:spLocks noChangeShapeType="1"/>
          </p:cNvSpPr>
          <p:nvPr/>
        </p:nvSpPr>
        <p:spPr bwMode="auto">
          <a:xfrm>
            <a:off x="1981200" y="1600200"/>
            <a:ext cx="1676400" cy="1981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68619" name="Line 11"/>
          <p:cNvSpPr>
            <a:spLocks noChangeShapeType="1"/>
          </p:cNvSpPr>
          <p:nvPr/>
        </p:nvSpPr>
        <p:spPr bwMode="auto">
          <a:xfrm>
            <a:off x="2590800" y="1524000"/>
            <a:ext cx="3276600" cy="2057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68620" name="Line 12"/>
          <p:cNvSpPr>
            <a:spLocks noChangeShapeType="1"/>
          </p:cNvSpPr>
          <p:nvPr/>
        </p:nvSpPr>
        <p:spPr bwMode="auto">
          <a:xfrm>
            <a:off x="4876800" y="609600"/>
            <a:ext cx="1752600" cy="297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68621" name="Line 13"/>
          <p:cNvSpPr>
            <a:spLocks noChangeShapeType="1"/>
          </p:cNvSpPr>
          <p:nvPr/>
        </p:nvSpPr>
        <p:spPr bwMode="auto">
          <a:xfrm>
            <a:off x="5867400" y="609600"/>
            <a:ext cx="2895600" cy="297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Tree>
  </p:cSld>
  <p:clrMapOvr>
    <a:masterClrMapping/>
  </p:clrMapOvr>
  <p:transition>
    <p:pull dir="ru"/>
  </p:transition>
</p:sld>
</file>

<file path=ppt/slides/slide19.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70658" name="Picture 3" descr="Fig 4-21 Domain Bounda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8950" y="955675"/>
            <a:ext cx="5568950" cy="462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9" name="Text Box 4"/>
          <p:cNvSpPr txBox="1">
            <a:spLocks noChangeArrowheads="1"/>
          </p:cNvSpPr>
          <p:nvPr/>
        </p:nvSpPr>
        <p:spPr bwMode="auto">
          <a:xfrm>
            <a:off x="120650" y="5578475"/>
            <a:ext cx="887095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solidFill>
                  <a:srgbClr val="FF0000"/>
                </a:solidFill>
              </a:rPr>
              <a:t>Magnetic domain boundaries</a:t>
            </a:r>
            <a:r>
              <a:rPr lang="en-US" altLang="en-US" sz="2400" b="1"/>
              <a:t> in ferroelectric </a:t>
            </a:r>
            <a:r>
              <a:rPr lang="en-US" altLang="en-US" sz="2400" b="1">
                <a:solidFill>
                  <a:srgbClr val="FF0000"/>
                </a:solidFill>
              </a:rPr>
              <a:t>barium titanate</a:t>
            </a:r>
            <a:r>
              <a:rPr lang="en-US" altLang="en-US" sz="2400" b="1"/>
              <a:t>, a magnetic material used for memory storage devices.</a:t>
            </a:r>
          </a:p>
          <a:p>
            <a:pPr algn="ctr">
              <a:spcBef>
                <a:spcPct val="0"/>
              </a:spcBef>
              <a:buFontTx/>
              <a:buNone/>
            </a:pPr>
            <a:r>
              <a:rPr lang="en-US" altLang="en-US" sz="2400" b="1"/>
              <a:t>(many other defects are readily seen)</a:t>
            </a:r>
          </a:p>
        </p:txBody>
      </p:sp>
      <p:sp>
        <p:nvSpPr>
          <p:cNvPr id="70660" name="TextBox 3"/>
          <p:cNvSpPr txBox="1">
            <a:spLocks noChangeArrowheads="1"/>
          </p:cNvSpPr>
          <p:nvPr/>
        </p:nvSpPr>
        <p:spPr bwMode="auto">
          <a:xfrm>
            <a:off x="0" y="280988"/>
            <a:ext cx="9144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r>
              <a:rPr lang="en-US" altLang="en-US" b="1"/>
              <a:t>Magnetic Domain Boundaries</a:t>
            </a:r>
          </a:p>
        </p:txBody>
      </p:sp>
    </p:spTree>
  </p:cSld>
  <p:clrMapOvr>
    <a:masterClrMapping/>
  </p:clrMapOvr>
  <p:transition>
    <p:pull dir="ru"/>
  </p:transition>
</p:sld>
</file>

<file path=ppt/slides/slide20.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72706" name="Picture 3" descr="Table 4-3 Slip Planes et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558800"/>
            <a:ext cx="8077200" cy="278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Text Box 4"/>
          <p:cNvSpPr txBox="1">
            <a:spLocks noChangeArrowheads="1"/>
          </p:cNvSpPr>
          <p:nvPr/>
        </p:nvSpPr>
        <p:spPr bwMode="auto">
          <a:xfrm>
            <a:off x="304800" y="3933825"/>
            <a:ext cx="8610600"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solidFill>
                  <a:schemeClr val="accent2"/>
                </a:solidFill>
              </a:rPr>
              <a:t>Why do stacking faults form in Al, Cu and Pt but not in Fe?</a:t>
            </a:r>
          </a:p>
          <a:p>
            <a:pPr>
              <a:spcBef>
                <a:spcPct val="0"/>
              </a:spcBef>
              <a:buFontTx/>
              <a:buNone/>
            </a:pPr>
            <a:r>
              <a:rPr lang="en-US" altLang="en-US" sz="2400" b="1">
                <a:solidFill>
                  <a:schemeClr val="accent2"/>
                </a:solidFill>
              </a:rPr>
              <a:t>Why do grain boundaries take so much energy to form? Why don’t other defects just form instead?</a:t>
            </a:r>
          </a:p>
          <a:p>
            <a:pPr>
              <a:spcBef>
                <a:spcPct val="0"/>
              </a:spcBef>
              <a:buFontTx/>
              <a:buNone/>
            </a:pPr>
            <a:endParaRPr lang="en-US" altLang="en-US" sz="2400" b="1">
              <a:solidFill>
                <a:schemeClr val="accent2"/>
              </a:solidFill>
            </a:endParaRPr>
          </a:p>
          <a:p>
            <a:pPr algn="ctr">
              <a:spcBef>
                <a:spcPct val="0"/>
              </a:spcBef>
              <a:buFontTx/>
              <a:buNone/>
            </a:pPr>
            <a:r>
              <a:rPr lang="en-US" altLang="en-US" sz="2400" b="1">
                <a:solidFill>
                  <a:schemeClr val="accent2"/>
                </a:solidFill>
              </a:rPr>
              <a:t>Why do defects form in materials in the first place?</a:t>
            </a:r>
          </a:p>
        </p:txBody>
      </p:sp>
    </p:spTree>
  </p:cSld>
  <p:clrMapOvr>
    <a:masterClrMapping/>
  </p:clrMapOvr>
  <p:transition>
    <p:pull dir="ru"/>
  </p:transition>
</p:sld>
</file>

<file path=ppt/slides/slide2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685800" y="114300"/>
            <a:ext cx="7772400" cy="495300"/>
          </a:xfrm>
          <a:solidFill>
            <a:schemeClr val="bg1"/>
          </a:solidFill>
          <a:ln>
            <a:solidFill>
              <a:schemeClr val="bg1"/>
            </a:solidFill>
            <a:miter lim="800000"/>
            <a:headEnd/>
            <a:tailEnd/>
          </a:ln>
        </p:spPr>
        <p:txBody>
          <a:bodyPr/>
          <a:lstStyle/>
          <a:p>
            <a:r>
              <a:rPr lang="en-US" altLang="en-US" sz="4000" b="1">
                <a:solidFill>
                  <a:srgbClr val="FF0000"/>
                </a:solidFill>
              </a:rPr>
              <a:t>Control of Dislocations</a:t>
            </a:r>
            <a:endParaRPr lang="en-US" altLang="en-US" sz="3200" b="1">
              <a:solidFill>
                <a:srgbClr val="FF0000"/>
              </a:solidFill>
            </a:endParaRPr>
          </a:p>
        </p:txBody>
      </p:sp>
      <p:sp>
        <p:nvSpPr>
          <p:cNvPr id="74755" name="Rectangle 3"/>
          <p:cNvSpPr>
            <a:spLocks noChangeArrowheads="1"/>
          </p:cNvSpPr>
          <p:nvPr/>
        </p:nvSpPr>
        <p:spPr bwMode="auto">
          <a:xfrm>
            <a:off x="0" y="1063625"/>
            <a:ext cx="91440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r>
              <a:rPr lang="en-US" altLang="en-US" sz="2400" b="1">
                <a:solidFill>
                  <a:schemeClr val="tx2"/>
                </a:solidFill>
              </a:rPr>
              <a:t>Control of </a:t>
            </a:r>
            <a:r>
              <a:rPr lang="en-US" altLang="en-US" sz="2400" b="1">
                <a:solidFill>
                  <a:srgbClr val="FF0000"/>
                </a:solidFill>
              </a:rPr>
              <a:t>dislocations</a:t>
            </a:r>
            <a:r>
              <a:rPr lang="en-US" altLang="en-US" sz="2400" b="1">
                <a:solidFill>
                  <a:schemeClr val="tx2"/>
                </a:solidFill>
              </a:rPr>
              <a:t> allows us to manipulate </a:t>
            </a:r>
            <a:r>
              <a:rPr lang="en-US" altLang="en-US" sz="2400" b="1">
                <a:solidFill>
                  <a:srgbClr val="FF0000"/>
                </a:solidFill>
              </a:rPr>
              <a:t>mechanical</a:t>
            </a:r>
            <a:r>
              <a:rPr lang="en-US" altLang="en-US" sz="2400" b="1">
                <a:solidFill>
                  <a:schemeClr val="tx2"/>
                </a:solidFill>
              </a:rPr>
              <a:t> </a:t>
            </a:r>
            <a:r>
              <a:rPr lang="en-US" altLang="en-US" sz="2400" b="1">
                <a:solidFill>
                  <a:srgbClr val="FF0000"/>
                </a:solidFill>
              </a:rPr>
              <a:t>properties</a:t>
            </a:r>
            <a:r>
              <a:rPr lang="en-US" altLang="en-US" sz="2400" b="1">
                <a:solidFill>
                  <a:schemeClr val="tx2"/>
                </a:solidFill>
              </a:rPr>
              <a:t> and understand their </a:t>
            </a:r>
            <a:r>
              <a:rPr lang="en-US" altLang="en-US" sz="2400" b="1">
                <a:solidFill>
                  <a:srgbClr val="FF0000"/>
                </a:solidFill>
              </a:rPr>
              <a:t>temperature dependence</a:t>
            </a:r>
            <a:r>
              <a:rPr lang="en-US" altLang="en-US" sz="2400" b="1">
                <a:solidFill>
                  <a:schemeClr val="tx2"/>
                </a:solidFill>
              </a:rPr>
              <a:t>.</a:t>
            </a:r>
          </a:p>
          <a:p>
            <a:endParaRPr lang="en-US" altLang="en-US" sz="2400" b="1">
              <a:solidFill>
                <a:schemeClr val="tx2"/>
              </a:solidFill>
            </a:endParaRPr>
          </a:p>
          <a:p>
            <a:r>
              <a:rPr lang="en-US" altLang="en-US" sz="2400" b="1">
                <a:solidFill>
                  <a:schemeClr val="tx2"/>
                </a:solidFill>
              </a:rPr>
              <a:t>When a shear force acting in the direction of the Burger’s vector is applied to a crystal containing a dislocation, the </a:t>
            </a:r>
            <a:r>
              <a:rPr lang="en-US" altLang="en-US" sz="2400" b="1">
                <a:solidFill>
                  <a:srgbClr val="FF0000"/>
                </a:solidFill>
              </a:rPr>
              <a:t>dislocation can move </a:t>
            </a:r>
            <a:r>
              <a:rPr lang="en-US" altLang="en-US" sz="2400" b="1">
                <a:solidFill>
                  <a:schemeClr val="tx2"/>
                </a:solidFill>
              </a:rPr>
              <a:t>by breaking bonds between the atoms in one plane.</a:t>
            </a:r>
          </a:p>
          <a:p>
            <a:endParaRPr lang="en-US" altLang="en-US" sz="2400" b="1">
              <a:solidFill>
                <a:schemeClr val="tx2"/>
              </a:solidFill>
            </a:endParaRPr>
          </a:p>
          <a:p>
            <a:r>
              <a:rPr lang="en-US" altLang="en-US" sz="2400" b="1">
                <a:solidFill>
                  <a:schemeClr val="tx2"/>
                </a:solidFill>
              </a:rPr>
              <a:t>By this process, the dislocation moves </a:t>
            </a:r>
            <a:r>
              <a:rPr lang="en-US" altLang="en-US" sz="2400" b="1">
                <a:solidFill>
                  <a:srgbClr val="FF0000"/>
                </a:solidFill>
              </a:rPr>
              <a:t>on its glide plane </a:t>
            </a:r>
            <a:r>
              <a:rPr lang="en-US" altLang="en-US" sz="2400" b="1">
                <a:solidFill>
                  <a:schemeClr val="tx2"/>
                </a:solidFill>
              </a:rPr>
              <a:t>through the crystal to produce </a:t>
            </a:r>
            <a:r>
              <a:rPr lang="en-US" altLang="en-US" sz="2400" b="1">
                <a:solidFill>
                  <a:srgbClr val="FF0000"/>
                </a:solidFill>
              </a:rPr>
              <a:t>a step </a:t>
            </a:r>
            <a:r>
              <a:rPr lang="en-US" altLang="en-US" sz="2400" b="1">
                <a:solidFill>
                  <a:schemeClr val="tx2"/>
                </a:solidFill>
              </a:rPr>
              <a:t>on the exterior of the crystal.</a:t>
            </a:r>
          </a:p>
          <a:p>
            <a:endParaRPr lang="en-US" altLang="en-US" sz="2400" b="1">
              <a:solidFill>
                <a:schemeClr val="tx2"/>
              </a:solidFill>
            </a:endParaRPr>
          </a:p>
          <a:p>
            <a:r>
              <a:rPr lang="en-US" altLang="en-US" sz="2400" b="1">
                <a:solidFill>
                  <a:schemeClr val="tx2"/>
                </a:solidFill>
              </a:rPr>
              <a:t>The process by which the dislocation moves and causes a solid to deform is called </a:t>
            </a:r>
            <a:r>
              <a:rPr lang="en-US" altLang="en-US" sz="2400" b="1">
                <a:solidFill>
                  <a:srgbClr val="FF0000"/>
                </a:solidFill>
              </a:rPr>
              <a:t>slip</a:t>
            </a:r>
            <a:r>
              <a:rPr lang="en-US" altLang="en-US" sz="2400" b="1">
                <a:solidFill>
                  <a:schemeClr val="tx2"/>
                </a:solidFill>
              </a:rPr>
              <a:t>.</a:t>
            </a:r>
          </a:p>
        </p:txBody>
      </p:sp>
    </p:spTree>
  </p:cSld>
  <p:clrMapOvr>
    <a:masterClrMapping/>
  </p:clrMapOvr>
  <p:transition>
    <p:pull dir="ru"/>
  </p:transition>
</p:sld>
</file>

<file path=ppt/slides/slide22.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685800" y="114300"/>
            <a:ext cx="7772400" cy="495300"/>
          </a:xfrm>
          <a:solidFill>
            <a:schemeClr val="bg1"/>
          </a:solidFill>
          <a:ln>
            <a:solidFill>
              <a:schemeClr val="bg1"/>
            </a:solidFill>
            <a:miter lim="800000"/>
            <a:headEnd/>
            <a:tailEnd/>
          </a:ln>
        </p:spPr>
        <p:txBody>
          <a:bodyPr/>
          <a:lstStyle/>
          <a:p>
            <a:r>
              <a:rPr lang="en-US" altLang="en-US" sz="4000" b="1">
                <a:solidFill>
                  <a:srgbClr val="FF0000"/>
                </a:solidFill>
              </a:rPr>
              <a:t>Dislocation Slip</a:t>
            </a:r>
            <a:endParaRPr lang="en-US" altLang="en-US" sz="3200" b="1">
              <a:solidFill>
                <a:srgbClr val="FF0000"/>
              </a:solidFill>
            </a:endParaRPr>
          </a:p>
        </p:txBody>
      </p:sp>
      <p:sp>
        <p:nvSpPr>
          <p:cNvPr id="76803" name="Rectangle 3"/>
          <p:cNvSpPr>
            <a:spLocks noChangeArrowheads="1"/>
          </p:cNvSpPr>
          <p:nvPr/>
        </p:nvSpPr>
        <p:spPr bwMode="auto">
          <a:xfrm>
            <a:off x="0" y="838200"/>
            <a:ext cx="9144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r>
              <a:rPr lang="en-US" altLang="en-US" sz="2400" b="1">
                <a:solidFill>
                  <a:schemeClr val="tx2"/>
                </a:solidFill>
              </a:rPr>
              <a:t>Dislocations </a:t>
            </a:r>
            <a:r>
              <a:rPr lang="en-US" altLang="en-US" sz="2400" b="1">
                <a:solidFill>
                  <a:srgbClr val="FF0000"/>
                </a:solidFill>
              </a:rPr>
              <a:t>move more readily </a:t>
            </a:r>
            <a:r>
              <a:rPr lang="en-US" altLang="en-US" sz="2400" b="1">
                <a:solidFill>
                  <a:schemeClr val="tx2"/>
                </a:solidFill>
              </a:rPr>
              <a:t>in some crystal planes and directions than in others as we will see.</a:t>
            </a:r>
          </a:p>
          <a:p>
            <a:r>
              <a:rPr lang="en-US" altLang="en-US" sz="2400" b="1">
                <a:solidFill>
                  <a:schemeClr val="tx2"/>
                </a:solidFill>
              </a:rPr>
              <a:t>The </a:t>
            </a:r>
            <a:r>
              <a:rPr lang="en-US" altLang="en-US" sz="2400" b="1">
                <a:solidFill>
                  <a:srgbClr val="FF0000"/>
                </a:solidFill>
              </a:rPr>
              <a:t>slip direction</a:t>
            </a:r>
            <a:r>
              <a:rPr lang="en-US" altLang="en-US" sz="2400" b="1">
                <a:solidFill>
                  <a:schemeClr val="tx2"/>
                </a:solidFill>
              </a:rPr>
              <a:t> of an edge dislocation is in the </a:t>
            </a:r>
            <a:r>
              <a:rPr lang="en-US" altLang="en-US" sz="2400" b="1">
                <a:solidFill>
                  <a:srgbClr val="FF0000"/>
                </a:solidFill>
              </a:rPr>
              <a:t>direction of the Burger’s vector</a:t>
            </a:r>
            <a:r>
              <a:rPr lang="en-US" altLang="en-US" sz="2400" b="1">
                <a:solidFill>
                  <a:schemeClr val="tx2"/>
                </a:solidFill>
              </a:rPr>
              <a:t>.</a:t>
            </a:r>
          </a:p>
          <a:p>
            <a:r>
              <a:rPr lang="en-US" altLang="en-US" sz="2400" b="1">
                <a:solidFill>
                  <a:schemeClr val="tx2"/>
                </a:solidFill>
              </a:rPr>
              <a:t>A </a:t>
            </a:r>
            <a:r>
              <a:rPr lang="en-US" altLang="en-US" sz="2400" b="1">
                <a:solidFill>
                  <a:srgbClr val="FF0000"/>
                </a:solidFill>
              </a:rPr>
              <a:t>slip plane</a:t>
            </a:r>
            <a:r>
              <a:rPr lang="en-US" altLang="en-US" sz="2400" b="1">
                <a:solidFill>
                  <a:schemeClr val="tx2"/>
                </a:solidFill>
              </a:rPr>
              <a:t> is defined by the direction of the </a:t>
            </a:r>
            <a:r>
              <a:rPr lang="en-US" altLang="en-US" sz="2400" b="1">
                <a:solidFill>
                  <a:srgbClr val="FF0000"/>
                </a:solidFill>
              </a:rPr>
              <a:t>Burger’s vector</a:t>
            </a:r>
            <a:r>
              <a:rPr lang="en-US" altLang="en-US" sz="2400" b="1">
                <a:solidFill>
                  <a:schemeClr val="tx2"/>
                </a:solidFill>
              </a:rPr>
              <a:t> and the </a:t>
            </a:r>
            <a:r>
              <a:rPr lang="en-US" altLang="en-US" sz="2400" b="1">
                <a:solidFill>
                  <a:srgbClr val="FF0000"/>
                </a:solidFill>
              </a:rPr>
              <a:t>line direction</a:t>
            </a:r>
            <a:r>
              <a:rPr lang="en-US" altLang="en-US" sz="2400" b="1">
                <a:solidFill>
                  <a:schemeClr val="tx2"/>
                </a:solidFill>
              </a:rPr>
              <a:t> of the edge dislocation. </a:t>
            </a:r>
          </a:p>
          <a:p>
            <a:r>
              <a:rPr lang="en-US" altLang="en-US" sz="2400" b="1">
                <a:solidFill>
                  <a:schemeClr val="tx2"/>
                </a:solidFill>
              </a:rPr>
              <a:t>As stated before,</a:t>
            </a:r>
          </a:p>
          <a:p>
            <a:pPr lvl="1"/>
            <a:r>
              <a:rPr lang="en-US" altLang="en-US" sz="2400" b="1">
                <a:solidFill>
                  <a:schemeClr val="tx2"/>
                </a:solidFill>
              </a:rPr>
              <a:t>The line direction, u, of a </a:t>
            </a:r>
            <a:r>
              <a:rPr lang="en-US" altLang="en-US" sz="2400" b="1">
                <a:solidFill>
                  <a:srgbClr val="FF0000"/>
                </a:solidFill>
              </a:rPr>
              <a:t>screw dislocation</a:t>
            </a:r>
            <a:r>
              <a:rPr lang="en-US" altLang="en-US" sz="2400" b="1">
                <a:solidFill>
                  <a:schemeClr val="tx2"/>
                </a:solidFill>
              </a:rPr>
              <a:t> is in the same direction as its Burger’s vector, b.</a:t>
            </a:r>
          </a:p>
          <a:p>
            <a:pPr lvl="1"/>
            <a:r>
              <a:rPr lang="en-US" altLang="en-US" sz="2400" b="1">
                <a:solidFill>
                  <a:schemeClr val="tx2"/>
                </a:solidFill>
              </a:rPr>
              <a:t>An </a:t>
            </a:r>
            <a:r>
              <a:rPr lang="en-US" altLang="en-US" sz="2400" b="1">
                <a:solidFill>
                  <a:srgbClr val="FF0000"/>
                </a:solidFill>
              </a:rPr>
              <a:t>edge dislocation</a:t>
            </a:r>
            <a:r>
              <a:rPr lang="en-US" altLang="en-US" sz="2400" b="1">
                <a:solidFill>
                  <a:schemeClr val="tx2"/>
                </a:solidFill>
              </a:rPr>
              <a:t> has its Burger’s vector perpendicular to the line direction of a dislocation</a:t>
            </a:r>
          </a:p>
          <a:p>
            <a:pPr lvl="1"/>
            <a:r>
              <a:rPr lang="en-US" altLang="en-US" sz="2400" b="1">
                <a:solidFill>
                  <a:schemeClr val="tx2"/>
                </a:solidFill>
              </a:rPr>
              <a:t>A dislocation having a line direction not parallel or perpendicular to the Burger’s vector is considered a </a:t>
            </a:r>
            <a:r>
              <a:rPr lang="en-US" altLang="en-US" sz="2400" b="1">
                <a:solidFill>
                  <a:srgbClr val="FF0000"/>
                </a:solidFill>
              </a:rPr>
              <a:t>mixed dislocation</a:t>
            </a:r>
            <a:r>
              <a:rPr lang="en-US" altLang="en-US" sz="2400" b="1">
                <a:solidFill>
                  <a:schemeClr val="tx2"/>
                </a:solidFill>
              </a:rPr>
              <a:t>.</a:t>
            </a:r>
          </a:p>
        </p:txBody>
      </p:sp>
    </p:spTree>
  </p:cSld>
  <p:clrMapOvr>
    <a:masterClrMapping/>
  </p:clrMapOvr>
  <p:transition>
    <p:pull dir="ru"/>
  </p:transition>
</p:sld>
</file>

<file path=ppt/slides/slide23.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36931" name="Rectangle 3"/>
          <p:cNvSpPr>
            <a:spLocks noChangeArrowheads="1"/>
          </p:cNvSpPr>
          <p:nvPr/>
        </p:nvSpPr>
        <p:spPr bwMode="auto">
          <a:xfrm>
            <a:off x="0" y="847725"/>
            <a:ext cx="91440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defRPr/>
            </a:pPr>
            <a:r>
              <a:rPr lang="en-US" altLang="en-US" sz="2400" b="1" dirty="0"/>
              <a:t>During slip, the dislocation </a:t>
            </a:r>
            <a:r>
              <a:rPr lang="en-US" altLang="en-US" sz="2400" b="1" dirty="0">
                <a:solidFill>
                  <a:srgbClr val="FF0000"/>
                </a:solidFill>
              </a:rPr>
              <a:t>moves</a:t>
            </a:r>
            <a:r>
              <a:rPr lang="en-US" altLang="en-US" sz="2400" b="1" dirty="0"/>
              <a:t> from one set of surroundings </a:t>
            </a:r>
            <a:r>
              <a:rPr lang="en-US" altLang="en-US" sz="2400" b="1" dirty="0">
                <a:solidFill>
                  <a:srgbClr val="FF0000"/>
                </a:solidFill>
              </a:rPr>
              <a:t>to another identical set</a:t>
            </a:r>
            <a:r>
              <a:rPr lang="en-US" altLang="en-US" sz="2400" b="1" dirty="0">
                <a:solidFill>
                  <a:schemeClr val="tx2"/>
                </a:solidFill>
              </a:rPr>
              <a:t>.</a:t>
            </a:r>
          </a:p>
          <a:p>
            <a:pPr>
              <a:defRPr/>
            </a:pPr>
            <a:endParaRPr lang="en-US" altLang="en-US" sz="2400" b="1" dirty="0">
              <a:solidFill>
                <a:schemeClr val="tx2"/>
              </a:solidFill>
            </a:endParaRPr>
          </a:p>
          <a:p>
            <a:pPr>
              <a:defRPr/>
            </a:pPr>
            <a:r>
              <a:rPr lang="en-US" altLang="en-US" sz="2400" b="1" dirty="0">
                <a:solidFill>
                  <a:schemeClr val="tx2"/>
                </a:solidFill>
              </a:rPr>
              <a:t>The least amount of energy expenditure requires movement, i.e. </a:t>
            </a:r>
            <a:r>
              <a:rPr lang="en-US" altLang="en-US" sz="2400" b="1" dirty="0">
                <a:solidFill>
                  <a:srgbClr val="FF0000"/>
                </a:solidFill>
              </a:rPr>
              <a:t>slip direction</a:t>
            </a:r>
            <a:r>
              <a:rPr lang="en-US" altLang="en-US" sz="2400" b="1" dirty="0">
                <a:solidFill>
                  <a:schemeClr val="tx2"/>
                </a:solidFill>
              </a:rPr>
              <a:t>, in directions in which the </a:t>
            </a:r>
            <a:r>
              <a:rPr lang="en-US" altLang="en-US" sz="2400" b="1" dirty="0">
                <a:solidFill>
                  <a:srgbClr val="FF0000"/>
                </a:solidFill>
              </a:rPr>
              <a:t>repeat distance</a:t>
            </a:r>
            <a:r>
              <a:rPr lang="en-US" altLang="en-US" sz="2400" b="1" dirty="0">
                <a:solidFill>
                  <a:schemeClr val="tx2"/>
                </a:solidFill>
              </a:rPr>
              <a:t> is the shortest, i.e., </a:t>
            </a:r>
            <a:r>
              <a:rPr lang="en-US" altLang="en-US" sz="2400" b="1" dirty="0">
                <a:solidFill>
                  <a:srgbClr val="FF0000"/>
                </a:solidFill>
              </a:rPr>
              <a:t>close-packed directions</a:t>
            </a:r>
            <a:r>
              <a:rPr lang="en-US" altLang="en-US" sz="2400" b="1" dirty="0">
                <a:solidFill>
                  <a:schemeClr val="tx2"/>
                </a:solidFill>
              </a:rPr>
              <a:t>.</a:t>
            </a:r>
          </a:p>
          <a:p>
            <a:pPr marL="0" indent="0">
              <a:buFontTx/>
              <a:buNone/>
              <a:defRPr/>
            </a:pPr>
            <a:endParaRPr lang="en-US" altLang="en-US" sz="2400" b="1" dirty="0">
              <a:solidFill>
                <a:schemeClr val="tx2"/>
              </a:solidFill>
            </a:endParaRPr>
          </a:p>
          <a:p>
            <a:pPr marL="0" indent="0">
              <a:buFontTx/>
              <a:buNone/>
              <a:defRPr/>
            </a:pPr>
            <a:r>
              <a:rPr lang="en-US" altLang="en-US" sz="2400" b="1" dirty="0">
                <a:solidFill>
                  <a:srgbClr val="FF0000"/>
                </a:solidFill>
              </a:rPr>
              <a:t>Slip reduces strength but increases ductility in materials. </a:t>
            </a:r>
            <a:r>
              <a:rPr lang="en-US" altLang="en-US" sz="2400" b="1" dirty="0"/>
              <a:t>Many </a:t>
            </a:r>
            <a:r>
              <a:rPr lang="en-US" altLang="en-US" sz="2400" b="1" dirty="0">
                <a:solidFill>
                  <a:srgbClr val="FF0000"/>
                </a:solidFill>
              </a:rPr>
              <a:t>materials need ductility</a:t>
            </a:r>
            <a:r>
              <a:rPr lang="en-US" altLang="en-US" sz="2400" b="1" dirty="0"/>
              <a:t> for their fabrication into a product.</a:t>
            </a:r>
          </a:p>
          <a:p>
            <a:pPr marL="0" indent="0">
              <a:buFontTx/>
              <a:buNone/>
              <a:defRPr/>
            </a:pPr>
            <a:endParaRPr lang="en-US" altLang="en-US" sz="2400" b="1" dirty="0">
              <a:solidFill>
                <a:schemeClr val="tx2"/>
              </a:solidFill>
            </a:endParaRPr>
          </a:p>
          <a:p>
            <a:pPr>
              <a:defRPr/>
            </a:pPr>
            <a:r>
              <a:rPr lang="en-US" altLang="en-US" sz="2400" b="1" dirty="0">
                <a:solidFill>
                  <a:srgbClr val="FF0000"/>
                </a:solidFill>
              </a:rPr>
              <a:t>Slip planes</a:t>
            </a:r>
            <a:r>
              <a:rPr lang="en-US" altLang="en-US" sz="2400" b="1" dirty="0">
                <a:solidFill>
                  <a:schemeClr val="tx2"/>
                </a:solidFill>
              </a:rPr>
              <a:t> tend to be those planes with a high planar packing, i.e., </a:t>
            </a:r>
            <a:r>
              <a:rPr lang="en-US" altLang="en-US" sz="2400" b="1" dirty="0">
                <a:solidFill>
                  <a:srgbClr val="FF0000"/>
                </a:solidFill>
              </a:rPr>
              <a:t>close packed planes</a:t>
            </a:r>
            <a:r>
              <a:rPr lang="en-US" altLang="en-US" sz="2400" b="1" dirty="0">
                <a:solidFill>
                  <a:schemeClr val="tx2"/>
                </a:solidFill>
              </a:rPr>
              <a:t>.</a:t>
            </a:r>
          </a:p>
          <a:p>
            <a:pPr>
              <a:defRPr/>
            </a:pPr>
            <a:endParaRPr lang="en-US" altLang="en-US" sz="2400" b="1" dirty="0">
              <a:solidFill>
                <a:schemeClr val="tx2"/>
              </a:solidFill>
            </a:endParaRPr>
          </a:p>
        </p:txBody>
      </p:sp>
      <p:sp>
        <p:nvSpPr>
          <p:cNvPr id="78851" name="Rectangle 2"/>
          <p:cNvSpPr>
            <a:spLocks noGrp="1" noChangeArrowheads="1"/>
          </p:cNvSpPr>
          <p:nvPr>
            <p:ph type="title"/>
          </p:nvPr>
        </p:nvSpPr>
        <p:spPr>
          <a:xfrm>
            <a:off x="533400" y="0"/>
            <a:ext cx="7772400" cy="533400"/>
          </a:xfrm>
          <a:solidFill>
            <a:schemeClr val="bg1"/>
          </a:solidFill>
          <a:ln>
            <a:solidFill>
              <a:schemeClr val="bg1"/>
            </a:solidFill>
            <a:miter lim="800000"/>
            <a:headEnd/>
            <a:tailEnd/>
          </a:ln>
        </p:spPr>
        <p:txBody>
          <a:bodyPr/>
          <a:lstStyle/>
          <a:p>
            <a:r>
              <a:rPr lang="en-US" altLang="en-US" sz="4000" b="1">
                <a:solidFill>
                  <a:srgbClr val="FF0000"/>
                </a:solidFill>
              </a:rPr>
              <a:t>Dislocation Slip</a:t>
            </a:r>
            <a:endParaRPr lang="en-US" altLang="en-US" sz="3200" b="1">
              <a:solidFill>
                <a:srgbClr val="FF0000"/>
              </a:solidFill>
            </a:endParaRPr>
          </a:p>
        </p:txBody>
      </p:sp>
    </p:spTree>
  </p:cSld>
  <p:clrMapOvr>
    <a:masterClrMapping/>
  </p:clrMapOvr>
  <p:transition>
    <p:pull dir="ru"/>
  </p:transition>
</p:sld>
</file>

<file path=ppt/slides/slide24.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80898" name="Picture 3" descr="Fig 4-7 - glide plan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63513"/>
            <a:ext cx="9144000" cy="363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Text Box 4"/>
          <p:cNvSpPr txBox="1">
            <a:spLocks noChangeArrowheads="1"/>
          </p:cNvSpPr>
          <p:nvPr/>
        </p:nvSpPr>
        <p:spPr bwMode="auto">
          <a:xfrm>
            <a:off x="0" y="3779838"/>
            <a:ext cx="9144000" cy="267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Schematic of </a:t>
            </a:r>
            <a:r>
              <a:rPr lang="en-US" altLang="en-US" sz="2400" b="1">
                <a:solidFill>
                  <a:srgbClr val="FF0000"/>
                </a:solidFill>
              </a:rPr>
              <a:t>slip line, slip plane and slip vector </a:t>
            </a:r>
            <a:r>
              <a:rPr lang="en-US" altLang="en-US" sz="2400" b="1"/>
              <a:t>(Burgers vector) for a) an edge dislocation (</a:t>
            </a:r>
            <a:r>
              <a:rPr lang="en-US" altLang="en-US" sz="2400" b="1">
                <a:solidFill>
                  <a:srgbClr val="FF0000"/>
                </a:solidFill>
              </a:rPr>
              <a:t>force</a:t>
            </a:r>
            <a:r>
              <a:rPr lang="en-US" altLang="en-US" sz="2400" b="1"/>
              <a:t>) and b) a screw dislocation (</a:t>
            </a:r>
            <a:r>
              <a:rPr lang="en-US" altLang="en-US" sz="2400" b="1">
                <a:solidFill>
                  <a:srgbClr val="FF0000"/>
                </a:solidFill>
              </a:rPr>
              <a:t>shear</a:t>
            </a:r>
            <a:r>
              <a:rPr lang="en-US" altLang="en-US" sz="2400" b="1"/>
              <a:t>).  </a:t>
            </a:r>
            <a:endParaRPr lang="en-US" altLang="en-US" sz="800" b="1"/>
          </a:p>
          <a:p>
            <a:pPr>
              <a:spcBef>
                <a:spcPct val="0"/>
              </a:spcBef>
              <a:buFontTx/>
              <a:buNone/>
            </a:pPr>
            <a:r>
              <a:rPr lang="en-US" altLang="en-US" sz="2400" b="1"/>
              <a:t>Note the relationships between the </a:t>
            </a:r>
            <a:r>
              <a:rPr lang="en-US" altLang="en-US" sz="2400" b="1">
                <a:solidFill>
                  <a:srgbClr val="FF0000"/>
                </a:solidFill>
              </a:rPr>
              <a:t>dislocation line, slip vector and glide plane</a:t>
            </a:r>
            <a:r>
              <a:rPr lang="en-US" altLang="en-US" sz="2400" b="1"/>
              <a:t> . Slip vectors are parallel to the Burgers vectors.</a:t>
            </a:r>
          </a:p>
          <a:p>
            <a:pPr>
              <a:spcBef>
                <a:spcPct val="0"/>
              </a:spcBef>
              <a:buFontTx/>
              <a:buNone/>
            </a:pPr>
            <a:r>
              <a:rPr lang="en-US" altLang="en-US" sz="2400" b="1"/>
              <a:t>The same screw dislocation can actually slip on many </a:t>
            </a:r>
            <a:r>
              <a:rPr lang="en-US" altLang="en-US" sz="2400" b="1">
                <a:solidFill>
                  <a:srgbClr val="FF0000"/>
                </a:solidFill>
              </a:rPr>
              <a:t>equivalent but different planes</a:t>
            </a:r>
            <a:r>
              <a:rPr lang="en-US" altLang="en-US" sz="2400" b="1"/>
              <a:t> enabling it to move from one plane to another referred to as </a:t>
            </a:r>
            <a:r>
              <a:rPr lang="en-US" altLang="en-US" sz="2400" b="1">
                <a:solidFill>
                  <a:srgbClr val="FF0000"/>
                </a:solidFill>
              </a:rPr>
              <a:t>cross-slip</a:t>
            </a:r>
            <a:r>
              <a:rPr lang="en-US" altLang="en-US" sz="2400" b="1"/>
              <a:t>.</a:t>
            </a:r>
          </a:p>
        </p:txBody>
      </p:sp>
      <p:sp>
        <p:nvSpPr>
          <p:cNvPr id="80900" name="Line 5"/>
          <p:cNvSpPr>
            <a:spLocks noChangeShapeType="1"/>
          </p:cNvSpPr>
          <p:nvPr/>
        </p:nvSpPr>
        <p:spPr bwMode="auto">
          <a:xfrm flipV="1">
            <a:off x="6705600" y="1916113"/>
            <a:ext cx="3048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0901" name="Text Box 6"/>
          <p:cNvSpPr txBox="1">
            <a:spLocks noChangeArrowheads="1"/>
          </p:cNvSpPr>
          <p:nvPr/>
        </p:nvSpPr>
        <p:spPr bwMode="auto">
          <a:xfrm>
            <a:off x="6461125" y="17287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u="sng"/>
              <a:t>b</a:t>
            </a:r>
          </a:p>
        </p:txBody>
      </p:sp>
      <p:sp>
        <p:nvSpPr>
          <p:cNvPr id="80902" name="Line 7"/>
          <p:cNvSpPr>
            <a:spLocks noChangeShapeType="1"/>
          </p:cNvSpPr>
          <p:nvPr/>
        </p:nvSpPr>
        <p:spPr bwMode="auto">
          <a:xfrm flipH="1">
            <a:off x="2057400" y="1874838"/>
            <a:ext cx="533400" cy="412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0903" name="Text Box 8"/>
          <p:cNvSpPr txBox="1">
            <a:spLocks noChangeArrowheads="1"/>
          </p:cNvSpPr>
          <p:nvPr/>
        </p:nvSpPr>
        <p:spPr bwMode="auto">
          <a:xfrm>
            <a:off x="2346325" y="138271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u="sng"/>
              <a:t>b</a:t>
            </a:r>
          </a:p>
        </p:txBody>
      </p:sp>
    </p:spTree>
  </p:cSld>
  <p:clrMapOvr>
    <a:masterClrMapping/>
  </p:clrMapOvr>
  <p:transition>
    <p:pull dir="ru"/>
  </p:transition>
</p:sld>
</file>

<file path=ppt/slides/slide25.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82946" name="Picture 3" descr="Fig 4-8 - dislocation movemen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6513"/>
            <a:ext cx="8610600" cy="37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7" name="Picture 4" descr="Fig 4-8d - dislocation movement - inch wor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7550" y="3733800"/>
            <a:ext cx="200025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8" name="Text Box 5"/>
          <p:cNvSpPr txBox="1">
            <a:spLocks noChangeArrowheads="1"/>
          </p:cNvSpPr>
          <p:nvPr/>
        </p:nvSpPr>
        <p:spPr bwMode="auto">
          <a:xfrm>
            <a:off x="76200" y="3805238"/>
            <a:ext cx="7086600" cy="286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000" b="1"/>
              <a:t>When a shear stress is applied to the dislocation in a) the atoms are displaced, causing the dislocation to move one Burgers vector in the slip direction b). Continued movement of the dislocation creates a step the surface c) and the crystal is deformed.  Motion of a caterpillar (or a fold in a rug) is analogous to the motion of a dislocation. </a:t>
            </a:r>
          </a:p>
          <a:p>
            <a:pPr>
              <a:spcBef>
                <a:spcPct val="0"/>
              </a:spcBef>
              <a:buFontTx/>
              <a:buNone/>
            </a:pPr>
            <a:endParaRPr lang="en-US" altLang="en-US" sz="2000" b="1"/>
          </a:p>
          <a:p>
            <a:pPr>
              <a:spcBef>
                <a:spcPct val="0"/>
              </a:spcBef>
              <a:buFontTx/>
              <a:buNone/>
            </a:pPr>
            <a:r>
              <a:rPr lang="en-US" altLang="en-US" sz="2000" b="1">
                <a:solidFill>
                  <a:srgbClr val="FF0000"/>
                </a:solidFill>
              </a:rPr>
              <a:t>Note: the slip direction is always in the direction of the Burgers vector of the dislocation</a:t>
            </a:r>
            <a:r>
              <a:rPr lang="en-US" altLang="en-US" sz="2000" b="1"/>
              <a:t>.</a:t>
            </a:r>
          </a:p>
        </p:txBody>
      </p:sp>
    </p:spTree>
  </p:cSld>
  <p:clrMapOvr>
    <a:masterClrMapping/>
  </p:clrMapOvr>
  <p:transition>
    <p:pull dir="ru"/>
  </p:transition>
</p:sld>
</file>

<file path=ppt/slides/slide26.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84994" name="Picture 1027" descr="Table 4-1 Slip Planes &amp; Directi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175"/>
            <a:ext cx="7772400" cy="639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Text Box 1028"/>
          <p:cNvSpPr txBox="1">
            <a:spLocks noChangeArrowheads="1"/>
          </p:cNvSpPr>
          <p:nvPr/>
        </p:nvSpPr>
        <p:spPr bwMode="auto">
          <a:xfrm>
            <a:off x="7680325" y="461327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a:t>
            </a:r>
          </a:p>
        </p:txBody>
      </p:sp>
      <p:sp>
        <p:nvSpPr>
          <p:cNvPr id="84996" name="Text Box 1029"/>
          <p:cNvSpPr txBox="1">
            <a:spLocks noChangeArrowheads="1"/>
          </p:cNvSpPr>
          <p:nvPr/>
        </p:nvSpPr>
        <p:spPr bwMode="auto">
          <a:xfrm>
            <a:off x="685800" y="6248400"/>
            <a:ext cx="80502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 - Note Silicon, i.e. diamond cubic, is similar to FCC metals.</a:t>
            </a:r>
          </a:p>
        </p:txBody>
      </p:sp>
      <p:sp>
        <p:nvSpPr>
          <p:cNvPr id="84997" name="Text Box 1030"/>
          <p:cNvSpPr txBox="1">
            <a:spLocks noChangeArrowheads="1"/>
          </p:cNvSpPr>
          <p:nvPr/>
        </p:nvSpPr>
        <p:spPr bwMode="auto">
          <a:xfrm>
            <a:off x="4957763" y="1600200"/>
            <a:ext cx="19002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a:t>not close </a:t>
            </a:r>
          </a:p>
          <a:p>
            <a:pPr>
              <a:spcBef>
                <a:spcPct val="0"/>
              </a:spcBef>
              <a:buFontTx/>
              <a:buNone/>
            </a:pPr>
            <a:r>
              <a:rPr lang="en-US" altLang="en-US" sz="2400"/>
              <a:t>packed planes</a:t>
            </a:r>
          </a:p>
        </p:txBody>
      </p:sp>
      <p:sp>
        <p:nvSpPr>
          <p:cNvPr id="84998" name="AutoShape 1031"/>
          <p:cNvSpPr>
            <a:spLocks/>
          </p:cNvSpPr>
          <p:nvPr/>
        </p:nvSpPr>
        <p:spPr bwMode="auto">
          <a:xfrm>
            <a:off x="4724400" y="1676400"/>
            <a:ext cx="152400" cy="914400"/>
          </a:xfrm>
          <a:prstGeom prst="righ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US" altLang="en-US" sz="2400"/>
          </a:p>
        </p:txBody>
      </p:sp>
      <p:sp>
        <p:nvSpPr>
          <p:cNvPr id="84999" name="Text Box 1032"/>
          <p:cNvSpPr txBox="1">
            <a:spLocks noChangeArrowheads="1"/>
          </p:cNvSpPr>
          <p:nvPr/>
        </p:nvSpPr>
        <p:spPr bwMode="auto">
          <a:xfrm>
            <a:off x="4881563" y="2765425"/>
            <a:ext cx="19002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a:t>close </a:t>
            </a:r>
          </a:p>
          <a:p>
            <a:pPr>
              <a:spcBef>
                <a:spcPct val="0"/>
              </a:spcBef>
              <a:buFontTx/>
              <a:buNone/>
            </a:pPr>
            <a:r>
              <a:rPr lang="en-US" altLang="en-US" sz="2400"/>
              <a:t>packed planes</a:t>
            </a:r>
          </a:p>
        </p:txBody>
      </p:sp>
      <p:sp>
        <p:nvSpPr>
          <p:cNvPr id="85000" name="AutoShape 1033"/>
          <p:cNvSpPr>
            <a:spLocks/>
          </p:cNvSpPr>
          <p:nvPr/>
        </p:nvSpPr>
        <p:spPr bwMode="auto">
          <a:xfrm>
            <a:off x="4733925" y="2749550"/>
            <a:ext cx="152400" cy="914400"/>
          </a:xfrm>
          <a:prstGeom prst="righ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US" altLang="en-US" sz="2400"/>
          </a:p>
        </p:txBody>
      </p:sp>
      <p:sp>
        <p:nvSpPr>
          <p:cNvPr id="85001" name="Text Box 1034"/>
          <p:cNvSpPr txBox="1">
            <a:spLocks noChangeArrowheads="1"/>
          </p:cNvSpPr>
          <p:nvPr/>
        </p:nvSpPr>
        <p:spPr bwMode="auto">
          <a:xfrm>
            <a:off x="7759700" y="1911350"/>
            <a:ext cx="13843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a:t>close </a:t>
            </a:r>
          </a:p>
          <a:p>
            <a:pPr>
              <a:spcBef>
                <a:spcPct val="0"/>
              </a:spcBef>
              <a:buFontTx/>
              <a:buNone/>
            </a:pPr>
            <a:r>
              <a:rPr lang="en-US" altLang="en-US" sz="2400"/>
              <a:t>packed</a:t>
            </a:r>
          </a:p>
          <a:p>
            <a:pPr>
              <a:spcBef>
                <a:spcPct val="0"/>
              </a:spcBef>
              <a:buFontTx/>
              <a:buNone/>
            </a:pPr>
            <a:r>
              <a:rPr lang="en-US" altLang="en-US" sz="2400"/>
              <a:t>directions</a:t>
            </a:r>
          </a:p>
        </p:txBody>
      </p:sp>
    </p:spTree>
  </p:cSld>
  <p:clrMapOvr>
    <a:masterClrMapping/>
  </p:clrMapOvr>
  <p:transition>
    <p:pull dir="ru"/>
  </p:transition>
</p:sld>
</file>

<file path=ppt/slides/slide27.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grpSp>
        <p:nvGrpSpPr>
          <p:cNvPr id="87042" name="Group 1032"/>
          <p:cNvGrpSpPr>
            <a:grpSpLocks/>
          </p:cNvGrpSpPr>
          <p:nvPr/>
        </p:nvGrpSpPr>
        <p:grpSpPr bwMode="auto">
          <a:xfrm>
            <a:off x="1600200" y="-193675"/>
            <a:ext cx="7391400" cy="5472113"/>
            <a:chOff x="1008" y="288"/>
            <a:chExt cx="4656" cy="3447"/>
          </a:xfrm>
        </p:grpSpPr>
        <p:pic>
          <p:nvPicPr>
            <p:cNvPr id="87047" name="Picture 1027" descr="Fig 4-9 - ceramic disloc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2" y="480"/>
              <a:ext cx="4512" cy="3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8" name="Rectangle 1031"/>
            <p:cNvSpPr>
              <a:spLocks noChangeArrowheads="1"/>
            </p:cNvSpPr>
            <p:nvPr/>
          </p:nvSpPr>
          <p:spPr bwMode="auto">
            <a:xfrm>
              <a:off x="1008" y="288"/>
              <a:ext cx="528" cy="26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US" altLang="en-US" sz="2400"/>
            </a:p>
          </p:txBody>
        </p:sp>
      </p:grpSp>
      <p:sp>
        <p:nvSpPr>
          <p:cNvPr id="87043" name="Text Box 1028"/>
          <p:cNvSpPr txBox="1">
            <a:spLocks noChangeArrowheads="1"/>
          </p:cNvSpPr>
          <p:nvPr/>
        </p:nvSpPr>
        <p:spPr bwMode="auto">
          <a:xfrm>
            <a:off x="152400" y="163513"/>
            <a:ext cx="2971800" cy="421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800" b="1">
                <a:solidFill>
                  <a:srgbClr val="FF0000"/>
                </a:solidFill>
              </a:rPr>
              <a:t>Ceramics</a:t>
            </a:r>
          </a:p>
          <a:p>
            <a:pPr>
              <a:spcBef>
                <a:spcPct val="0"/>
              </a:spcBef>
              <a:buFontTx/>
              <a:buNone/>
            </a:pPr>
            <a:r>
              <a:rPr lang="en-US" altLang="en-US" sz="2400" b="1"/>
              <a:t>An edge dislocation in MgO.</a:t>
            </a:r>
          </a:p>
          <a:p>
            <a:pPr>
              <a:spcBef>
                <a:spcPct val="0"/>
              </a:spcBef>
              <a:buFontTx/>
              <a:buNone/>
            </a:pPr>
            <a:r>
              <a:rPr lang="en-US" altLang="en-US" sz="2400" b="1"/>
              <a:t>Dislocations in ceramics </a:t>
            </a:r>
            <a:r>
              <a:rPr lang="en-US" altLang="en-US" sz="2400" b="1">
                <a:solidFill>
                  <a:srgbClr val="FF0000"/>
                </a:solidFill>
              </a:rPr>
              <a:t>and semiconductors </a:t>
            </a:r>
            <a:r>
              <a:rPr lang="en-US" altLang="en-US" sz="2400" b="1"/>
              <a:t>are complicated by </a:t>
            </a:r>
            <a:r>
              <a:rPr lang="en-US" altLang="en-US" sz="2400" b="1">
                <a:solidFill>
                  <a:srgbClr val="FF0000"/>
                </a:solidFill>
              </a:rPr>
              <a:t>ionic</a:t>
            </a:r>
            <a:r>
              <a:rPr lang="en-US" altLang="en-US" sz="2400" b="1"/>
              <a:t> </a:t>
            </a:r>
            <a:r>
              <a:rPr lang="en-US" altLang="en-US" sz="2400" b="1">
                <a:solidFill>
                  <a:srgbClr val="FF0000"/>
                </a:solidFill>
              </a:rPr>
              <a:t>charges</a:t>
            </a:r>
            <a:r>
              <a:rPr lang="en-US" altLang="en-US" sz="2400" b="1"/>
              <a:t> existing at their core requiring large energies for them to glide.</a:t>
            </a:r>
          </a:p>
        </p:txBody>
      </p:sp>
      <p:sp>
        <p:nvSpPr>
          <p:cNvPr id="87044" name="Text Box 1029"/>
          <p:cNvSpPr txBox="1">
            <a:spLocks noChangeArrowheads="1"/>
          </p:cNvSpPr>
          <p:nvPr/>
        </p:nvSpPr>
        <p:spPr bwMode="auto">
          <a:xfrm>
            <a:off x="1127125" y="-68580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US" altLang="en-US" sz="2400"/>
          </a:p>
        </p:txBody>
      </p:sp>
      <p:sp>
        <p:nvSpPr>
          <p:cNvPr id="87045" name="Text Box 1033"/>
          <p:cNvSpPr txBox="1">
            <a:spLocks noChangeArrowheads="1"/>
          </p:cNvSpPr>
          <p:nvPr/>
        </p:nvSpPr>
        <p:spPr bwMode="auto">
          <a:xfrm>
            <a:off x="974725" y="5410200"/>
            <a:ext cx="79390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solidFill>
                  <a:schemeClr val="accent2"/>
                </a:solidFill>
              </a:rPr>
              <a:t>If these dislocations can’t glide, how do they move/deform?</a:t>
            </a:r>
          </a:p>
        </p:txBody>
      </p:sp>
      <p:sp>
        <p:nvSpPr>
          <p:cNvPr id="87046" name="Text Box 1034"/>
          <p:cNvSpPr txBox="1">
            <a:spLocks noChangeArrowheads="1"/>
          </p:cNvSpPr>
          <p:nvPr/>
        </p:nvSpPr>
        <p:spPr bwMode="auto">
          <a:xfrm>
            <a:off x="0" y="6003925"/>
            <a:ext cx="9144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000" b="1">
                <a:solidFill>
                  <a:schemeClr val="accent2"/>
                </a:solidFill>
              </a:rPr>
              <a:t>See also Example 4-6 in Askeland and Wright for the calculation of the length of the Burgers vector of a dislocation.</a:t>
            </a:r>
          </a:p>
        </p:txBody>
      </p:sp>
    </p:spTree>
  </p:cSld>
  <p:clrMapOvr>
    <a:masterClrMapping/>
  </p:clrMapOvr>
  <p:transition>
    <p:pull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762000" y="165100"/>
            <a:ext cx="7772400" cy="495300"/>
          </a:xfrm>
          <a:solidFill>
            <a:schemeClr val="bg1"/>
          </a:solidFill>
          <a:ln>
            <a:solidFill>
              <a:schemeClr val="bg1"/>
            </a:solidFill>
            <a:miter lim="800000"/>
            <a:headEnd/>
            <a:tailEnd/>
          </a:ln>
        </p:spPr>
        <p:txBody>
          <a:bodyPr/>
          <a:lstStyle/>
          <a:p>
            <a:r>
              <a:rPr lang="en-US" altLang="en-US" sz="4000" b="1">
                <a:solidFill>
                  <a:srgbClr val="FF0000"/>
                </a:solidFill>
              </a:rPr>
              <a:t>Dislocation Cores</a:t>
            </a:r>
            <a:endParaRPr lang="en-US" altLang="en-US" sz="3200" b="1">
              <a:solidFill>
                <a:srgbClr val="FF0000"/>
              </a:solidFill>
            </a:endParaRPr>
          </a:p>
        </p:txBody>
      </p:sp>
      <p:sp>
        <p:nvSpPr>
          <p:cNvPr id="89091" name="Rectangle 3"/>
          <p:cNvSpPr>
            <a:spLocks noChangeArrowheads="1"/>
          </p:cNvSpPr>
          <p:nvPr/>
        </p:nvSpPr>
        <p:spPr bwMode="auto">
          <a:xfrm>
            <a:off x="0" y="1100138"/>
            <a:ext cx="9144000" cy="3890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r>
              <a:rPr lang="en-US" altLang="en-US" sz="2400" b="1">
                <a:solidFill>
                  <a:schemeClr val="tx2"/>
                </a:solidFill>
              </a:rPr>
              <a:t>At the dislocation core, there are </a:t>
            </a:r>
            <a:r>
              <a:rPr lang="en-US" altLang="en-US" sz="2400" b="1">
                <a:solidFill>
                  <a:srgbClr val="FF0000"/>
                </a:solidFill>
              </a:rPr>
              <a:t>dangling electron bonds</a:t>
            </a:r>
            <a:r>
              <a:rPr lang="en-US" altLang="en-US" sz="2400" b="1">
                <a:solidFill>
                  <a:schemeClr val="tx2"/>
                </a:solidFill>
              </a:rPr>
              <a:t>.</a:t>
            </a:r>
          </a:p>
          <a:p>
            <a:endParaRPr lang="en-US" altLang="en-US" sz="1600" b="1">
              <a:solidFill>
                <a:schemeClr val="tx2"/>
              </a:solidFill>
            </a:endParaRPr>
          </a:p>
          <a:p>
            <a:r>
              <a:rPr lang="en-US" altLang="en-US" sz="2400" b="1">
                <a:solidFill>
                  <a:schemeClr val="tx2"/>
                </a:solidFill>
              </a:rPr>
              <a:t>In </a:t>
            </a:r>
            <a:r>
              <a:rPr lang="en-US" altLang="en-US" sz="2400" b="1">
                <a:solidFill>
                  <a:srgbClr val="FF0000"/>
                </a:solidFill>
              </a:rPr>
              <a:t>metals</a:t>
            </a:r>
            <a:r>
              <a:rPr lang="en-US" altLang="en-US" sz="2400" b="1">
                <a:solidFill>
                  <a:schemeClr val="tx2"/>
                </a:solidFill>
              </a:rPr>
              <a:t> where conduction of electrons is everywhere, the dangling electrons do not influence charge mobility except by offering </a:t>
            </a:r>
            <a:r>
              <a:rPr lang="en-US" altLang="en-US" sz="2400" b="1">
                <a:solidFill>
                  <a:srgbClr val="FF0000"/>
                </a:solidFill>
              </a:rPr>
              <a:t>resistance</a:t>
            </a:r>
            <a:r>
              <a:rPr lang="en-US" altLang="en-US" sz="2400" b="1">
                <a:solidFill>
                  <a:schemeClr val="tx2"/>
                </a:solidFill>
              </a:rPr>
              <a:t> to electrons traveling along atomic planes.</a:t>
            </a:r>
          </a:p>
          <a:p>
            <a:endParaRPr lang="en-US" altLang="en-US" sz="1600" b="1">
              <a:solidFill>
                <a:schemeClr val="tx2"/>
              </a:solidFill>
            </a:endParaRPr>
          </a:p>
          <a:p>
            <a:r>
              <a:rPr lang="en-US" altLang="en-US" sz="2400" b="1">
                <a:solidFill>
                  <a:schemeClr val="tx2"/>
                </a:solidFill>
              </a:rPr>
              <a:t>In </a:t>
            </a:r>
            <a:r>
              <a:rPr lang="en-US" altLang="en-US" sz="2400" b="1">
                <a:solidFill>
                  <a:srgbClr val="FF0000"/>
                </a:solidFill>
              </a:rPr>
              <a:t>semiconductors</a:t>
            </a:r>
            <a:r>
              <a:rPr lang="en-US" altLang="en-US" sz="2400" b="1">
                <a:solidFill>
                  <a:schemeClr val="tx2"/>
                </a:solidFill>
              </a:rPr>
              <a:t> and </a:t>
            </a:r>
            <a:r>
              <a:rPr lang="en-US" altLang="en-US" sz="2400" b="1">
                <a:solidFill>
                  <a:srgbClr val="FF0000"/>
                </a:solidFill>
              </a:rPr>
              <a:t>ionic materials </a:t>
            </a:r>
            <a:r>
              <a:rPr lang="en-US" altLang="en-US" sz="2400" b="1">
                <a:solidFill>
                  <a:schemeClr val="tx2"/>
                </a:solidFill>
              </a:rPr>
              <a:t>(insulators, dielectric materials), the charges existing at the dislocation core have a </a:t>
            </a:r>
            <a:r>
              <a:rPr lang="en-US" altLang="en-US" sz="2400" b="1">
                <a:solidFill>
                  <a:srgbClr val="FF0000"/>
                </a:solidFill>
              </a:rPr>
              <a:t>significant impact </a:t>
            </a:r>
            <a:r>
              <a:rPr lang="en-US" altLang="en-US" sz="2400" b="1">
                <a:solidFill>
                  <a:schemeClr val="tx2"/>
                </a:solidFill>
              </a:rPr>
              <a:t>on many of the materials properties such as </a:t>
            </a:r>
            <a:r>
              <a:rPr lang="en-US" altLang="en-US" sz="2400" b="1">
                <a:solidFill>
                  <a:srgbClr val="FF0000"/>
                </a:solidFill>
              </a:rPr>
              <a:t>strength</a:t>
            </a:r>
            <a:r>
              <a:rPr lang="en-US" altLang="en-US" sz="2400" b="1">
                <a:solidFill>
                  <a:schemeClr val="tx2"/>
                </a:solidFill>
              </a:rPr>
              <a:t> and </a:t>
            </a:r>
            <a:r>
              <a:rPr lang="en-US" altLang="en-US" sz="2400" b="1">
                <a:solidFill>
                  <a:srgbClr val="FF0000"/>
                </a:solidFill>
              </a:rPr>
              <a:t>toughness</a:t>
            </a:r>
            <a:r>
              <a:rPr lang="en-US" altLang="en-US" sz="2400" b="1">
                <a:solidFill>
                  <a:schemeClr val="tx2"/>
                </a:solidFill>
              </a:rPr>
              <a:t>, but also </a:t>
            </a:r>
            <a:r>
              <a:rPr lang="en-US" altLang="en-US" sz="2400" b="1">
                <a:solidFill>
                  <a:srgbClr val="FF0000"/>
                </a:solidFill>
              </a:rPr>
              <a:t>electronic, sensor</a:t>
            </a:r>
            <a:r>
              <a:rPr lang="en-US" altLang="en-US" sz="2400" b="1">
                <a:solidFill>
                  <a:schemeClr val="tx2"/>
                </a:solidFill>
              </a:rPr>
              <a:t> and </a:t>
            </a:r>
            <a:r>
              <a:rPr lang="en-US" altLang="en-US" sz="2400" b="1">
                <a:solidFill>
                  <a:srgbClr val="FF0000"/>
                </a:solidFill>
              </a:rPr>
              <a:t>magnetic</a:t>
            </a:r>
            <a:r>
              <a:rPr lang="en-US" altLang="en-US" sz="2400" b="1">
                <a:solidFill>
                  <a:schemeClr val="tx2"/>
                </a:solidFill>
              </a:rPr>
              <a:t> properties.</a:t>
            </a:r>
          </a:p>
          <a:p>
            <a:endParaRPr lang="en-US" altLang="en-US" sz="800" b="1">
              <a:solidFill>
                <a:schemeClr val="tx2"/>
              </a:solidFill>
            </a:endParaRPr>
          </a:p>
        </p:txBody>
      </p:sp>
    </p:spTree>
  </p:cSld>
  <p:clrMapOvr>
    <a:masterClrMapping/>
  </p:clrMapOvr>
  <p:transition>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882650" y="0"/>
            <a:ext cx="7772400" cy="495300"/>
          </a:xfrm>
          <a:solidFill>
            <a:schemeClr val="bg1"/>
          </a:solidFill>
          <a:ln>
            <a:solidFill>
              <a:schemeClr val="bg1"/>
            </a:solidFill>
            <a:miter lim="800000"/>
            <a:headEnd/>
            <a:tailEnd/>
          </a:ln>
        </p:spPr>
        <p:txBody>
          <a:bodyPr/>
          <a:lstStyle/>
          <a:p>
            <a:r>
              <a:rPr lang="en-US" altLang="en-US" sz="4000" b="1">
                <a:solidFill>
                  <a:srgbClr val="FF0000"/>
                </a:solidFill>
              </a:rPr>
              <a:t>Dislocation Cores</a:t>
            </a:r>
            <a:endParaRPr lang="en-US" altLang="en-US" sz="3200" b="1">
              <a:solidFill>
                <a:srgbClr val="FF0000"/>
              </a:solidFill>
            </a:endParaRPr>
          </a:p>
        </p:txBody>
      </p:sp>
      <p:sp>
        <p:nvSpPr>
          <p:cNvPr id="89091" name="Rectangle 3"/>
          <p:cNvSpPr>
            <a:spLocks noChangeArrowheads="1"/>
          </p:cNvSpPr>
          <p:nvPr/>
        </p:nvSpPr>
        <p:spPr bwMode="auto">
          <a:xfrm>
            <a:off x="0" y="411163"/>
            <a:ext cx="9144000" cy="431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buFontTx/>
              <a:buNone/>
              <a:defRPr/>
            </a:pPr>
            <a:r>
              <a:rPr lang="en-US" altLang="en-US" sz="2800" b="1" dirty="0">
                <a:solidFill>
                  <a:srgbClr val="FF0000"/>
                </a:solidFill>
              </a:rPr>
              <a:t>Dangling electron bonds</a:t>
            </a:r>
          </a:p>
          <a:p>
            <a:pPr>
              <a:defRPr/>
            </a:pPr>
            <a:endParaRPr lang="en-US" altLang="en-US" sz="800" b="1" dirty="0">
              <a:solidFill>
                <a:schemeClr val="tx2"/>
              </a:solidFill>
            </a:endParaRPr>
          </a:p>
          <a:p>
            <a:pPr>
              <a:defRPr/>
            </a:pPr>
            <a:endParaRPr lang="en-US" altLang="en-US" sz="800" b="1" dirty="0">
              <a:solidFill>
                <a:schemeClr val="tx2"/>
              </a:solidFill>
            </a:endParaRPr>
          </a:p>
          <a:p>
            <a:pPr>
              <a:defRPr/>
            </a:pPr>
            <a:r>
              <a:rPr lang="en-US" altLang="en-US" sz="2400" b="1" dirty="0">
                <a:solidFill>
                  <a:schemeClr val="tx2"/>
                </a:solidFill>
              </a:rPr>
              <a:t>Charges at the dislocation core can disrupt or </a:t>
            </a:r>
            <a:r>
              <a:rPr lang="en-US" altLang="en-US" sz="2400" b="1" dirty="0">
                <a:solidFill>
                  <a:srgbClr val="FF0000"/>
                </a:solidFill>
              </a:rPr>
              <a:t>short out </a:t>
            </a:r>
            <a:r>
              <a:rPr lang="en-US" altLang="en-US" sz="2400" b="1" dirty="0">
                <a:solidFill>
                  <a:schemeClr val="tx2"/>
                </a:solidFill>
              </a:rPr>
              <a:t>electronic and sensor devices causing </a:t>
            </a:r>
            <a:r>
              <a:rPr lang="en-US" altLang="en-US" sz="2400" b="1" dirty="0">
                <a:solidFill>
                  <a:srgbClr val="FF0000"/>
                </a:solidFill>
              </a:rPr>
              <a:t>failure.</a:t>
            </a:r>
            <a:r>
              <a:rPr lang="en-US" altLang="en-US" sz="2400" b="1" dirty="0">
                <a:solidFill>
                  <a:schemeClr val="tx2"/>
                </a:solidFill>
              </a:rPr>
              <a:t> </a:t>
            </a:r>
          </a:p>
          <a:p>
            <a:pPr>
              <a:defRPr/>
            </a:pPr>
            <a:r>
              <a:rPr lang="en-US" altLang="en-US" sz="2400" b="1" dirty="0">
                <a:solidFill>
                  <a:schemeClr val="tx2"/>
                </a:solidFill>
              </a:rPr>
              <a:t>The dislocations often glide by some means into the active region of a device and short it out </a:t>
            </a:r>
            <a:r>
              <a:rPr lang="en-US" altLang="en-US" sz="2400" b="1" dirty="0">
                <a:solidFill>
                  <a:srgbClr val="FF0000"/>
                </a:solidFill>
              </a:rPr>
              <a:t>like a wire</a:t>
            </a:r>
            <a:r>
              <a:rPr lang="en-US" altLang="en-US" sz="2400" b="1" dirty="0">
                <a:solidFill>
                  <a:schemeClr val="tx2"/>
                </a:solidFill>
              </a:rPr>
              <a:t>. </a:t>
            </a:r>
          </a:p>
          <a:p>
            <a:pPr>
              <a:defRPr/>
            </a:pPr>
            <a:r>
              <a:rPr lang="en-US" altLang="en-US" sz="2400" b="1" dirty="0">
                <a:solidFill>
                  <a:schemeClr val="tx2"/>
                </a:solidFill>
              </a:rPr>
              <a:t>Most electronic devices fail by this mechanism. </a:t>
            </a:r>
          </a:p>
          <a:p>
            <a:pPr>
              <a:defRPr/>
            </a:pPr>
            <a:r>
              <a:rPr lang="en-US" altLang="en-US" sz="2400" b="1" dirty="0">
                <a:solidFill>
                  <a:schemeClr val="tx2"/>
                </a:solidFill>
              </a:rPr>
              <a:t>High temperatures are often not necessary for failure just electrostatic charge differences between the dislocation and active region of the device.</a:t>
            </a:r>
          </a:p>
        </p:txBody>
      </p:sp>
    </p:spTree>
  </p:cSld>
  <p:clrMapOvr>
    <a:masterClrMapping/>
  </p:clrMapOvr>
  <p:transition>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304800" y="76200"/>
            <a:ext cx="8458200" cy="571500"/>
          </a:xfrm>
          <a:solidFill>
            <a:schemeClr val="bg1"/>
          </a:solidFill>
          <a:ln>
            <a:solidFill>
              <a:schemeClr val="bg1"/>
            </a:solidFill>
            <a:miter lim="800000"/>
            <a:headEnd/>
            <a:tailEnd/>
          </a:ln>
        </p:spPr>
        <p:txBody>
          <a:bodyPr/>
          <a:lstStyle/>
          <a:p>
            <a:r>
              <a:rPr lang="en-US" altLang="en-US" sz="3200" b="1">
                <a:solidFill>
                  <a:srgbClr val="FF0000"/>
                </a:solidFill>
              </a:rPr>
              <a:t>Cold Working/Strain Hardening - Dislocations</a:t>
            </a:r>
          </a:p>
        </p:txBody>
      </p:sp>
      <p:sp>
        <p:nvSpPr>
          <p:cNvPr id="94211" name="Rectangle 3"/>
          <p:cNvSpPr>
            <a:spLocks noChangeArrowheads="1"/>
          </p:cNvSpPr>
          <p:nvPr/>
        </p:nvSpPr>
        <p:spPr bwMode="auto">
          <a:xfrm>
            <a:off x="412750" y="914400"/>
            <a:ext cx="850265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buFontTx/>
              <a:buNone/>
            </a:pPr>
            <a:r>
              <a:rPr lang="en-US" altLang="en-US" sz="2400" b="1">
                <a:solidFill>
                  <a:schemeClr val="tx2"/>
                </a:solidFill>
              </a:rPr>
              <a:t>One common mechanism for the creation of the dislocation is to form a</a:t>
            </a:r>
            <a:r>
              <a:rPr lang="en-US" altLang="en-US" sz="2400" b="1">
                <a:solidFill>
                  <a:srgbClr val="FF0000"/>
                </a:solidFill>
              </a:rPr>
              <a:t> Frank-Read source</a:t>
            </a:r>
            <a:r>
              <a:rPr lang="en-US" altLang="en-US" sz="2400" b="1">
                <a:solidFill>
                  <a:schemeClr val="tx2"/>
                </a:solidFill>
              </a:rPr>
              <a:t> where a dislocation is pinned at both ends and an applied stress causes it to bow outward to form a loop, which pinches off to enable another dislocation to form.  See below.</a:t>
            </a:r>
          </a:p>
        </p:txBody>
      </p:sp>
      <p:pic>
        <p:nvPicPr>
          <p:cNvPr id="94212" name="Picture 4" descr="Figure 7-5a b c 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810000"/>
            <a:ext cx="41148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3" name="Picture 5" descr="Figure 7-5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3073400"/>
            <a:ext cx="3048000"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685800" y="114300"/>
            <a:ext cx="7772400" cy="571500"/>
          </a:xfrm>
          <a:solidFill>
            <a:schemeClr val="bg1"/>
          </a:solidFill>
          <a:ln>
            <a:solidFill>
              <a:schemeClr val="bg1"/>
            </a:solidFill>
            <a:miter lim="800000"/>
            <a:headEnd/>
            <a:tailEnd/>
          </a:ln>
        </p:spPr>
        <p:txBody>
          <a:bodyPr/>
          <a:lstStyle/>
          <a:p>
            <a:r>
              <a:rPr lang="en-US" altLang="en-US" sz="3600" b="1">
                <a:solidFill>
                  <a:srgbClr val="FF0000"/>
                </a:solidFill>
              </a:rPr>
              <a:t>Dispersion Strengthening</a:t>
            </a:r>
          </a:p>
        </p:txBody>
      </p:sp>
      <p:sp>
        <p:nvSpPr>
          <p:cNvPr id="96259" name="Rectangle 3"/>
          <p:cNvSpPr>
            <a:spLocks noChangeArrowheads="1"/>
          </p:cNvSpPr>
          <p:nvPr/>
        </p:nvSpPr>
        <p:spPr bwMode="auto">
          <a:xfrm>
            <a:off x="39688" y="1374775"/>
            <a:ext cx="4038600"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buFontTx/>
              <a:buNone/>
            </a:pPr>
            <a:r>
              <a:rPr lang="en-US" altLang="en-US" sz="2400" b="1"/>
              <a:t>Dislocation motion </a:t>
            </a:r>
            <a:r>
              <a:rPr lang="en-US" altLang="en-US" sz="2400" b="1">
                <a:solidFill>
                  <a:srgbClr val="FF0000"/>
                </a:solidFill>
              </a:rPr>
              <a:t>blocked by </a:t>
            </a:r>
            <a:r>
              <a:rPr lang="en-US" altLang="en-US" sz="2400" b="1"/>
              <a:t>particles or </a:t>
            </a:r>
            <a:r>
              <a:rPr lang="en-US" altLang="en-US" sz="2400" b="1">
                <a:solidFill>
                  <a:srgbClr val="FF0000"/>
                </a:solidFill>
              </a:rPr>
              <a:t>precipitates</a:t>
            </a:r>
            <a:r>
              <a:rPr lang="en-US" altLang="en-US" sz="2400" b="1"/>
              <a:t> increase the </a:t>
            </a:r>
            <a:r>
              <a:rPr lang="en-US" altLang="en-US" sz="2400" b="1">
                <a:solidFill>
                  <a:srgbClr val="FF0000"/>
                </a:solidFill>
              </a:rPr>
              <a:t>strength</a:t>
            </a:r>
            <a:r>
              <a:rPr lang="en-US" altLang="en-US" sz="2400" b="1"/>
              <a:t> of the material.</a:t>
            </a:r>
          </a:p>
        </p:txBody>
      </p:sp>
      <p:pic>
        <p:nvPicPr>
          <p:cNvPr id="96260" name="Picture 4" descr="PM 4-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288" y="974725"/>
            <a:ext cx="4379912" cy="373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1" name="Text Box 5"/>
          <p:cNvSpPr txBox="1">
            <a:spLocks noChangeArrowheads="1"/>
          </p:cNvSpPr>
          <p:nvPr/>
        </p:nvSpPr>
        <p:spPr bwMode="auto">
          <a:xfrm>
            <a:off x="228600" y="4868863"/>
            <a:ext cx="8915400"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solidFill>
                  <a:schemeClr val="tx2"/>
                </a:solidFill>
              </a:rPr>
              <a:t>As the distance between precipitates, </a:t>
            </a:r>
            <a:r>
              <a:rPr lang="en-US" altLang="en-US" sz="2400" b="1">
                <a:solidFill>
                  <a:schemeClr val="tx2"/>
                </a:solidFill>
                <a:latin typeface="Symbol" pitchFamily="18" charset="2"/>
              </a:rPr>
              <a:t>l</a:t>
            </a:r>
            <a:r>
              <a:rPr lang="en-US" altLang="en-US" sz="2400" b="1">
                <a:solidFill>
                  <a:schemeClr val="tx2"/>
                </a:solidFill>
              </a:rPr>
              <a:t>, decreases, the line tension, </a:t>
            </a:r>
            <a:r>
              <a:rPr lang="en-US" altLang="en-US" sz="2400" b="1">
                <a:solidFill>
                  <a:schemeClr val="tx2"/>
                </a:solidFill>
                <a:latin typeface="Symbol" pitchFamily="18" charset="2"/>
              </a:rPr>
              <a:t>t</a:t>
            </a:r>
            <a:r>
              <a:rPr lang="en-US" altLang="en-US" sz="2400" b="1">
                <a:solidFill>
                  <a:schemeClr val="tx2"/>
                </a:solidFill>
              </a:rPr>
              <a:t>, of the dislocation increases as does the change in stress, </a:t>
            </a:r>
            <a:r>
              <a:rPr lang="en-US" altLang="en-US" sz="2400" b="1">
                <a:solidFill>
                  <a:schemeClr val="tx2"/>
                </a:solidFill>
                <a:latin typeface="Symbol" pitchFamily="18" charset="2"/>
              </a:rPr>
              <a:t>Ds</a:t>
            </a:r>
            <a:r>
              <a:rPr lang="en-US" altLang="en-US" sz="2400" b="1">
                <a:solidFill>
                  <a:schemeClr val="tx2"/>
                </a:solidFill>
              </a:rPr>
              <a:t>, required to move the dislocation.</a:t>
            </a:r>
          </a:p>
          <a:p>
            <a:pPr>
              <a:spcBef>
                <a:spcPct val="0"/>
              </a:spcBef>
              <a:buFontTx/>
              <a:buNone/>
            </a:pPr>
            <a:r>
              <a:rPr lang="en-US" altLang="en-US" sz="2400" b="1">
                <a:solidFill>
                  <a:schemeClr val="tx2"/>
                </a:solidFill>
              </a:rPr>
              <a:t>This is an </a:t>
            </a:r>
            <a:r>
              <a:rPr lang="en-US" altLang="en-US" sz="2400" b="1">
                <a:solidFill>
                  <a:srgbClr val="FF0000"/>
                </a:solidFill>
              </a:rPr>
              <a:t>important method</a:t>
            </a:r>
            <a:r>
              <a:rPr lang="en-US" altLang="en-US" sz="2400" b="1">
                <a:solidFill>
                  <a:schemeClr val="tx2"/>
                </a:solidFill>
              </a:rPr>
              <a:t> for </a:t>
            </a:r>
            <a:r>
              <a:rPr lang="en-US" altLang="en-US" sz="2400" b="1">
                <a:solidFill>
                  <a:srgbClr val="FF0000"/>
                </a:solidFill>
              </a:rPr>
              <a:t>strengthening materials</a:t>
            </a:r>
            <a:r>
              <a:rPr lang="en-US" altLang="en-US" sz="2400" b="1">
                <a:solidFill>
                  <a:schemeClr val="tx2"/>
                </a:solidFill>
              </a:rPr>
              <a:t>, as the precipitates provide barriers to dislocation motion.</a:t>
            </a:r>
          </a:p>
        </p:txBody>
      </p:sp>
      <p:sp>
        <p:nvSpPr>
          <p:cNvPr id="96262" name="TextBox 1"/>
          <p:cNvSpPr txBox="1">
            <a:spLocks noChangeArrowheads="1"/>
          </p:cNvSpPr>
          <p:nvPr/>
        </p:nvSpPr>
        <p:spPr bwMode="auto">
          <a:xfrm>
            <a:off x="5468938" y="828675"/>
            <a:ext cx="17160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b="1"/>
              <a:t>precipitates</a:t>
            </a:r>
          </a:p>
        </p:txBody>
      </p:sp>
      <p:cxnSp>
        <p:nvCxnSpPr>
          <p:cNvPr id="96263" name="Straight Arrow Connector 3"/>
          <p:cNvCxnSpPr>
            <a:cxnSpLocks noChangeShapeType="1"/>
          </p:cNvCxnSpPr>
          <p:nvPr/>
        </p:nvCxnSpPr>
        <p:spPr bwMode="auto">
          <a:xfrm>
            <a:off x="7105650" y="1198563"/>
            <a:ext cx="539750" cy="1169987"/>
          </a:xfrm>
          <a:prstGeom prst="straightConnector1">
            <a:avLst/>
          </a:prstGeom>
          <a:noFill/>
          <a:ln w="9525" algn="ctr">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64" name="Straight Arrow Connector 5"/>
          <p:cNvCxnSpPr>
            <a:cxnSpLocks noChangeShapeType="1"/>
          </p:cNvCxnSpPr>
          <p:nvPr/>
        </p:nvCxnSpPr>
        <p:spPr bwMode="auto">
          <a:xfrm flipH="1">
            <a:off x="4811713" y="1198563"/>
            <a:ext cx="657225" cy="1222375"/>
          </a:xfrm>
          <a:prstGeom prst="straightConnector1">
            <a:avLst/>
          </a:prstGeom>
          <a:noFill/>
          <a:ln w="9525" algn="ctr">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pull dir="ru"/>
  </p:transition>
</p:sld>
</file>

<file path=ppt/slides/slide32.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685800" y="114300"/>
            <a:ext cx="7772400" cy="495300"/>
          </a:xfrm>
          <a:solidFill>
            <a:schemeClr val="bg1"/>
          </a:solidFill>
          <a:ln>
            <a:solidFill>
              <a:schemeClr val="bg1"/>
            </a:solidFill>
            <a:miter lim="800000"/>
            <a:headEnd/>
            <a:tailEnd/>
          </a:ln>
        </p:spPr>
        <p:txBody>
          <a:bodyPr/>
          <a:lstStyle/>
          <a:p>
            <a:r>
              <a:rPr lang="en-US" altLang="en-US" sz="4000" b="1">
                <a:solidFill>
                  <a:srgbClr val="FF0000"/>
                </a:solidFill>
              </a:rPr>
              <a:t>Observing Dislocations</a:t>
            </a:r>
            <a:endParaRPr lang="en-US" altLang="en-US" sz="3200" b="1">
              <a:solidFill>
                <a:srgbClr val="FF0000"/>
              </a:solidFill>
            </a:endParaRPr>
          </a:p>
        </p:txBody>
      </p:sp>
      <p:sp>
        <p:nvSpPr>
          <p:cNvPr id="98307" name="Rectangle 3"/>
          <p:cNvSpPr>
            <a:spLocks noChangeArrowheads="1"/>
          </p:cNvSpPr>
          <p:nvPr/>
        </p:nvSpPr>
        <p:spPr bwMode="auto">
          <a:xfrm>
            <a:off x="0" y="838200"/>
            <a:ext cx="88392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r>
              <a:rPr lang="en-US" altLang="en-US" sz="2400" b="1">
                <a:solidFill>
                  <a:schemeClr val="tx2"/>
                </a:solidFill>
              </a:rPr>
              <a:t>We can view dislocations indirectly by etching the surface of a material.  Where the dislocation intersects the surface, it is </a:t>
            </a:r>
            <a:r>
              <a:rPr lang="en-US" altLang="en-US" sz="2400" b="1"/>
              <a:t>preferentially</a:t>
            </a:r>
            <a:r>
              <a:rPr lang="en-US" altLang="en-US" sz="2400" b="1">
                <a:solidFill>
                  <a:srgbClr val="FF0000"/>
                </a:solidFill>
              </a:rPr>
              <a:t> </a:t>
            </a:r>
            <a:r>
              <a:rPr lang="en-US" altLang="en-US" sz="2400" b="1"/>
              <a:t>etched</a:t>
            </a:r>
            <a:r>
              <a:rPr lang="en-US" altLang="en-US" sz="2400" b="1">
                <a:solidFill>
                  <a:schemeClr val="tx2"/>
                </a:solidFill>
              </a:rPr>
              <a:t> creating an </a:t>
            </a:r>
            <a:r>
              <a:rPr lang="en-US" altLang="en-US" sz="2400" b="1">
                <a:solidFill>
                  <a:srgbClr val="FF0000"/>
                </a:solidFill>
              </a:rPr>
              <a:t>etch pit</a:t>
            </a:r>
            <a:r>
              <a:rPr lang="en-US" altLang="en-US" sz="2400" b="1">
                <a:solidFill>
                  <a:schemeClr val="tx2"/>
                </a:solidFill>
              </a:rPr>
              <a:t>, which can easily be seen optically.</a:t>
            </a:r>
          </a:p>
          <a:p>
            <a:endParaRPr lang="en-US" altLang="en-US" sz="2400" b="1">
              <a:solidFill>
                <a:schemeClr val="tx2"/>
              </a:solidFill>
            </a:endParaRPr>
          </a:p>
          <a:p>
            <a:r>
              <a:rPr lang="en-US" altLang="en-US" sz="2400" b="1">
                <a:solidFill>
                  <a:schemeClr val="tx2"/>
                </a:solidFill>
              </a:rPr>
              <a:t>Using a transmission electron microscope, we can see the </a:t>
            </a:r>
            <a:r>
              <a:rPr lang="en-US" altLang="en-US" sz="2400" b="1">
                <a:solidFill>
                  <a:srgbClr val="FF0000"/>
                </a:solidFill>
              </a:rPr>
              <a:t>strain contrast</a:t>
            </a:r>
            <a:r>
              <a:rPr lang="en-US" altLang="en-US" sz="2400" b="1">
                <a:solidFill>
                  <a:schemeClr val="tx2"/>
                </a:solidFill>
              </a:rPr>
              <a:t> that a dislocation makes as it passes through a crystal, or at the atomic level we can see the displacement of atomic columns due to the presence of a dislocation.</a:t>
            </a:r>
            <a:endParaRPr lang="en-US" altLang="en-US" sz="2400" b="1">
              <a:solidFill>
                <a:schemeClr val="accent2"/>
              </a:solidFill>
            </a:endParaRPr>
          </a:p>
        </p:txBody>
      </p:sp>
    </p:spTree>
  </p:cSld>
  <p:clrMapOvr>
    <a:masterClrMapping/>
  </p:clrMapOvr>
  <p:transition>
    <p:pull dir="ru"/>
  </p:transition>
</p:sld>
</file>

<file path=ppt/slides/slide33.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100354" name="Picture 2" descr="Fig 4-12 - etch pit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28575"/>
            <a:ext cx="6934200"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5" name="Text Box 3"/>
          <p:cNvSpPr txBox="1">
            <a:spLocks noChangeArrowheads="1"/>
          </p:cNvSpPr>
          <p:nvPr/>
        </p:nvSpPr>
        <p:spPr bwMode="auto">
          <a:xfrm>
            <a:off x="228600" y="4953000"/>
            <a:ext cx="89154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Optical </a:t>
            </a:r>
            <a:r>
              <a:rPr lang="en-US" altLang="en-US" sz="2400" b="1">
                <a:solidFill>
                  <a:srgbClr val="FF0000"/>
                </a:solidFill>
              </a:rPr>
              <a:t>etch pits </a:t>
            </a:r>
            <a:r>
              <a:rPr lang="en-US" altLang="en-US" sz="2400" b="1"/>
              <a:t>in Silicon Carbide (SiC) corresponding to the surface intersection of pure edge dislocations having                      and a line direction of [0001], which is perpendicular to the etched surface.</a:t>
            </a:r>
          </a:p>
        </p:txBody>
      </p:sp>
      <p:graphicFrame>
        <p:nvGraphicFramePr>
          <p:cNvPr id="100356" name="Object 4"/>
          <p:cNvGraphicFramePr>
            <a:graphicFrameLocks noGrp="1" noChangeAspect="1"/>
          </p:cNvGraphicFramePr>
          <p:nvPr>
            <p:ph/>
          </p:nvPr>
        </p:nvGraphicFramePr>
        <p:xfrm>
          <a:off x="7239000" y="5260975"/>
          <a:ext cx="1447800" cy="606425"/>
        </p:xfrm>
        <a:graphic>
          <a:graphicData uri="http://schemas.openxmlformats.org/presentationml/2006/ole">
            <mc:AlternateContent xmlns:mc="http://schemas.openxmlformats.org/markup-compatibility/2006">
              <mc:Choice xmlns:v="urn:schemas-microsoft-com:vml" Requires="v">
                <p:oleObj spid="_x0000_s3074" name="Equation" r:id="rId6" imgW="939392" imgH="393529" progId="Equation.3">
                  <p:embed/>
                </p:oleObj>
              </mc:Choice>
              <mc:Fallback>
                <p:oleObj name="Equation" r:id="rId6" imgW="939392" imgH="393529" progId="Equation.3">
                  <p:embed/>
                  <p:pic>
                    <p:nvPicPr>
                      <p:cNvPr id="10035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39000" y="5260975"/>
                        <a:ext cx="1447800"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pull dir="ru"/>
  </p:transition>
</p:sld>
</file>

<file path=ppt/slides/slide34.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2402" name="Picture 2" descr="Fig 4-13 - electron micrographs of dislocati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30163"/>
            <a:ext cx="8915400" cy="457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3" name="Picture 3" descr="Fig 4-13b - electron micrographs of dislocation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98975"/>
            <a:ext cx="4248150" cy="231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4" name="Text Box 4"/>
          <p:cNvSpPr txBox="1">
            <a:spLocks noChangeArrowheads="1"/>
          </p:cNvSpPr>
          <p:nvPr/>
        </p:nvSpPr>
        <p:spPr bwMode="auto">
          <a:xfrm>
            <a:off x="4114800" y="4495800"/>
            <a:ext cx="50292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solidFill>
                  <a:srgbClr val="FF0000"/>
                </a:solidFill>
              </a:rPr>
              <a:t>Strain fields </a:t>
            </a:r>
            <a:r>
              <a:rPr lang="en-US" altLang="en-US" sz="2400" b="1"/>
              <a:t>of dislocations in Ti</a:t>
            </a:r>
            <a:r>
              <a:rPr lang="en-US" altLang="en-US" sz="2400" b="1" baseline="-25000"/>
              <a:t>3</a:t>
            </a:r>
            <a:r>
              <a:rPr lang="en-US" altLang="en-US" sz="2400" b="1"/>
              <a:t>Al </a:t>
            </a:r>
            <a:r>
              <a:rPr lang="en-US" altLang="en-US" sz="2400" b="1">
                <a:solidFill>
                  <a:srgbClr val="FF0000"/>
                </a:solidFill>
              </a:rPr>
              <a:t>seen by TEM</a:t>
            </a:r>
            <a:r>
              <a:rPr lang="en-US" altLang="en-US" sz="2400" b="1"/>
              <a:t> showing dislocation pileups in a) and b) and how they contribution to permanent or </a:t>
            </a:r>
            <a:r>
              <a:rPr lang="en-US" altLang="en-US" sz="2400" b="1">
                <a:solidFill>
                  <a:srgbClr val="FF0000"/>
                </a:solidFill>
              </a:rPr>
              <a:t>plastic deformation</a:t>
            </a:r>
            <a:r>
              <a:rPr lang="en-US" altLang="en-US" sz="2400" b="1"/>
              <a:t> in c).</a:t>
            </a:r>
          </a:p>
        </p:txBody>
      </p:sp>
      <p:sp>
        <p:nvSpPr>
          <p:cNvPr id="102405" name="Text Box 5"/>
          <p:cNvSpPr txBox="1">
            <a:spLocks noChangeArrowheads="1"/>
          </p:cNvSpPr>
          <p:nvPr/>
        </p:nvSpPr>
        <p:spPr bwMode="auto">
          <a:xfrm>
            <a:off x="1050925" y="5957888"/>
            <a:ext cx="4651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000" b="1"/>
              <a:t>(c)</a:t>
            </a:r>
          </a:p>
        </p:txBody>
      </p:sp>
    </p:spTree>
  </p:cSld>
  <p:clrMapOvr>
    <a:masterClrMapping/>
  </p:clrMapOvr>
  <p:transition>
    <p:pull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0" y="69850"/>
            <a:ext cx="9144000" cy="647700"/>
          </a:xfrm>
          <a:solidFill>
            <a:schemeClr val="bg1"/>
          </a:solidFill>
          <a:ln>
            <a:solidFill>
              <a:schemeClr val="bg1"/>
            </a:solidFill>
            <a:miter lim="800000"/>
            <a:headEnd/>
            <a:tailEnd/>
          </a:ln>
        </p:spPr>
        <p:txBody>
          <a:bodyPr/>
          <a:lstStyle/>
          <a:p>
            <a:r>
              <a:rPr lang="en-US" altLang="en-US" sz="3600" b="1">
                <a:solidFill>
                  <a:srgbClr val="FF0000"/>
                </a:solidFill>
              </a:rPr>
              <a:t>Defects in Plasma Crystals Grown in Space</a:t>
            </a:r>
          </a:p>
        </p:txBody>
      </p:sp>
      <p:sp>
        <p:nvSpPr>
          <p:cNvPr id="104451" name="Rectangle 3"/>
          <p:cNvSpPr>
            <a:spLocks noChangeArrowheads="1"/>
          </p:cNvSpPr>
          <p:nvPr/>
        </p:nvSpPr>
        <p:spPr bwMode="auto">
          <a:xfrm>
            <a:off x="304800" y="838200"/>
            <a:ext cx="8731250" cy="522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buFontTx/>
              <a:buNone/>
            </a:pPr>
            <a:r>
              <a:rPr lang="en-US" altLang="en-US" sz="2400" b="1"/>
              <a:t>Because the environment in </a:t>
            </a:r>
            <a:r>
              <a:rPr lang="en-US" altLang="en-US" sz="2400" b="1">
                <a:solidFill>
                  <a:srgbClr val="FF0000"/>
                </a:solidFill>
              </a:rPr>
              <a:t>space</a:t>
            </a:r>
            <a:r>
              <a:rPr lang="en-US" altLang="en-US" sz="2400" b="1"/>
              <a:t> (e.g., the international space station) is </a:t>
            </a:r>
            <a:r>
              <a:rPr lang="en-US" altLang="en-US" sz="2400" b="1">
                <a:solidFill>
                  <a:srgbClr val="FF0000"/>
                </a:solidFill>
              </a:rPr>
              <a:t>very</a:t>
            </a:r>
            <a:r>
              <a:rPr lang="en-US" altLang="en-US" sz="2400" b="1"/>
              <a:t> </a:t>
            </a:r>
            <a:r>
              <a:rPr lang="en-US" altLang="en-US" sz="2400" b="1">
                <a:solidFill>
                  <a:srgbClr val="FF0000"/>
                </a:solidFill>
              </a:rPr>
              <a:t>quiescent</a:t>
            </a:r>
            <a:r>
              <a:rPr lang="en-US" altLang="en-US" sz="2400" b="1"/>
              <a:t>, we can grow plasma crystals, which are small (0.1 mm diameter) ceramic particles having a positive charge in the center and negative charge around the particle, similar to the Bohr model of the atom. </a:t>
            </a:r>
          </a:p>
          <a:p>
            <a:pPr>
              <a:buFontTx/>
              <a:buNone/>
            </a:pPr>
            <a:endParaRPr lang="en-US" altLang="en-US" sz="800" b="1"/>
          </a:p>
          <a:p>
            <a:r>
              <a:rPr lang="en-US" altLang="en-US" sz="2400" b="1"/>
              <a:t>The microgravity (</a:t>
            </a:r>
            <a:r>
              <a:rPr lang="en-US" altLang="en-US" sz="2400" b="1">
                <a:solidFill>
                  <a:srgbClr val="FF0000"/>
                </a:solidFill>
              </a:rPr>
              <a:t>10</a:t>
            </a:r>
            <a:r>
              <a:rPr lang="en-US" altLang="en-US" sz="2400" b="1" baseline="30000">
                <a:solidFill>
                  <a:srgbClr val="FF0000"/>
                </a:solidFill>
              </a:rPr>
              <a:t>-6</a:t>
            </a:r>
            <a:r>
              <a:rPr lang="en-US" altLang="en-US" sz="2400" b="1">
                <a:solidFill>
                  <a:srgbClr val="FF0000"/>
                </a:solidFill>
              </a:rPr>
              <a:t> g</a:t>
            </a:r>
            <a:r>
              <a:rPr lang="en-US" altLang="en-US" sz="2400" b="1"/>
              <a:t>) in space </a:t>
            </a:r>
            <a:r>
              <a:rPr lang="en-US" altLang="en-US" sz="2400" b="1">
                <a:solidFill>
                  <a:srgbClr val="FF0000"/>
                </a:solidFill>
              </a:rPr>
              <a:t>removes convection </a:t>
            </a:r>
            <a:r>
              <a:rPr lang="en-US" altLang="en-US" sz="2400" b="1"/>
              <a:t>in fluids.</a:t>
            </a:r>
          </a:p>
          <a:p>
            <a:pPr>
              <a:buFontTx/>
              <a:buNone/>
            </a:pPr>
            <a:endParaRPr lang="en-US" altLang="en-US" sz="800" b="1"/>
          </a:p>
          <a:p>
            <a:r>
              <a:rPr lang="en-US" altLang="en-US" sz="2400" b="1"/>
              <a:t>We can learn from plasma crystals grown in space the behavior of point defects, line defects and surface defects, as well as,</a:t>
            </a:r>
          </a:p>
          <a:p>
            <a:endParaRPr lang="en-US" altLang="en-US" sz="800" b="1"/>
          </a:p>
          <a:p>
            <a:r>
              <a:rPr lang="en-US" altLang="en-US" sz="2400" b="1"/>
              <a:t>they can be used to give </a:t>
            </a:r>
            <a:r>
              <a:rPr lang="en-US" altLang="en-US" sz="2400" b="1">
                <a:solidFill>
                  <a:srgbClr val="FF0000"/>
                </a:solidFill>
              </a:rPr>
              <a:t>insight into </a:t>
            </a:r>
            <a:r>
              <a:rPr lang="en-US" altLang="en-US" sz="2400" b="1"/>
              <a:t>physical phenomena, which is otherwise unobservable terrestrially, such as,</a:t>
            </a:r>
            <a:endParaRPr lang="en-US" altLang="en-US" sz="2400" b="1" baseline="-25000"/>
          </a:p>
          <a:p>
            <a:pPr>
              <a:buFontTx/>
              <a:buNone/>
            </a:pPr>
            <a:r>
              <a:rPr lang="en-US" altLang="en-US" sz="2400" b="1"/>
              <a:t>		</a:t>
            </a:r>
            <a:r>
              <a:rPr lang="en-US" altLang="en-US" sz="2400" b="1">
                <a:solidFill>
                  <a:srgbClr val="FF0000"/>
                </a:solidFill>
              </a:rPr>
              <a:t>the transition between solid – liquid – gas.</a:t>
            </a:r>
          </a:p>
        </p:txBody>
      </p:sp>
    </p:spTree>
  </p:cSld>
  <p:clrMapOvr>
    <a:masterClrMapping/>
  </p:clrMapOvr>
  <p:transition>
    <p:pull dir="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4274" name="melting_kurz.avi">
            <a:hlinkClick r:id="" action="ppaction://media"/>
          </p:cNvPr>
          <p:cNvPicPr>
            <a:picLocks noRot="1" noChangeAspect="1" noChangeArrowheads="1"/>
          </p:cNvPicPr>
          <p:nvPr>
            <a:videoFile r:link="rId1"/>
          </p:nvPr>
        </p:nvPicPr>
        <p:blipFill>
          <a:blip r:embed="rId4">
            <a:extLst>
              <a:ext uri="{28A0092B-C50C-407E-A947-70E740481C1C}">
                <a14:useLocalDpi xmlns:a14="http://schemas.microsoft.com/office/drawing/2010/main" val="0"/>
              </a:ext>
            </a:extLst>
          </a:blip>
          <a:srcRect/>
          <a:stretch>
            <a:fillRect/>
          </a:stretch>
        </p:blipFill>
        <p:spPr bwMode="auto">
          <a:xfrm>
            <a:off x="914400" y="685800"/>
            <a:ext cx="7315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499" name="Text Box 3"/>
          <p:cNvSpPr txBox="1">
            <a:spLocks noChangeArrowheads="1"/>
          </p:cNvSpPr>
          <p:nvPr/>
        </p:nvSpPr>
        <p:spPr bwMode="auto">
          <a:xfrm>
            <a:off x="1524000" y="-31750"/>
            <a:ext cx="6521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3600" b="1">
                <a:solidFill>
                  <a:srgbClr val="FF0000"/>
                </a:solidFill>
              </a:rPr>
              <a:t>The Melting of a Plasma Crystal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69427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694274"/>
                </p:tgtEl>
              </p:cMediaNode>
            </p:video>
            <p:seq concurrent="1" nextAc="seek">
              <p:cTn id="8" restart="whenNotActive" fill="hold" evtFilter="cancelBubble" nodeType="interactiveSeq">
                <p:stCondLst>
                  <p:cond evt="onClick" delay="0">
                    <p:tgtEl>
                      <p:spTgt spid="694274"/>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694274"/>
                                        </p:tgtEl>
                                      </p:cBhvr>
                                    </p:cmd>
                                  </p:childTnLst>
                                </p:cTn>
                              </p:par>
                            </p:childTnLst>
                          </p:cTn>
                        </p:par>
                      </p:childTnLst>
                    </p:cTn>
                  </p:par>
                </p:childTnLst>
              </p:cTn>
              <p:nextCondLst>
                <p:cond evt="onClick" delay="0">
                  <p:tgtEl>
                    <p:spTgt spid="694274"/>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685800" y="114300"/>
            <a:ext cx="7772400" cy="647700"/>
          </a:xfrm>
          <a:solidFill>
            <a:schemeClr val="bg1"/>
          </a:solidFill>
          <a:ln>
            <a:solidFill>
              <a:schemeClr val="bg1"/>
            </a:solidFill>
            <a:miter lim="800000"/>
            <a:headEnd/>
            <a:tailEnd/>
          </a:ln>
        </p:spPr>
        <p:txBody>
          <a:bodyPr/>
          <a:lstStyle/>
          <a:p>
            <a:r>
              <a:rPr lang="en-US" altLang="en-US" sz="4000" b="1">
                <a:solidFill>
                  <a:srgbClr val="FF0000"/>
                </a:solidFill>
              </a:rPr>
              <a:t>Plasma Crystals Grown in Space</a:t>
            </a:r>
          </a:p>
        </p:txBody>
      </p:sp>
      <p:sp>
        <p:nvSpPr>
          <p:cNvPr id="695299" name="Rectangle 3"/>
          <p:cNvSpPr>
            <a:spLocks noChangeArrowheads="1"/>
          </p:cNvSpPr>
          <p:nvPr/>
        </p:nvSpPr>
        <p:spPr bwMode="auto">
          <a:xfrm>
            <a:off x="304800" y="1212850"/>
            <a:ext cx="873125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defRPr/>
            </a:pPr>
            <a:r>
              <a:rPr lang="en-US" altLang="en-US" sz="2400" b="1" dirty="0">
                <a:solidFill>
                  <a:schemeClr val="accent6"/>
                </a:solidFill>
              </a:rPr>
              <a:t>So, what can we learn from plasma crystals grown in space?</a:t>
            </a:r>
          </a:p>
          <a:p>
            <a:pPr>
              <a:buFontTx/>
              <a:buNone/>
              <a:defRPr/>
            </a:pPr>
            <a:r>
              <a:rPr lang="en-US" altLang="en-US" sz="2400" b="1" dirty="0"/>
              <a:t>They give insight in physical phenomena, such as,</a:t>
            </a:r>
            <a:endParaRPr lang="en-US" altLang="en-US" sz="2400" b="1" baseline="-25000" dirty="0"/>
          </a:p>
          <a:p>
            <a:pPr>
              <a:defRPr/>
            </a:pPr>
            <a:r>
              <a:rPr lang="en-US" altLang="en-US" sz="2400" b="1" dirty="0"/>
              <a:t>The formation and movement of defects.</a:t>
            </a:r>
          </a:p>
          <a:p>
            <a:pPr>
              <a:defRPr/>
            </a:pPr>
            <a:r>
              <a:rPr lang="en-US" altLang="en-US" sz="2400" b="1" dirty="0"/>
              <a:t>The transition between solid – liquid – gas.</a:t>
            </a:r>
          </a:p>
          <a:p>
            <a:pPr>
              <a:defRPr/>
            </a:pPr>
            <a:r>
              <a:rPr lang="en-US" altLang="en-US" sz="2400" b="1" dirty="0"/>
              <a:t>The phase separation (different crystal structures formed by small and large atoms – later we shall see)</a:t>
            </a:r>
          </a:p>
          <a:p>
            <a:pPr>
              <a:defRPr/>
            </a:pPr>
            <a:r>
              <a:rPr lang="en-US" altLang="en-US" sz="2400" b="1" dirty="0"/>
              <a:t>Convection at interfaces</a:t>
            </a:r>
          </a:p>
          <a:p>
            <a:pPr>
              <a:defRPr/>
            </a:pPr>
            <a:r>
              <a:rPr lang="en-US" altLang="en-US" sz="2400" b="1" dirty="0"/>
              <a:t>Flow of heat via phonons (lattice vibrations – we shall see later).</a:t>
            </a:r>
          </a:p>
          <a:p>
            <a:pPr>
              <a:defRPr/>
            </a:pPr>
            <a:r>
              <a:rPr lang="en-US" altLang="en-US" sz="2400" b="1" dirty="0"/>
              <a:t>Etc.</a:t>
            </a:r>
          </a:p>
          <a:p>
            <a:pPr>
              <a:defRPr/>
            </a:pPr>
            <a:endParaRPr lang="en-US" altLang="en-US" sz="2400" b="1" dirty="0"/>
          </a:p>
        </p:txBody>
      </p:sp>
    </p:spTree>
  </p:cSld>
  <p:clrMapOvr>
    <a:masterClrMapping/>
  </p:clrMapOvr>
  <p:transition>
    <p:pull dir="ru"/>
  </p:transition>
</p:sld>
</file>

<file path=ppt/slides/slide38.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110594" name="Picture 5" descr="Fig 4-14 - Schmid's Law"/>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2895600"/>
            <a:ext cx="71628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5" name="Rectangle 2"/>
          <p:cNvSpPr>
            <a:spLocks noGrp="1" noChangeArrowheads="1"/>
          </p:cNvSpPr>
          <p:nvPr>
            <p:ph type="title"/>
          </p:nvPr>
        </p:nvSpPr>
        <p:spPr>
          <a:xfrm>
            <a:off x="685800" y="114300"/>
            <a:ext cx="7772400" cy="495300"/>
          </a:xfrm>
          <a:solidFill>
            <a:schemeClr val="bg1"/>
          </a:solidFill>
          <a:ln>
            <a:solidFill>
              <a:schemeClr val="bg1"/>
            </a:solidFill>
            <a:miter lim="800000"/>
            <a:headEnd/>
            <a:tailEnd/>
          </a:ln>
        </p:spPr>
        <p:txBody>
          <a:bodyPr/>
          <a:lstStyle/>
          <a:p>
            <a:r>
              <a:rPr lang="en-US" altLang="en-US" sz="4000" b="1">
                <a:solidFill>
                  <a:srgbClr val="FF0000"/>
                </a:solidFill>
              </a:rPr>
              <a:t>Schmid’s Law</a:t>
            </a:r>
            <a:endParaRPr lang="en-US" altLang="en-US" sz="3200" b="1">
              <a:solidFill>
                <a:srgbClr val="FF0000"/>
              </a:solidFill>
            </a:endParaRPr>
          </a:p>
        </p:txBody>
      </p:sp>
      <p:sp>
        <p:nvSpPr>
          <p:cNvPr id="110596" name="Rectangle 3"/>
          <p:cNvSpPr>
            <a:spLocks noChangeArrowheads="1"/>
          </p:cNvSpPr>
          <p:nvPr/>
        </p:nvSpPr>
        <p:spPr bwMode="auto">
          <a:xfrm>
            <a:off x="0" y="533400"/>
            <a:ext cx="91440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r>
              <a:rPr lang="en-US" altLang="en-US" sz="2400" b="1">
                <a:solidFill>
                  <a:schemeClr val="tx2"/>
                </a:solidFill>
              </a:rPr>
              <a:t>We can </a:t>
            </a:r>
            <a:r>
              <a:rPr lang="en-US" altLang="en-US" sz="2400" b="1">
                <a:solidFill>
                  <a:srgbClr val="FF0000"/>
                </a:solidFill>
              </a:rPr>
              <a:t>control the deformation behaviour in materials</a:t>
            </a:r>
            <a:r>
              <a:rPr lang="en-US" altLang="en-US" sz="2400" b="1">
                <a:solidFill>
                  <a:schemeClr val="tx2"/>
                </a:solidFill>
              </a:rPr>
              <a:t> using Schmid’s Law, which takes into account the orientation of an applied force and the possible slip directions and slip planes. </a:t>
            </a:r>
          </a:p>
          <a:p>
            <a:r>
              <a:rPr lang="en-US" altLang="en-US" sz="2400" b="1">
                <a:solidFill>
                  <a:schemeClr val="tx2"/>
                </a:solidFill>
              </a:rPr>
              <a:t>The </a:t>
            </a:r>
            <a:r>
              <a:rPr lang="en-US" altLang="en-US" sz="2400" b="1">
                <a:solidFill>
                  <a:srgbClr val="FF0000"/>
                </a:solidFill>
              </a:rPr>
              <a:t>unidirectional</a:t>
            </a:r>
            <a:r>
              <a:rPr lang="en-US" altLang="en-US" sz="2400" b="1">
                <a:solidFill>
                  <a:schemeClr val="tx2"/>
                </a:solidFill>
              </a:rPr>
              <a:t> </a:t>
            </a:r>
            <a:r>
              <a:rPr lang="en-US" altLang="en-US" sz="2400" b="1">
                <a:solidFill>
                  <a:srgbClr val="FF0000"/>
                </a:solidFill>
              </a:rPr>
              <a:t>stress</a:t>
            </a:r>
            <a:r>
              <a:rPr lang="en-US" altLang="en-US" sz="2400" b="1">
                <a:solidFill>
                  <a:schemeClr val="tx2"/>
                </a:solidFill>
              </a:rPr>
              <a:t>, </a:t>
            </a:r>
            <a:r>
              <a:rPr lang="en-US" altLang="en-US" sz="2400" b="1">
                <a:solidFill>
                  <a:schemeClr val="tx2"/>
                </a:solidFill>
                <a:latin typeface="Symbol" pitchFamily="18" charset="2"/>
              </a:rPr>
              <a:t>s,</a:t>
            </a:r>
            <a:r>
              <a:rPr lang="en-US" altLang="en-US" sz="2400" b="1">
                <a:solidFill>
                  <a:schemeClr val="tx2"/>
                </a:solidFill>
              </a:rPr>
              <a:t> applied to the cylinder and its resolved shear stress, </a:t>
            </a:r>
            <a:r>
              <a:rPr lang="en-US" altLang="en-US" sz="2400" b="1">
                <a:solidFill>
                  <a:schemeClr val="tx2"/>
                </a:solidFill>
                <a:latin typeface="Symbol" pitchFamily="18" charset="2"/>
              </a:rPr>
              <a:t>t,</a:t>
            </a:r>
            <a:r>
              <a:rPr lang="en-US" altLang="en-US" sz="2400" b="1">
                <a:solidFill>
                  <a:schemeClr val="tx2"/>
                </a:solidFill>
              </a:rPr>
              <a:t> in the slip direction is given by: </a:t>
            </a:r>
          </a:p>
        </p:txBody>
      </p:sp>
      <p:graphicFrame>
        <p:nvGraphicFramePr>
          <p:cNvPr id="110597" name="Object 4"/>
          <p:cNvGraphicFramePr>
            <a:graphicFrameLocks noChangeAspect="1"/>
          </p:cNvGraphicFramePr>
          <p:nvPr/>
        </p:nvGraphicFramePr>
        <p:xfrm>
          <a:off x="2605088" y="2513013"/>
          <a:ext cx="4086225" cy="958850"/>
        </p:xfrm>
        <a:graphic>
          <a:graphicData uri="http://schemas.openxmlformats.org/presentationml/2006/ole">
            <mc:AlternateContent xmlns:mc="http://schemas.openxmlformats.org/markup-compatibility/2006">
              <mc:Choice xmlns:v="urn:schemas-microsoft-com:vml" Requires="v">
                <p:oleObj spid="_x0000_s4098" name="Equation" r:id="rId6" imgW="1841500" imgH="431800" progId="Equation.3">
                  <p:embed/>
                </p:oleObj>
              </mc:Choice>
              <mc:Fallback>
                <p:oleObj name="Equation" r:id="rId6" imgW="1841500" imgH="431800" progId="Equation.3">
                  <p:embed/>
                  <p:pic>
                    <p:nvPicPr>
                      <p:cNvPr id="110597"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05088" y="2513013"/>
                        <a:ext cx="4086225" cy="95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598" name="Text Box 6"/>
          <p:cNvSpPr txBox="1">
            <a:spLocks noChangeArrowheads="1"/>
          </p:cNvSpPr>
          <p:nvPr/>
        </p:nvSpPr>
        <p:spPr bwMode="auto">
          <a:xfrm>
            <a:off x="1692275" y="6213475"/>
            <a:ext cx="578326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solidFill>
                  <a:schemeClr val="accent2"/>
                </a:solidFill>
              </a:rPr>
              <a:t>See examples 4-9 in Askeland and Wright.</a:t>
            </a:r>
          </a:p>
        </p:txBody>
      </p:sp>
    </p:spTree>
  </p:cSld>
  <p:clrMapOvr>
    <a:masterClrMapping/>
  </p:clrMapOvr>
  <p:transition>
    <p:pull dir="ru"/>
  </p:transition>
</p:sld>
</file>

<file path=ppt/slides/slide39.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12642" name="Picture 2" descr="Table 4-2 CRS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04788"/>
            <a:ext cx="9144000" cy="505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3" name="Text Box 3"/>
          <p:cNvSpPr txBox="1">
            <a:spLocks noChangeArrowheads="1"/>
          </p:cNvSpPr>
          <p:nvPr/>
        </p:nvSpPr>
        <p:spPr bwMode="auto">
          <a:xfrm>
            <a:off x="0" y="4986338"/>
            <a:ext cx="9144000"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solidFill>
                  <a:srgbClr val="FF0000"/>
                </a:solidFill>
              </a:rPr>
              <a:t>Cross-slip</a:t>
            </a:r>
            <a:r>
              <a:rPr lang="en-US" altLang="en-US" sz="2400" b="1"/>
              <a:t> means that the dislocations can change or move from one slip plane to another.</a:t>
            </a:r>
          </a:p>
          <a:p>
            <a:pPr>
              <a:spcBef>
                <a:spcPct val="0"/>
              </a:spcBef>
              <a:buFontTx/>
              <a:buNone/>
            </a:pPr>
            <a:r>
              <a:rPr lang="en-US" altLang="en-US" sz="2400" b="1"/>
              <a:t>CRSS of BCC materials are high because they don’t have close packed planes, thus more resistance to dislocation glide increasing strength.</a:t>
            </a:r>
            <a:endParaRPr lang="en-US" altLang="en-US" sz="2400" b="1">
              <a:solidFill>
                <a:schemeClr val="accent2"/>
              </a:solidFill>
            </a:endParaRPr>
          </a:p>
        </p:txBody>
      </p:sp>
    </p:spTree>
  </p:cSld>
  <p:clrMapOvr>
    <a:masterClrMapping/>
  </p:clrMapOvr>
  <p:transition>
    <p:pull dir="ru"/>
  </p:transition>
</p:sld>
</file>

<file path=ppt/slides/slide40.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685800" y="190500"/>
            <a:ext cx="7772400" cy="495300"/>
          </a:xfrm>
          <a:solidFill>
            <a:schemeClr val="bg1"/>
          </a:solidFill>
          <a:ln>
            <a:solidFill>
              <a:schemeClr val="bg1"/>
            </a:solidFill>
            <a:miter lim="800000"/>
            <a:headEnd/>
            <a:tailEnd/>
          </a:ln>
        </p:spPr>
        <p:txBody>
          <a:bodyPr/>
          <a:lstStyle/>
          <a:p>
            <a:r>
              <a:rPr lang="en-US" altLang="en-US" sz="3200" b="1">
                <a:solidFill>
                  <a:srgbClr val="FF0000"/>
                </a:solidFill>
              </a:rPr>
              <a:t>Control of Slip Process – Strengthening Mechanisms</a:t>
            </a:r>
            <a:endParaRPr lang="en-US" altLang="en-US" sz="2400" b="1">
              <a:solidFill>
                <a:srgbClr val="FF0000"/>
              </a:solidFill>
            </a:endParaRPr>
          </a:p>
        </p:txBody>
      </p:sp>
      <p:sp>
        <p:nvSpPr>
          <p:cNvPr id="114691" name="Rectangle 3"/>
          <p:cNvSpPr>
            <a:spLocks noChangeArrowheads="1"/>
          </p:cNvSpPr>
          <p:nvPr/>
        </p:nvSpPr>
        <p:spPr bwMode="auto">
          <a:xfrm>
            <a:off x="609600" y="1066800"/>
            <a:ext cx="8382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buFontTx/>
              <a:buNone/>
            </a:pPr>
            <a:r>
              <a:rPr lang="en-US" altLang="en-US" sz="2400" b="1">
                <a:solidFill>
                  <a:schemeClr val="tx2"/>
                </a:solidFill>
              </a:rPr>
              <a:t>We can control the strength of a material by controlling the number and type of imperfections in real materials.</a:t>
            </a:r>
          </a:p>
          <a:p>
            <a:pPr lvl="1"/>
            <a:r>
              <a:rPr lang="en-US" altLang="en-US" sz="2000" b="1">
                <a:solidFill>
                  <a:schemeClr val="tx2"/>
                </a:solidFill>
              </a:rPr>
              <a:t>These </a:t>
            </a:r>
            <a:r>
              <a:rPr lang="en-US" altLang="en-US" sz="2000" b="1">
                <a:solidFill>
                  <a:srgbClr val="FF0000"/>
                </a:solidFill>
              </a:rPr>
              <a:t>imperfections block the movement of dislocations </a:t>
            </a:r>
            <a:r>
              <a:rPr lang="en-US" altLang="en-US" sz="2000" b="1">
                <a:solidFill>
                  <a:schemeClr val="tx2"/>
                </a:solidFill>
              </a:rPr>
              <a:t>making it difficult for dislocation motion.</a:t>
            </a:r>
          </a:p>
          <a:p>
            <a:pPr>
              <a:buFontTx/>
              <a:buNone/>
            </a:pPr>
            <a:r>
              <a:rPr lang="en-US" altLang="en-US" sz="2400" b="1">
                <a:solidFill>
                  <a:schemeClr val="tx2"/>
                </a:solidFill>
              </a:rPr>
              <a:t>Five common mechanisms for increasing the strength of a material are:</a:t>
            </a:r>
          </a:p>
          <a:p>
            <a:r>
              <a:rPr lang="en-US" altLang="en-US" sz="2400" b="1">
                <a:solidFill>
                  <a:srgbClr val="FF0000"/>
                </a:solidFill>
              </a:rPr>
              <a:t>Strain hardening</a:t>
            </a:r>
          </a:p>
          <a:p>
            <a:r>
              <a:rPr lang="en-US" altLang="en-US" sz="2400" b="1">
                <a:solidFill>
                  <a:srgbClr val="FF0000"/>
                </a:solidFill>
              </a:rPr>
              <a:t>Solid solution strengthening</a:t>
            </a:r>
          </a:p>
          <a:p>
            <a:r>
              <a:rPr lang="en-US" altLang="en-US" sz="2400" b="1">
                <a:solidFill>
                  <a:srgbClr val="FF0000"/>
                </a:solidFill>
              </a:rPr>
              <a:t>Grain refinement </a:t>
            </a:r>
          </a:p>
          <a:p>
            <a:r>
              <a:rPr lang="en-US" altLang="en-US" sz="2400" b="1">
                <a:solidFill>
                  <a:srgbClr val="FF0000"/>
                </a:solidFill>
              </a:rPr>
              <a:t>Secondary phases</a:t>
            </a:r>
          </a:p>
          <a:p>
            <a:r>
              <a:rPr lang="en-US" altLang="en-US" sz="2400" b="1">
                <a:solidFill>
                  <a:srgbClr val="FF0000"/>
                </a:solidFill>
              </a:rPr>
              <a:t>Dispersion hardening (age hardening)</a:t>
            </a:r>
          </a:p>
          <a:p>
            <a:endParaRPr lang="en-US" altLang="en-US" sz="2400" b="1">
              <a:solidFill>
                <a:schemeClr val="tx2"/>
              </a:solidFill>
            </a:endParaRPr>
          </a:p>
        </p:txBody>
      </p:sp>
    </p:spTree>
  </p:cSld>
  <p:clrMapOvr>
    <a:masterClrMapping/>
  </p:clrMapOvr>
  <p:transition>
    <p:pull dir="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533400" y="76200"/>
            <a:ext cx="8229600" cy="495300"/>
          </a:xfrm>
          <a:solidFill>
            <a:schemeClr val="bg1"/>
          </a:solidFill>
          <a:ln>
            <a:solidFill>
              <a:schemeClr val="bg1"/>
            </a:solidFill>
            <a:miter lim="800000"/>
            <a:headEnd/>
            <a:tailEnd/>
          </a:ln>
        </p:spPr>
        <p:txBody>
          <a:bodyPr/>
          <a:lstStyle/>
          <a:p>
            <a:r>
              <a:rPr lang="en-US" altLang="en-US" sz="2800" b="1">
                <a:solidFill>
                  <a:srgbClr val="FF0000"/>
                </a:solidFill>
              </a:rPr>
              <a:t>Control of Slip Process – Strengthening Mechanisms</a:t>
            </a:r>
            <a:endParaRPr lang="en-US" altLang="en-US" sz="2000" b="1">
              <a:solidFill>
                <a:srgbClr val="FF0000"/>
              </a:solidFill>
            </a:endParaRPr>
          </a:p>
        </p:txBody>
      </p:sp>
      <p:sp>
        <p:nvSpPr>
          <p:cNvPr id="116739" name="Rectangle 3"/>
          <p:cNvSpPr>
            <a:spLocks noChangeArrowheads="1"/>
          </p:cNvSpPr>
          <p:nvPr/>
        </p:nvSpPr>
        <p:spPr bwMode="auto">
          <a:xfrm>
            <a:off x="0" y="685800"/>
            <a:ext cx="9144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r>
              <a:rPr lang="en-US" altLang="en-US" sz="2400" b="1">
                <a:solidFill>
                  <a:schemeClr val="tx2"/>
                </a:solidFill>
              </a:rPr>
              <a:t>1) </a:t>
            </a:r>
            <a:r>
              <a:rPr lang="en-US" altLang="en-US" sz="2400" b="1">
                <a:solidFill>
                  <a:srgbClr val="FF0000"/>
                </a:solidFill>
              </a:rPr>
              <a:t>strain hardening</a:t>
            </a:r>
            <a:r>
              <a:rPr lang="en-US" altLang="en-US" sz="2400" b="1">
                <a:solidFill>
                  <a:schemeClr val="tx2"/>
                </a:solidFill>
              </a:rPr>
              <a:t>, which increases the number of dislocations in the material by deforming the material.  The extra dislocations block the motion of other dislocations by their strain fields. Thus, </a:t>
            </a:r>
            <a:r>
              <a:rPr lang="en-US" altLang="en-US" sz="2400" b="1"/>
              <a:t>strain hardening is enhanced with increased dislocation density.</a:t>
            </a:r>
            <a:endParaRPr lang="en-US" altLang="en-US" sz="2400" b="1">
              <a:solidFill>
                <a:schemeClr val="tx2"/>
              </a:solidFill>
            </a:endParaRPr>
          </a:p>
          <a:p>
            <a:endParaRPr lang="en-US" altLang="en-US" sz="2400" b="1">
              <a:solidFill>
                <a:schemeClr val="tx2"/>
              </a:solidFill>
            </a:endParaRPr>
          </a:p>
          <a:p>
            <a:r>
              <a:rPr lang="en-US" altLang="en-US" sz="2400" b="1">
                <a:solidFill>
                  <a:schemeClr val="tx2"/>
                </a:solidFill>
              </a:rPr>
              <a:t>2) </a:t>
            </a:r>
            <a:r>
              <a:rPr lang="en-US" altLang="en-US" sz="2400" b="1">
                <a:solidFill>
                  <a:srgbClr val="FF0000"/>
                </a:solidFill>
              </a:rPr>
              <a:t>solid solution strengthening</a:t>
            </a:r>
            <a:r>
              <a:rPr lang="en-US" altLang="en-US" sz="2400" b="1">
                <a:solidFill>
                  <a:schemeClr val="tx2"/>
                </a:solidFill>
              </a:rPr>
              <a:t>, which adds point defects consisting of substitutional or interstitial atoms (alloying additions or impurities, i.e., foreign atoms).  The strain around the foreign atoms blocks the motion of dislocations.</a:t>
            </a:r>
          </a:p>
          <a:p>
            <a:endParaRPr lang="en-US" altLang="en-US" sz="2400" b="1">
              <a:solidFill>
                <a:schemeClr val="tx2"/>
              </a:solidFill>
            </a:endParaRPr>
          </a:p>
          <a:p>
            <a:r>
              <a:rPr lang="en-US" altLang="en-US" sz="2400" b="1">
                <a:solidFill>
                  <a:schemeClr val="tx2"/>
                </a:solidFill>
              </a:rPr>
              <a:t>3) </a:t>
            </a:r>
            <a:r>
              <a:rPr lang="en-US" altLang="en-US" sz="2400" b="1">
                <a:solidFill>
                  <a:srgbClr val="FF0000"/>
                </a:solidFill>
              </a:rPr>
              <a:t>grain size strengthening</a:t>
            </a:r>
            <a:r>
              <a:rPr lang="en-US" altLang="en-US" sz="2400" b="1">
                <a:solidFill>
                  <a:schemeClr val="tx2"/>
                </a:solidFill>
              </a:rPr>
              <a:t> (grain refinement), which reduces grain size where the grain boundaries (two-dimensional network of dislocations) block the motion of dislocations. The greater the grain boundary area (smaller grain size) the greater the strength of the material.</a:t>
            </a:r>
          </a:p>
        </p:txBody>
      </p:sp>
    </p:spTree>
  </p:cSld>
  <p:clrMapOvr>
    <a:masterClrMapping/>
  </p:clrMapOvr>
  <p:transition>
    <p:pull dir="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533400" y="76200"/>
            <a:ext cx="8229600" cy="495300"/>
          </a:xfrm>
          <a:solidFill>
            <a:schemeClr val="bg1"/>
          </a:solidFill>
          <a:ln>
            <a:solidFill>
              <a:schemeClr val="bg1"/>
            </a:solidFill>
            <a:miter lim="800000"/>
            <a:headEnd/>
            <a:tailEnd/>
          </a:ln>
        </p:spPr>
        <p:txBody>
          <a:bodyPr/>
          <a:lstStyle/>
          <a:p>
            <a:r>
              <a:rPr lang="en-US" altLang="en-US" sz="2800" b="1">
                <a:solidFill>
                  <a:srgbClr val="FF0000"/>
                </a:solidFill>
              </a:rPr>
              <a:t>Control of Slip Process – Strengthening Mechanisms</a:t>
            </a:r>
            <a:endParaRPr lang="en-US" altLang="en-US" sz="2000" b="1">
              <a:solidFill>
                <a:srgbClr val="FF0000"/>
              </a:solidFill>
            </a:endParaRPr>
          </a:p>
        </p:txBody>
      </p:sp>
      <p:sp>
        <p:nvSpPr>
          <p:cNvPr id="118787" name="Rectangle 3"/>
          <p:cNvSpPr>
            <a:spLocks noChangeArrowheads="1"/>
          </p:cNvSpPr>
          <p:nvPr/>
        </p:nvSpPr>
        <p:spPr bwMode="auto">
          <a:xfrm>
            <a:off x="0" y="685800"/>
            <a:ext cx="9144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buFontTx/>
              <a:buNone/>
            </a:pPr>
            <a:endParaRPr lang="en-US" altLang="en-US" sz="2400" b="1">
              <a:solidFill>
                <a:schemeClr val="tx2"/>
              </a:solidFill>
            </a:endParaRPr>
          </a:p>
          <a:p>
            <a:r>
              <a:rPr lang="en-US" altLang="en-US" sz="2400" b="1">
                <a:solidFill>
                  <a:schemeClr val="tx2"/>
                </a:solidFill>
              </a:rPr>
              <a:t>4) </a:t>
            </a:r>
            <a:r>
              <a:rPr lang="en-US" altLang="en-US" sz="2400" b="1">
                <a:solidFill>
                  <a:srgbClr val="FF0000"/>
                </a:solidFill>
              </a:rPr>
              <a:t>Secondary phases</a:t>
            </a:r>
            <a:r>
              <a:rPr lang="en-US" altLang="en-US" sz="2400" b="1">
                <a:solidFill>
                  <a:schemeClr val="tx2"/>
                </a:solidFill>
              </a:rPr>
              <a:t> where some grains can have one type of atomic structure, eg., bcc, and other grains will have another type of atomic structure, eg., fcc.  An example is </a:t>
            </a:r>
            <a:r>
              <a:rPr lang="en-US" altLang="en-US" sz="2400" b="1">
                <a:solidFill>
                  <a:schemeClr val="tx2"/>
                </a:solidFill>
                <a:latin typeface="Symbol" pitchFamily="18" charset="2"/>
              </a:rPr>
              <a:t>a/b</a:t>
            </a:r>
            <a:r>
              <a:rPr lang="en-US" altLang="en-US" sz="2400" b="1">
                <a:solidFill>
                  <a:schemeClr val="tx2"/>
                </a:solidFill>
              </a:rPr>
              <a:t> brass. Dislocations have difficulty passing from one type of grain to the other.</a:t>
            </a:r>
          </a:p>
          <a:p>
            <a:endParaRPr lang="en-US" altLang="en-US" sz="2400" b="1">
              <a:solidFill>
                <a:schemeClr val="tx2"/>
              </a:solidFill>
            </a:endParaRPr>
          </a:p>
          <a:p>
            <a:r>
              <a:rPr lang="en-US" altLang="en-US" sz="2400" b="1">
                <a:solidFill>
                  <a:schemeClr val="tx2"/>
                </a:solidFill>
              </a:rPr>
              <a:t>5)  </a:t>
            </a:r>
            <a:r>
              <a:rPr lang="en-US" altLang="en-US" sz="2400" b="1">
                <a:solidFill>
                  <a:srgbClr val="FF0000"/>
                </a:solidFill>
              </a:rPr>
              <a:t>Dispersion hardening</a:t>
            </a:r>
            <a:r>
              <a:rPr lang="en-US" altLang="en-US" sz="2400" b="1">
                <a:solidFill>
                  <a:schemeClr val="tx2"/>
                </a:solidFill>
              </a:rPr>
              <a:t> (</a:t>
            </a:r>
            <a:r>
              <a:rPr lang="en-US" altLang="en-US" sz="2400" b="1">
                <a:solidFill>
                  <a:srgbClr val="FF0000"/>
                </a:solidFill>
              </a:rPr>
              <a:t>age hardening</a:t>
            </a:r>
            <a:r>
              <a:rPr lang="en-US" altLang="en-US" sz="2400" b="1">
                <a:solidFill>
                  <a:schemeClr val="tx2"/>
                </a:solidFill>
              </a:rPr>
              <a:t>) where small precipitates having different crystal structures within grains are used to block the motion of dislocations.</a:t>
            </a:r>
          </a:p>
        </p:txBody>
      </p:sp>
    </p:spTree>
  </p:cSld>
  <p:clrMapOvr>
    <a:masterClrMapping/>
  </p:clrMapOvr>
  <p:transition>
    <p:pull dir="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685800" y="114300"/>
            <a:ext cx="7772400" cy="800100"/>
          </a:xfrm>
          <a:solidFill>
            <a:schemeClr val="bg1"/>
          </a:solidFill>
          <a:ln>
            <a:solidFill>
              <a:schemeClr val="bg1"/>
            </a:solidFill>
            <a:miter lim="800000"/>
            <a:headEnd/>
            <a:tailEnd/>
          </a:ln>
        </p:spPr>
        <p:txBody>
          <a:bodyPr/>
          <a:lstStyle/>
          <a:p>
            <a:r>
              <a:rPr lang="en-US" altLang="en-US" sz="4000" b="1">
                <a:solidFill>
                  <a:srgbClr val="FF0000"/>
                </a:solidFill>
              </a:rPr>
              <a:t>Strengthening Mechanisms</a:t>
            </a:r>
            <a:endParaRPr lang="en-US" altLang="en-US" sz="3200" b="1">
              <a:solidFill>
                <a:srgbClr val="FF0000"/>
              </a:solidFill>
            </a:endParaRPr>
          </a:p>
        </p:txBody>
      </p:sp>
      <p:sp>
        <p:nvSpPr>
          <p:cNvPr id="120835" name="Rectangle 3"/>
          <p:cNvSpPr>
            <a:spLocks noChangeArrowheads="1"/>
          </p:cNvSpPr>
          <p:nvPr/>
        </p:nvSpPr>
        <p:spPr bwMode="auto">
          <a:xfrm>
            <a:off x="304800" y="1447800"/>
            <a:ext cx="873125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buFontTx/>
              <a:buNone/>
            </a:pPr>
            <a:r>
              <a:rPr lang="en-US" altLang="en-US" sz="2800" b="1"/>
              <a:t>These five processes are used to increase the strength of a material.</a:t>
            </a:r>
          </a:p>
          <a:p>
            <a:pPr>
              <a:buFontTx/>
              <a:buNone/>
            </a:pPr>
            <a:endParaRPr lang="en-US" altLang="en-US" sz="2800" b="1"/>
          </a:p>
          <a:p>
            <a:pPr>
              <a:buFontTx/>
              <a:buNone/>
            </a:pPr>
            <a:r>
              <a:rPr lang="en-US" altLang="en-US" sz="2800" b="1"/>
              <a:t>During this course we will discuss these five mechanisms in greater detail.</a:t>
            </a:r>
          </a:p>
        </p:txBody>
      </p:sp>
    </p:spTree>
  </p:cSld>
  <p:clrMapOvr>
    <a:masterClrMapping/>
  </p:clrMapOvr>
  <p:transition>
    <p:pull dir="ru"/>
  </p:transition>
</p:sld>
</file>

<file path=ppt/slides/slide44.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22882" name="Picture 1026" descr="Fig 4-22 Strengthening Mechanism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484188"/>
            <a:ext cx="7848600"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3" name="Text Box 1027"/>
          <p:cNvSpPr txBox="1">
            <a:spLocks noChangeArrowheads="1"/>
          </p:cNvSpPr>
          <p:nvPr/>
        </p:nvSpPr>
        <p:spPr bwMode="auto">
          <a:xfrm>
            <a:off x="457200" y="4841875"/>
            <a:ext cx="8382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If the dislocation at </a:t>
            </a:r>
            <a:r>
              <a:rPr lang="en-US" altLang="en-US" sz="2400" b="1">
                <a:solidFill>
                  <a:srgbClr val="FF0000"/>
                </a:solidFill>
              </a:rPr>
              <a:t>point A</a:t>
            </a:r>
            <a:r>
              <a:rPr lang="en-US" altLang="en-US" sz="2400" b="1"/>
              <a:t> moves to the left, it is blocked by the point defect. If it moves to the right, it interacts with the dislocation at </a:t>
            </a:r>
            <a:r>
              <a:rPr lang="en-US" altLang="en-US" sz="2400" b="1">
                <a:solidFill>
                  <a:srgbClr val="FF0000"/>
                </a:solidFill>
              </a:rPr>
              <a:t>B </a:t>
            </a:r>
            <a:r>
              <a:rPr lang="en-US" altLang="en-US" sz="2400" b="1"/>
              <a:t>and farther to the right, with the grain boundary.</a:t>
            </a:r>
          </a:p>
        </p:txBody>
      </p:sp>
      <p:sp>
        <p:nvSpPr>
          <p:cNvPr id="122884" name="Oval 1028"/>
          <p:cNvSpPr>
            <a:spLocks noChangeArrowheads="1"/>
          </p:cNvSpPr>
          <p:nvPr/>
        </p:nvSpPr>
        <p:spPr bwMode="auto">
          <a:xfrm>
            <a:off x="3067050" y="2681288"/>
            <a:ext cx="457200" cy="4572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US" altLang="en-US" sz="2400"/>
          </a:p>
        </p:txBody>
      </p:sp>
      <p:sp>
        <p:nvSpPr>
          <p:cNvPr id="122885" name="Oval 1029"/>
          <p:cNvSpPr>
            <a:spLocks noChangeArrowheads="1"/>
          </p:cNvSpPr>
          <p:nvPr/>
        </p:nvSpPr>
        <p:spPr bwMode="auto">
          <a:xfrm>
            <a:off x="4657725" y="1149350"/>
            <a:ext cx="457200" cy="4572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US" altLang="en-US" sz="2400"/>
          </a:p>
        </p:txBody>
      </p:sp>
    </p:spTree>
  </p:cSld>
  <p:clrMapOvr>
    <a:masterClrMapping/>
  </p:clrMapOvr>
  <p:transition>
    <p:pull dir="ru"/>
  </p:transition>
</p:sld>
</file>

<file path=ppt/slides/slide45.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124930" name="Picture 2" descr="Fig 4-17 Grain Boundaries vs Strengt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0"/>
            <a:ext cx="67056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1" name="Text Box 3"/>
          <p:cNvSpPr txBox="1">
            <a:spLocks noChangeArrowheads="1"/>
          </p:cNvSpPr>
          <p:nvPr/>
        </p:nvSpPr>
        <p:spPr bwMode="auto">
          <a:xfrm>
            <a:off x="304800" y="5502275"/>
            <a:ext cx="794067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b="1"/>
              <a:t>The effect of grain size on the yield strength of steel at room temperature where the </a:t>
            </a:r>
            <a:r>
              <a:rPr lang="en-US" altLang="en-US" sz="2400" b="1">
                <a:solidFill>
                  <a:srgbClr val="FF0000"/>
                </a:solidFill>
              </a:rPr>
              <a:t>Hall-Petch equation</a:t>
            </a:r>
            <a:r>
              <a:rPr lang="en-US" altLang="en-US" sz="2400" b="1"/>
              <a:t> applies: </a:t>
            </a:r>
          </a:p>
          <a:p>
            <a:pPr>
              <a:spcBef>
                <a:spcPct val="0"/>
              </a:spcBef>
              <a:buFontTx/>
              <a:buNone/>
            </a:pPr>
            <a:r>
              <a:rPr lang="en-US" altLang="en-US" sz="2400" b="1">
                <a:solidFill>
                  <a:schemeClr val="accent2"/>
                </a:solidFill>
              </a:rPr>
              <a:t>Review example 4-12 in Askeland and Wright.</a:t>
            </a:r>
          </a:p>
        </p:txBody>
      </p:sp>
      <p:graphicFrame>
        <p:nvGraphicFramePr>
          <p:cNvPr id="124932" name="Object 4"/>
          <p:cNvGraphicFramePr>
            <a:graphicFrameLocks noChangeAspect="1"/>
          </p:cNvGraphicFramePr>
          <p:nvPr/>
        </p:nvGraphicFramePr>
        <p:xfrm>
          <a:off x="4664075" y="2971800"/>
          <a:ext cx="2438400" cy="581025"/>
        </p:xfrm>
        <a:graphic>
          <a:graphicData uri="http://schemas.openxmlformats.org/presentationml/2006/ole">
            <mc:AlternateContent xmlns:mc="http://schemas.openxmlformats.org/markup-compatibility/2006">
              <mc:Choice xmlns:v="urn:schemas-microsoft-com:vml" Requires="v">
                <p:oleObj spid="_x0000_s5122" name="Equation" r:id="rId6" imgW="1066337" imgH="253890" progId="Equation.3">
                  <p:embed/>
                </p:oleObj>
              </mc:Choice>
              <mc:Fallback>
                <p:oleObj name="Equation" r:id="rId6" imgW="1066337" imgH="253890" progId="Equation.3">
                  <p:embed/>
                  <p:pic>
                    <p:nvPicPr>
                      <p:cNvPr id="12493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4075" y="2971800"/>
                        <a:ext cx="24384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pull dir="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685800" y="152400"/>
            <a:ext cx="7772400" cy="677863"/>
          </a:xfrm>
        </p:spPr>
        <p:txBody>
          <a:bodyPr/>
          <a:lstStyle/>
          <a:p>
            <a:r>
              <a:rPr lang="en-US" altLang="en-US" sz="4000" b="1"/>
              <a:t>Solid Solution Strengthening</a:t>
            </a:r>
          </a:p>
        </p:txBody>
      </p:sp>
      <p:sp>
        <p:nvSpPr>
          <p:cNvPr id="126979" name="Rectangle 3"/>
          <p:cNvSpPr>
            <a:spLocks noGrp="1" noChangeArrowheads="1"/>
          </p:cNvSpPr>
          <p:nvPr>
            <p:ph type="body" idx="1"/>
          </p:nvPr>
        </p:nvSpPr>
        <p:spPr>
          <a:xfrm>
            <a:off x="177800" y="998538"/>
            <a:ext cx="3968750" cy="4360862"/>
          </a:xfrm>
        </p:spPr>
        <p:txBody>
          <a:bodyPr/>
          <a:lstStyle/>
          <a:p>
            <a:pPr>
              <a:lnSpc>
                <a:spcPct val="90000"/>
              </a:lnSpc>
            </a:pPr>
            <a:r>
              <a:rPr lang="en-US" altLang="en-US" sz="2400" b="1"/>
              <a:t>Engineers can strengthen alloys by the addition of </a:t>
            </a:r>
            <a:r>
              <a:rPr lang="en-US" altLang="en-US" sz="2400" b="1">
                <a:solidFill>
                  <a:srgbClr val="FF0000"/>
                </a:solidFill>
              </a:rPr>
              <a:t>solutes</a:t>
            </a:r>
            <a:r>
              <a:rPr lang="en-US" altLang="en-US" sz="2400" b="1"/>
              <a:t>, which add strain to the crystal helping to block the motion of dislocations.</a:t>
            </a:r>
          </a:p>
          <a:p>
            <a:pPr>
              <a:lnSpc>
                <a:spcPct val="90000"/>
              </a:lnSpc>
            </a:pPr>
            <a:r>
              <a:rPr lang="en-US" altLang="en-US" sz="2400" b="1">
                <a:solidFill>
                  <a:srgbClr val="FF0000"/>
                </a:solidFill>
              </a:rPr>
              <a:t>Small solutes </a:t>
            </a:r>
            <a:r>
              <a:rPr lang="en-US" altLang="en-US" sz="2400" b="1"/>
              <a:t>such as Be tend to give a </a:t>
            </a:r>
            <a:r>
              <a:rPr lang="en-US" altLang="en-US" sz="2400" b="1">
                <a:solidFill>
                  <a:srgbClr val="FF0000"/>
                </a:solidFill>
              </a:rPr>
              <a:t>bigger increase in strength </a:t>
            </a:r>
            <a:r>
              <a:rPr lang="en-US" altLang="en-US" sz="2400" b="1"/>
              <a:t>than larger solutes, eg. Sn, Ni or Zn. See graph. An example we will see later is </a:t>
            </a:r>
            <a:r>
              <a:rPr lang="en-US" altLang="en-US" sz="2400" b="1">
                <a:solidFill>
                  <a:srgbClr val="FF0000"/>
                </a:solidFill>
              </a:rPr>
              <a:t>Cu-Be alloys</a:t>
            </a:r>
            <a:r>
              <a:rPr lang="en-US" altLang="en-US" sz="2400" b="1"/>
              <a:t>.</a:t>
            </a:r>
          </a:p>
          <a:p>
            <a:pPr>
              <a:lnSpc>
                <a:spcPct val="90000"/>
              </a:lnSpc>
            </a:pPr>
            <a:r>
              <a:rPr lang="en-US" altLang="en-US" sz="2400" b="1"/>
              <a:t>Small solutes give a bigger “bang for the buck”!</a:t>
            </a:r>
          </a:p>
        </p:txBody>
      </p:sp>
      <p:pic>
        <p:nvPicPr>
          <p:cNvPr id="126980" name="Picture 4" descr="Figure 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6400" y="914400"/>
            <a:ext cx="4549775"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1" name="Text Box 5"/>
          <p:cNvSpPr txBox="1">
            <a:spLocks noChangeArrowheads="1"/>
          </p:cNvSpPr>
          <p:nvPr/>
        </p:nvSpPr>
        <p:spPr bwMode="auto">
          <a:xfrm>
            <a:off x="4687888" y="6096000"/>
            <a:ext cx="1208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000" b="1"/>
              <a:t>100% Cu</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30050" name="Text Box 2"/>
          <p:cNvSpPr txBox="1">
            <a:spLocks noChangeArrowheads="1"/>
          </p:cNvSpPr>
          <p:nvPr/>
        </p:nvSpPr>
        <p:spPr bwMode="auto">
          <a:xfrm>
            <a:off x="2797175" y="1466850"/>
            <a:ext cx="3608388"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r>
              <a:rPr lang="en-US" altLang="en-US" sz="3600" b="1"/>
              <a:t>The End</a:t>
            </a:r>
          </a:p>
          <a:p>
            <a:pPr algn="ctr">
              <a:spcBef>
                <a:spcPct val="0"/>
              </a:spcBef>
              <a:buFontTx/>
              <a:buNone/>
            </a:pPr>
            <a:endParaRPr lang="en-US" altLang="en-US" sz="3600" b="1"/>
          </a:p>
          <a:p>
            <a:pPr algn="ctr">
              <a:spcBef>
                <a:spcPct val="0"/>
              </a:spcBef>
              <a:buFontTx/>
              <a:buNone/>
            </a:pPr>
            <a:r>
              <a:rPr lang="en-US" altLang="en-US" sz="3600" b="1"/>
              <a:t>(Any Questions?)</a:t>
            </a:r>
          </a:p>
        </p:txBody>
      </p:sp>
    </p:spTree>
  </p:cSld>
  <p:clrMapOvr>
    <a:masterClrMapping/>
  </p:clrMapOvr>
  <p:transition>
    <p:pull dir="ru"/>
  </p:transition>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8b51251-b8e9-485d-b231-8785e167877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4C6F68AD99C264E92B7A45A5C160D07" ma:contentTypeVersion="18" ma:contentTypeDescription="Create a new document." ma:contentTypeScope="" ma:versionID="9008ed0921099fe21e04bfddb6f1d277">
  <xsd:schema xmlns:xsd="http://www.w3.org/2001/XMLSchema" xmlns:xs="http://www.w3.org/2001/XMLSchema" xmlns:p="http://schemas.microsoft.com/office/2006/metadata/properties" xmlns:ns3="28b51251-b8e9-485d-b231-8785e1678778" xmlns:ns4="6b03e0f9-fb11-4730-b1f8-958acc0b9643" targetNamespace="http://schemas.microsoft.com/office/2006/metadata/properties" ma:root="true" ma:fieldsID="be832426ee3933c746d2eadb577693fd" ns3:_="" ns4:_="">
    <xsd:import namespace="28b51251-b8e9-485d-b231-8785e1678778"/>
    <xsd:import namespace="6b03e0f9-fb11-4730-b1f8-958acc0b9643"/>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MediaServiceLocation"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b51251-b8e9-485d-b231-8785e16787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b03e0f9-fb11-4730-b1f8-958acc0b964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D4E929-D572-49A7-A839-FECEDB0F812A}">
  <ds:schemaRefs>
    <ds:schemaRef ds:uri="http://schemas.microsoft.com/office/infopath/2007/PartnerControls"/>
    <ds:schemaRef ds:uri="http://purl.org/dc/terms/"/>
    <ds:schemaRef ds:uri="http://schemas.microsoft.com/office/2006/metadata/properties"/>
    <ds:schemaRef ds:uri="http://www.w3.org/XML/1998/namespace"/>
    <ds:schemaRef ds:uri="http://purl.org/dc/elements/1.1/"/>
    <ds:schemaRef ds:uri="http://purl.org/dc/dcmitype/"/>
    <ds:schemaRef ds:uri="28b51251-b8e9-485d-b231-8785e1678778"/>
    <ds:schemaRef ds:uri="http://schemas.microsoft.com/office/2006/documentManagement/types"/>
    <ds:schemaRef ds:uri="http://schemas.openxmlformats.org/package/2006/metadata/core-properties"/>
    <ds:schemaRef ds:uri="6b03e0f9-fb11-4730-b1f8-958acc0b9643"/>
  </ds:schemaRefs>
</ds:datastoreItem>
</file>

<file path=customXml/itemProps2.xml><?xml version="1.0" encoding="utf-8"?>
<ds:datastoreItem xmlns:ds="http://schemas.openxmlformats.org/officeDocument/2006/customXml" ds:itemID="{002589B0-1DA8-4250-8D60-5356A89065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b51251-b8e9-485d-b231-8785e1678778"/>
    <ds:schemaRef ds:uri="6b03e0f9-fb11-4730-b1f8-958acc0b96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AD87E4F-8E08-47EB-9426-9086C8B491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55918</TotalTime>
  <Words>3060</Words>
  <Application>Microsoft Office PowerPoint</Application>
  <PresentationFormat>On-screen Show (4:3)</PresentationFormat>
  <Paragraphs>278</Paragraphs>
  <Slides>47</Slides>
  <Notes>45</Notes>
  <HiddenSlides>0</HiddenSlides>
  <MMClips>1</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47</vt:i4>
      </vt:variant>
    </vt:vector>
  </HeadingPairs>
  <TitlesOfParts>
    <vt:vector size="54" baseType="lpstr">
      <vt:lpstr>Arial</vt:lpstr>
      <vt:lpstr>Symbol</vt:lpstr>
      <vt:lpstr>Times</vt:lpstr>
      <vt:lpstr>Times New Roman</vt:lpstr>
      <vt:lpstr>Blank Presentation</vt:lpstr>
      <vt:lpstr>Equation</vt:lpstr>
      <vt:lpstr>Bitmap Image</vt:lpstr>
      <vt:lpstr>ENGR 290  Dislocations</vt:lpstr>
      <vt:lpstr>Objectives (Chapter 4)</vt:lpstr>
      <vt:lpstr>Dislocations</vt:lpstr>
      <vt:lpstr>Dislocations</vt:lpstr>
      <vt:lpstr>PowerPoint Presentation</vt:lpstr>
      <vt:lpstr>PowerPoint Presentation</vt:lpstr>
      <vt:lpstr>PowerPoint Presentation</vt:lpstr>
      <vt:lpstr>Repeat Distance</vt:lpstr>
      <vt:lpstr>Dislocation’s Burgers Vector</vt:lpstr>
      <vt:lpstr>Surface Defects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 of Dislocations</vt:lpstr>
      <vt:lpstr>Dislocation Slip</vt:lpstr>
      <vt:lpstr>Dislocation Slip</vt:lpstr>
      <vt:lpstr>PowerPoint Presentation</vt:lpstr>
      <vt:lpstr>PowerPoint Presentation</vt:lpstr>
      <vt:lpstr>PowerPoint Presentation</vt:lpstr>
      <vt:lpstr>PowerPoint Presentation</vt:lpstr>
      <vt:lpstr>Dislocation Cores</vt:lpstr>
      <vt:lpstr>Dislocation Cores</vt:lpstr>
      <vt:lpstr>Cold Working/Strain Hardening - Dislocations</vt:lpstr>
      <vt:lpstr>Dispersion Strengthening</vt:lpstr>
      <vt:lpstr>Observing Dislocations</vt:lpstr>
      <vt:lpstr>PowerPoint Presentation</vt:lpstr>
      <vt:lpstr>PowerPoint Presentation</vt:lpstr>
      <vt:lpstr>Defects in Plasma Crystals Grown in Space</vt:lpstr>
      <vt:lpstr>PowerPoint Presentation</vt:lpstr>
      <vt:lpstr>Plasma Crystals Grown in Space</vt:lpstr>
      <vt:lpstr>Schmid’s Law</vt:lpstr>
      <vt:lpstr>PowerPoint Presentation</vt:lpstr>
      <vt:lpstr>Control of Slip Process – Strengthening Mechanisms</vt:lpstr>
      <vt:lpstr>Control of Slip Process – Strengthening Mechanisms</vt:lpstr>
      <vt:lpstr>Control of Slip Process – Strengthening Mechanisms</vt:lpstr>
      <vt:lpstr>Strengthening Mechanisms</vt:lpstr>
      <vt:lpstr>PowerPoint Presentation</vt:lpstr>
      <vt:lpstr>PowerPoint Presentation</vt:lpstr>
      <vt:lpstr>Solid Solution Strengthening</vt:lpstr>
      <vt:lpstr>PowerPoint Presentation</vt:lpstr>
    </vt:vector>
  </TitlesOfParts>
  <Company>Agence spatiale canadienne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Canadian Space Agency Agence</dc:creator>
  <cp:lastModifiedBy>Stephen Ferguson</cp:lastModifiedBy>
  <cp:revision>224</cp:revision>
  <dcterms:created xsi:type="dcterms:W3CDTF">2003-03-11T22:42:28Z</dcterms:created>
  <dcterms:modified xsi:type="dcterms:W3CDTF">2024-08-31T23:37:57Z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0x01010094C6F68AD99C264E92B7A45A5C160D07</vt:lpwstr>
  </property>
</Properties>
</file>