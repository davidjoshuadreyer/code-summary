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66"/>
  </p:notesMasterIdLst>
  <p:sldIdLst>
    <p:sldId id="400" r:id="rId6"/>
    <p:sldId id="296" r:id="rId7"/>
    <p:sldId id="297" r:id="rId8"/>
    <p:sldId id="266" r:id="rId9"/>
    <p:sldId id="361" r:id="rId10"/>
    <p:sldId id="375" r:id="rId11"/>
    <p:sldId id="344" r:id="rId12"/>
    <p:sldId id="374" r:id="rId13"/>
    <p:sldId id="345" r:id="rId14"/>
    <p:sldId id="362" r:id="rId15"/>
    <p:sldId id="376" r:id="rId16"/>
    <p:sldId id="377" r:id="rId17"/>
    <p:sldId id="353" r:id="rId18"/>
    <p:sldId id="380" r:id="rId19"/>
    <p:sldId id="379" r:id="rId20"/>
    <p:sldId id="378" r:id="rId21"/>
    <p:sldId id="298" r:id="rId22"/>
    <p:sldId id="346" r:id="rId23"/>
    <p:sldId id="381" r:id="rId24"/>
    <p:sldId id="382" r:id="rId25"/>
    <p:sldId id="383" r:id="rId26"/>
    <p:sldId id="385" r:id="rId27"/>
    <p:sldId id="386" r:id="rId28"/>
    <p:sldId id="388" r:id="rId29"/>
    <p:sldId id="389" r:id="rId30"/>
    <p:sldId id="387" r:id="rId31"/>
    <p:sldId id="390" r:id="rId32"/>
    <p:sldId id="391" r:id="rId33"/>
    <p:sldId id="392" r:id="rId34"/>
    <p:sldId id="301" r:id="rId35"/>
    <p:sldId id="363" r:id="rId36"/>
    <p:sldId id="364" r:id="rId37"/>
    <p:sldId id="365" r:id="rId38"/>
    <p:sldId id="399" r:id="rId39"/>
    <p:sldId id="393" r:id="rId40"/>
    <p:sldId id="394" r:id="rId41"/>
    <p:sldId id="347" r:id="rId42"/>
    <p:sldId id="348" r:id="rId43"/>
    <p:sldId id="322" r:id="rId44"/>
    <p:sldId id="367" r:id="rId45"/>
    <p:sldId id="395" r:id="rId46"/>
    <p:sldId id="366" r:id="rId47"/>
    <p:sldId id="396" r:id="rId48"/>
    <p:sldId id="369" r:id="rId49"/>
    <p:sldId id="370" r:id="rId50"/>
    <p:sldId id="265" r:id="rId51"/>
    <p:sldId id="398" r:id="rId52"/>
    <p:sldId id="267" r:id="rId53"/>
    <p:sldId id="268" r:id="rId54"/>
    <p:sldId id="280" r:id="rId55"/>
    <p:sldId id="397" r:id="rId56"/>
    <p:sldId id="302" r:id="rId57"/>
    <p:sldId id="372" r:id="rId58"/>
    <p:sldId id="373" r:id="rId59"/>
    <p:sldId id="368" r:id="rId60"/>
    <p:sldId id="349" r:id="rId61"/>
    <p:sldId id="271" r:id="rId62"/>
    <p:sldId id="284" r:id="rId63"/>
    <p:sldId id="283" r:id="rId64"/>
    <p:sldId id="401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400"/>
            <p14:sldId id="296"/>
            <p14:sldId id="297"/>
            <p14:sldId id="266"/>
            <p14:sldId id="361"/>
            <p14:sldId id="375"/>
            <p14:sldId id="344"/>
            <p14:sldId id="374"/>
            <p14:sldId id="345"/>
            <p14:sldId id="362"/>
            <p14:sldId id="376"/>
            <p14:sldId id="377"/>
            <p14:sldId id="353"/>
            <p14:sldId id="380"/>
            <p14:sldId id="379"/>
            <p14:sldId id="378"/>
            <p14:sldId id="298"/>
            <p14:sldId id="346"/>
            <p14:sldId id="381"/>
            <p14:sldId id="382"/>
            <p14:sldId id="383"/>
            <p14:sldId id="385"/>
            <p14:sldId id="386"/>
            <p14:sldId id="388"/>
            <p14:sldId id="389"/>
            <p14:sldId id="387"/>
            <p14:sldId id="390"/>
            <p14:sldId id="391"/>
            <p14:sldId id="392"/>
            <p14:sldId id="301"/>
            <p14:sldId id="363"/>
            <p14:sldId id="364"/>
            <p14:sldId id="365"/>
            <p14:sldId id="399"/>
            <p14:sldId id="393"/>
            <p14:sldId id="394"/>
            <p14:sldId id="347"/>
            <p14:sldId id="348"/>
            <p14:sldId id="322"/>
            <p14:sldId id="367"/>
            <p14:sldId id="395"/>
            <p14:sldId id="366"/>
            <p14:sldId id="396"/>
            <p14:sldId id="369"/>
            <p14:sldId id="370"/>
            <p14:sldId id="265"/>
            <p14:sldId id="398"/>
            <p14:sldId id="267"/>
            <p14:sldId id="268"/>
            <p14:sldId id="280"/>
            <p14:sldId id="397"/>
            <p14:sldId id="302"/>
            <p14:sldId id="372"/>
            <p14:sldId id="373"/>
            <p14:sldId id="368"/>
            <p14:sldId id="349"/>
            <p14:sldId id="271"/>
            <p14:sldId id="284"/>
            <p14:sldId id="283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10E46-DB60-4E7C-B48F-8F5CCB3A332B}" v="5" dt="2026-10-05T04:07:27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03" autoAdjust="0"/>
    <p:restoredTop sz="94249" autoAdjust="0"/>
  </p:normalViewPr>
  <p:slideViewPr>
    <p:cSldViewPr snapToGrid="0" showGuides="1">
      <p:cViewPr varScale="1">
        <p:scale>
          <a:sx n="74" d="100"/>
          <a:sy n="74" d="100"/>
        </p:scale>
        <p:origin x="1284" y="48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442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modSld">
      <pc:chgData name="Mozhgan Moazzen Zadeh-Bacon" userId="87017a61-33d9-4952-aa6c-e009fac81f23" providerId="ADAL" clId="{447EDA8B-4EC7-4A76-95DB-62723156D1EE}" dt="2026-10-05T04:07:27.977" v="6" actId="20577"/>
      <pc:docMkLst>
        <pc:docMk/>
      </pc:docMkLst>
      <pc:sldChg chg="addSp delSp modSp mod">
        <pc:chgData name="Mozhgan Moazzen Zadeh-Bacon" userId="87017a61-33d9-4952-aa6c-e009fac81f23" providerId="ADAL" clId="{447EDA8B-4EC7-4A76-95DB-62723156D1EE}" dt="2026-10-05T04:07:27.977" v="6" actId="20577"/>
        <pc:sldMkLst>
          <pc:docMk/>
          <pc:sldMk cId="1212883874" sldId="353"/>
        </pc:sldMkLst>
        <pc:spChg chg="add mod">
          <ac:chgData name="Mozhgan Moazzen Zadeh-Bacon" userId="87017a61-33d9-4952-aa6c-e009fac81f23" providerId="ADAL" clId="{447EDA8B-4EC7-4A76-95DB-62723156D1EE}" dt="2026-10-05T04:07:27.977" v="6" actId="20577"/>
          <ac:spMkLst>
            <pc:docMk/>
            <pc:sldMk cId="1212883874" sldId="353"/>
            <ac:spMk id="7" creationId="{8BB52B5A-DED3-43AD-A199-F1F411A862DA}"/>
          </ac:spMkLst>
        </pc:spChg>
        <pc:graphicFrameChg chg="del mod replId">
          <ac:chgData name="Mozhgan Moazzen Zadeh-Bacon" userId="87017a61-33d9-4952-aa6c-e009fac81f23" providerId="ADAL" clId="{447EDA8B-4EC7-4A76-95DB-62723156D1EE}" dt="2026-10-05T04:07:18.758" v="1"/>
          <ac:graphicFrameMkLst>
            <pc:docMk/>
            <pc:sldMk cId="1212883874" sldId="353"/>
            <ac:graphicFrameMk id="6" creationId="{8BB52B5A-DED3-43AD-A199-F1F411A862DA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2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43 1328,'1'-3'3116,"-4"12"-2134,0 3-520,-1 2-95,0-1 0,-2 24 0,-2-18 1819,1-10-2085,7-9-78,-1 0 0,1 0 1,0 0-1,0 0 0,-1 0 0,1 0 0,0 1 0,0-1 0,-1 0 0,1 0 0,0 0 0,-1 0 0,1 0 0,0 0 1,0 0-1,-1 0 0,1 0 0,0 0 0,0-1 0,-1 1 0,1 0 0,0 0 0,-1 0 0,1 0 0,0 0 1,0 0-1,0-1 0,-1 1 0,1 0 0,0 0 0,0 0 0,-1-1 0,1 1 53,0-7 488,5-7-224,0 1 1,1 0-1,8-15 0,12-27 752,-24 51-830,3-7 277,-5 11-521,0 0-1,0 0 1,0 0 0,0-1 0,0 1-1,0 0 1,0 0 0,0 0 0,0 0-1,0 0 1,0-1 0,0 1 0,0 0-1,0 0 1,0 0 0,0 0 0,0-1-1,0 1 1,0 0 0,0 0 0,0 0-1,0 0 1,0-1 0,0 1 0,0 0-1,0 0 1,0 0 0,0 0 0,-1 0-1,1 0 1,0-1 0,0 1 0,0 0-1,0 0 1,0 0 0,0 0 0,-1 0 0,1 0-1,0 0 1,0 0 0,0 0 0,0 0-1,-1 0 1,1 0 0,0 0 0,0-1-1,0 1 1,-1 0 0,-3 6 17,0 0-28,-4 6 27,0-1 1,-9 22-1,16-29-26,-1-1 1,1 1-1,0 0 1,0 0-1,0-1 1,0 1-1,1 0 0,-1 0 1,1 0-1,0 0 1,1 0-1,-1 0 1,0 0-1,1 0 0,1 5 1,0-5 8,-2-4-1,0-1-8,0 0 0,0 0 0,1 0 0,-1-1 0,0 1 0,1 0 0,-1 0 0,1 0 0,-1 0 0,1 0 0,1-2 0,-2 2-6,3-4-2,0 0 1,-1 0 0,0 0-1,0 0 1,-1 0 0,1 0-1,-1-1 1,0 1 0,0 0-1,-1-1 1,1 1 0,-1-1-1,-1 1 1,1 0 0,-1-1-1,0 1 1,-1-6 0,-2-2-2318,4 11 1300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3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3321,'9'-35'2857,"22"-56"0,-30 89-2498,1-4 2201,-1 15-1156,-2 18-1268,-1 0 0,-10 46 0,3-26-32,8-42-91,1-1 1,-1 0-1,1 1 0,1-1 0,-1 0 1,0 1-1,1-1 0,3 9 1,-1-8 126,-1-6 389,0-14 566,-1 5-1210,12-60-1868,-11 55 1018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4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77 3569,'0'-1'400,"0"0"1,0 0-1,0 0 1,0 0 0,0 0-1,0 0 1,0 1-1,-1-1 1,1 0 0,0 0-1,-1 0 1,1 0-1,-1 0 1,1 1-1,-1-1 1,1 0 0,-1 0-1,-5-8 1238,6 9-1608,-3-3 1026,-2 13-480,2 1-468,-1-2 17,2 1-1,-1 0 0,1-1 1,0 1-1,1 0 1,0 15-1,1-24-119,0-1 0,0 0 1,0 0-1,0 0 0,0 0 0,0 0 0,1 0 1,-1 1-1,0-1 0,0 0 0,0 0 0,0 0 1,0 0-1,0 0 0,-1 1 0,1-1 1,0 0-1,0 0 0,0 0 0,0 0 0,0 0 1,0 1-1,0-1 0,0 0 0,0 0 0,0 0 1,0 0-1,0 0 0,0 0 0,-1 0 1,1 1-1,0-1 0,0 0 0,0 0 0,0 0 1,0 0-1,0 0 0,-1 0 0,1 0 1,0 0-1,0 0 0,0 0 0,0 0 0,0 0 1,-1 0-1,1 0 0,0 0 2,0 0 0,0 0 0,0 0 0,0 0 1,0 0-1,0 0 0,-1 0 0,1 0 0,0 0 0,0 0 0,0 0 0,0 0 0,0 0 0,0 0 1,0 0-1,0 0 0,0 0 0,0 0 0,0 0 0,0 0 0,0 0 0,0-1 0,-1 1 0,1 0 1,0 0-1,0 0 0,0 0 0,0 0 0,0 0 0,0 0 0,0 0 0,0 0 0,0 0 0,0 0 1,0-1-1,0 1 0,0 0 0,0 0 0,0 0 0,0 0 0,0 0 0,0 0 0,0 0 1,0 0-1,0 0 0,0 0 0,0 0 0,0 0 0,1-1 0,-1 1 0,0 0 0,0 0 0,0 0 1,0 0-1,0 0 0,0 0 0,0 0 0,0 0 0,3-2-1,0 0 0,0-1 0,-1 1 0,1-1 0,-1 1 0,0-1 0,0 0 0,0 0 0,0 0 0,0 0 0,0 0 1,-1-1-1,0 1 0,1 0 0,-1-1 0,1-5 0,-1-8-476,-1 1 1,-4-31-1,2 27-87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29 2120,'9'-12'993,"-3"5"-465,-3 2 416,-3 4-312,-2-1-192,1 1-240,-1 1-128,1 0-160,-1 0-24,1 0 8,-6 3-8,-2 1-160,1 1-224,-23 24-680,22-17 120,1-2 663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11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30 1064,'4'-10'538,"-3"8"-452,-1 0 1,1 0 0,0 0-1,0 0 1,0 0 0,0 0-1,3-2 1,-4 4 59,1-2 806,3 12-832,-3-6-119,0 0 0,0-1 0,0 1 1,0 0-1,-1 0 0,1 0 0,-1 0 1,0 0-1,-1 0 0,1 0 0,-1 0 1,1 0-1,-3 6 0,1-4 4,-1 0-1,0-1 1,0 1-1,-5 5 1,5-7 4,0 1 0,0-1 0,0 1 0,1-1 0,0 1 0,-3 8-1,4-9 10,0-7 19,2-12-14,1 7-20,1-1 1,0 1 0,1 0-1,0 0 1,0 0-1,0 1 1,1-1 0,0 1-1,10-10 1,-5 8-4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14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77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06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18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22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3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0048-9F2A-46F5-BDE9-20096DA10D1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647E-0A30-4795-96EF-BAD0F774A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6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Times New Roman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Times New Roman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1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8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52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jpeg"/><Relationship Id="rId4" Type="http://schemas.openxmlformats.org/officeDocument/2006/relationships/image" Target="../media/image58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61.emf"/><Relationship Id="rId7" Type="http://schemas.openxmlformats.org/officeDocument/2006/relationships/image" Target="../media/image63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65.emf"/><Relationship Id="rId5" Type="http://schemas.openxmlformats.org/officeDocument/2006/relationships/image" Target="../media/image62.e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6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4.wmf"/><Relationship Id="rId7" Type="http://schemas.openxmlformats.org/officeDocument/2006/relationships/image" Target="../media/image69.png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39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7" Type="http://schemas.openxmlformats.org/officeDocument/2006/relationships/image" Target="../media/image91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45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4.jpeg"/><Relationship Id="rId5" Type="http://schemas.openxmlformats.org/officeDocument/2006/relationships/image" Target="../media/image93.emf"/><Relationship Id="rId4" Type="http://schemas.openxmlformats.org/officeDocument/2006/relationships/oleObject" Target="../embeddings/oleObject48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6.png"/><Relationship Id="rId4" Type="http://schemas.openxmlformats.org/officeDocument/2006/relationships/image" Target="../media/image95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3.png"/><Relationship Id="rId3" Type="http://schemas.openxmlformats.org/officeDocument/2006/relationships/image" Target="../media/image97.jpeg"/><Relationship Id="rId7" Type="http://schemas.openxmlformats.org/officeDocument/2006/relationships/image" Target="../media/image10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102.png"/><Relationship Id="rId5" Type="http://schemas.openxmlformats.org/officeDocument/2006/relationships/image" Target="../media/image9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7.png"/><Relationship Id="rId4" Type="http://schemas.openxmlformats.org/officeDocument/2006/relationships/image" Target="../media/image10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5  |  Chapter 6: Capacitors and Inductors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Overview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3959" y="2421354"/>
            <a:ext cx="8458200" cy="49716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resistors, these elements do not dissipate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instead store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look at how to analyze them in a circuit.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3AEEBBB5-EB77-4553-A342-C37B326EB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59" y="983411"/>
            <a:ext cx="7875588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816929" cy="431419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capacitor is a passive element that stores energy in its electric field.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conducting plates separated by an insulator (or dielectric).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plates are typically aluminum foil.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dielectric is often air, ceramic, paper, plastic, or mica.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67C208C-EC20-4208-A01B-0761AB0F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51" y="1148211"/>
            <a:ext cx="3118803" cy="352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0F3A8F-F828-4404-88F3-749B5A0C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118" y="4670398"/>
            <a:ext cx="3088158" cy="167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332141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voltage source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the capacitor, the source deposits a positive charge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one plate and a negative charge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–q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other.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charges will be equal in magnitude.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charge is proportional to the voltage: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C92844-AC29-4B51-A155-A340DD68A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083471"/>
              </p:ext>
            </p:extLst>
          </p:nvPr>
        </p:nvGraphicFramePr>
        <p:xfrm>
          <a:off x="1177235" y="4836734"/>
          <a:ext cx="1198626" cy="54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600" imgH="447556" progId="Equation.DSMT4">
                  <p:embed/>
                </p:oleObj>
              </mc:Choice>
              <mc:Fallback>
                <p:oleObj name="Equation" r:id="rId3" imgW="990600" imgH="4475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CC92844-AC29-4B51-A155-A340DD68A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7235" y="4836734"/>
                        <a:ext cx="1198626" cy="54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617030"/>
            <a:ext cx="8458200" cy="57912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capacitance.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9BB179-E752-4565-8E89-D2455B22E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216" y="3837001"/>
            <a:ext cx="2120961" cy="271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3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963826"/>
            <a:ext cx="8458200" cy="3407636"/>
          </a:xfrm>
        </p:spPr>
        <p:txBody>
          <a:bodyPr>
            <a:noAutofit/>
          </a:bodyPr>
          <a:lstStyle/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of capacitance is the Farad (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Farad is 1 Coulomb/Volt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capacitors are rated in picofarad (pF) and microfarad (</a:t>
            </a:r>
            <a:r>
              <a:rPr lang="en-US" altLang="en-US" sz="24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Capacitance is determined by the geometery of the capacitor:</a:t>
            </a:r>
          </a:p>
          <a:p>
            <a:pPr lvl="1" algn="just"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to the area of the plates (A).</a:t>
            </a:r>
          </a:p>
          <a:p>
            <a:pPr lvl="1" algn="just"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Inversely proportional to the space between them (d).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72CBC7-A2EB-4FAD-BFFC-C45654FED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20548"/>
              </p:ext>
            </p:extLst>
          </p:nvPr>
        </p:nvGraphicFramePr>
        <p:xfrm>
          <a:off x="7256466" y="3543739"/>
          <a:ext cx="1068705" cy="82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1550" imgH="752594" progId="Equation.DSMT4">
                  <p:embed/>
                </p:oleObj>
              </mc:Choice>
              <mc:Fallback>
                <p:oleObj name="Equation" r:id="rId3" imgW="971550" imgH="752594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B72CBC7-A2EB-4FAD-BFFC-C45654FED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6466" y="3543739"/>
                        <a:ext cx="1068705" cy="82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654994"/>
            <a:ext cx="8458200" cy="43510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ԑ is the permittivity of the dielectric.</a:t>
            </a:r>
            <a:endParaRPr lang="en-US" alt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F3335-759E-455B-891F-359D97B98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02" y="4392703"/>
            <a:ext cx="5465421" cy="210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6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377DF4-5C28-465A-9D28-6C59E724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5" y="532852"/>
            <a:ext cx="6973273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5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2" y="5482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Types of Capacitors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71" y="733431"/>
            <a:ext cx="8458200" cy="3073222"/>
          </a:xfrm>
        </p:spPr>
        <p:txBody>
          <a:bodyPr>
            <a:normAutofit fontScale="92500" lnSpcReduction="10000"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types of capacitors are film capacitors with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polyester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polystyrene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mica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space, these are often rolled up before being housed in metal or plastic films.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Electrolytic caps produce a very high capacitance.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Trimmer caps have a range of values that they can be set to.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air caps can be adjusted by turning a shaft attached to a set of moveable plates.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A365EE5-7DF6-4401-8451-294125D9E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383" y="3532674"/>
            <a:ext cx="4261387" cy="129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45D8ED9-4ADD-427D-AC36-915743094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249438"/>
              </p:ext>
            </p:extLst>
          </p:nvPr>
        </p:nvGraphicFramePr>
        <p:xfrm>
          <a:off x="2547275" y="4336318"/>
          <a:ext cx="4650393" cy="226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1298227" imgH="4990476" progId="Paint.Picture">
                  <p:embed/>
                </p:oleObj>
              </mc:Choice>
              <mc:Fallback>
                <p:oleObj name="Bitmap Image" r:id="rId3" imgW="11298227" imgH="4990476" progId="Paint.Picture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245D8ED9-4ADD-427D-AC36-9157430949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275" y="4336318"/>
                        <a:ext cx="4650393" cy="2269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968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52F904-8623-42CE-95D0-EB074ADA34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DB061-B846-4410-A347-4EE1B1A4C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 descr="electrolytic">
            <a:extLst>
              <a:ext uri="{FF2B5EF4-FFF2-40B4-BE49-F238E27FC236}">
                <a16:creationId xmlns:a16="http://schemas.microsoft.com/office/drawing/2014/main" id="{5E780B7D-123A-4DE5-9CCD-BDEBF1D2C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45" y="2303134"/>
            <a:ext cx="2363708" cy="179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6A5124-C926-4D5D-AED5-8DBC92671D23}"/>
              </a:ext>
            </a:extLst>
          </p:cNvPr>
          <p:cNvSpPr/>
          <p:nvPr/>
        </p:nvSpPr>
        <p:spPr>
          <a:xfrm>
            <a:off x="136067" y="4116234"/>
            <a:ext cx="2852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93300"/>
                </a:solidFill>
              </a:rPr>
              <a:t>Polarity must be observed</a:t>
            </a:r>
            <a:endParaRPr lang="en-US" dirty="0"/>
          </a:p>
        </p:txBody>
      </p:sp>
      <p:pic>
        <p:nvPicPr>
          <p:cNvPr id="11" name="Picture 16" descr="ceramic_caps2">
            <a:extLst>
              <a:ext uri="{FF2B5EF4-FFF2-40B4-BE49-F238E27FC236}">
                <a16:creationId xmlns:a16="http://schemas.microsoft.com/office/drawing/2014/main" id="{D2DBEE9E-8D0E-4ED7-8BE9-4DA736F5B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901" y="1078252"/>
            <a:ext cx="2270414" cy="269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4700cap">
            <a:extLst>
              <a:ext uri="{FF2B5EF4-FFF2-40B4-BE49-F238E27FC236}">
                <a16:creationId xmlns:a16="http://schemas.microsoft.com/office/drawing/2014/main" id="{314AFCA5-0C9F-414A-AE10-2B751F495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68948"/>
            <a:ext cx="3009899" cy="185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16EB57A-1765-48F5-B1B9-B3A289E4076A}"/>
              </a:ext>
            </a:extLst>
          </p:cNvPr>
          <p:cNvSpPr/>
          <p:nvPr/>
        </p:nvSpPr>
        <p:spPr>
          <a:xfrm>
            <a:off x="198120" y="0"/>
            <a:ext cx="2749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Electrolytic Capacitors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85374-812C-406E-86C3-FD8CB6F41DAB}"/>
              </a:ext>
            </a:extLst>
          </p:cNvPr>
          <p:cNvSpPr/>
          <p:nvPr/>
        </p:nvSpPr>
        <p:spPr>
          <a:xfrm>
            <a:off x="3416611" y="38502"/>
            <a:ext cx="2416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Ceramic Capacitors </a:t>
            </a:r>
            <a:endParaRPr lang="en-US" dirty="0"/>
          </a:p>
        </p:txBody>
      </p:sp>
      <p:pic>
        <p:nvPicPr>
          <p:cNvPr id="15" name="Picture 14" descr="cap_ceramic_disc">
            <a:extLst>
              <a:ext uri="{FF2B5EF4-FFF2-40B4-BE49-F238E27FC236}">
                <a16:creationId xmlns:a16="http://schemas.microsoft.com/office/drawing/2014/main" id="{336A5E97-31D4-4023-A5A4-35525306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072" y="407834"/>
            <a:ext cx="1885221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9E51ADDE-7667-4E45-9751-8A7C32EBA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987862"/>
              </p:ext>
            </p:extLst>
          </p:nvPr>
        </p:nvGraphicFramePr>
        <p:xfrm>
          <a:off x="4422790" y="3785964"/>
          <a:ext cx="4300191" cy="2696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9876190" imgH="5934903" progId="Paint.Picture">
                  <p:embed/>
                </p:oleObj>
              </mc:Choice>
              <mc:Fallback>
                <p:oleObj name="Bitmap Image" r:id="rId6" imgW="9876190" imgH="5934903" progId="Paint.Picture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9E51ADDE-7667-4E45-9751-8A7C32EBA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90" y="3785964"/>
                        <a:ext cx="4300191" cy="2696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706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Applications for Capacitors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3902529" cy="4353382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have a wide range of applications, some of which are: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DC.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AC.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phase.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energy.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 noise.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motors.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C9FADC2-8895-41FD-B4A4-C1CA6963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377" y="2520744"/>
            <a:ext cx="477520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43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Current Voltage Relationship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205432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formula for the charge stored in a capacitor, we can find the current voltage relationship.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first derivative with respect to time gives: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7AAED84-D53F-400A-81D1-8606D9A8A5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427457"/>
              </p:ext>
            </p:extLst>
          </p:nvPr>
        </p:nvGraphicFramePr>
        <p:xfrm>
          <a:off x="776900" y="3496268"/>
          <a:ext cx="1267778" cy="91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7750" imgH="752594" progId="Equation.DSMT4">
                  <p:embed/>
                </p:oleObj>
              </mc:Choice>
              <mc:Fallback>
                <p:oleObj name="Equation" r:id="rId3" imgW="1047750" imgH="752594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7AAED84-D53F-400A-81D1-8606D9A8A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900" y="3496268"/>
                        <a:ext cx="1267778" cy="910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572003"/>
            <a:ext cx="8458200" cy="57912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assumes the passive sign convention.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A7DC0-D9AD-47A8-86C9-327E75387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683" y="2736188"/>
            <a:ext cx="2233417" cy="189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6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F2DA0434-0860-4412-B828-C8B4372CC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561090"/>
              </p:ext>
            </p:extLst>
          </p:nvPr>
        </p:nvGraphicFramePr>
        <p:xfrm>
          <a:off x="971946" y="361802"/>
          <a:ext cx="7200107" cy="558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96160" imgH="6743880" progId="Paint.Picture">
                  <p:embed/>
                </p:oleObj>
              </mc:Choice>
              <mc:Fallback>
                <p:oleObj name="Bitmap Image" r:id="rId2" imgW="8696160" imgH="6743880" progId="Paint.Picture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F2DA0434-0860-4412-B828-C8B4372CC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946" y="361802"/>
                        <a:ext cx="7200107" cy="5583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717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36D99E0-BF85-45D8-9B3F-C556D7B07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863334"/>
              </p:ext>
            </p:extLst>
          </p:nvPr>
        </p:nvGraphicFramePr>
        <p:xfrm>
          <a:off x="1272923" y="564099"/>
          <a:ext cx="6400800" cy="505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009524" imgH="5495238" progId="Paint.Picture">
                  <p:embed/>
                </p:oleObj>
              </mc:Choice>
              <mc:Fallback>
                <p:oleObj name="Bitmap Image" r:id="rId2" imgW="7009524" imgH="5495238" progId="Paint.Picture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736D99E0-BF85-45D8-9B3F-C556D7B07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923" y="564099"/>
                        <a:ext cx="6400800" cy="505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75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Stored Charge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2146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the voltage current relationship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BB52B5A-DED3-43AD-A199-F1F411A862DA}"/>
                  </a:ext>
                </a:extLst>
              </p:cNvPr>
              <p:cNvSpPr txBox="1"/>
              <p:nvPr/>
            </p:nvSpPr>
            <p:spPr>
              <a:xfrm>
                <a:off x="968375" y="1758950"/>
                <a:ext cx="3132138" cy="10017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C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BB52B5A-DED3-43AD-A199-F1F411A86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75" y="1758950"/>
                <a:ext cx="3132138" cy="10017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842377"/>
            <a:ext cx="8458200" cy="1389988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capacitor has a memory, which is often exploited in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instantaneous power delivered to the capacitor is.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0A969D-38A9-42BD-8915-FFD2EE725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795401"/>
              </p:ext>
            </p:extLst>
          </p:nvPr>
        </p:nvGraphicFramePr>
        <p:xfrm>
          <a:off x="1212600" y="4326107"/>
          <a:ext cx="1728788" cy="726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8750" imgH="600075" progId="Equation.DSMT4">
                  <p:embed/>
                </p:oleObj>
              </mc:Choice>
              <mc:Fallback>
                <p:oleObj name="Equation" r:id="rId3" imgW="1428750" imgH="600075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A0A969D-38A9-42BD-8915-FFD2EE725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2600" y="4326107"/>
                        <a:ext cx="1728788" cy="726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132877"/>
            <a:ext cx="8458200" cy="480908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in a capacitor is: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3151625-1667-406D-9B50-17C1FC841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57291"/>
              </p:ext>
            </p:extLst>
          </p:nvPr>
        </p:nvGraphicFramePr>
        <p:xfrm>
          <a:off x="1212600" y="5717856"/>
          <a:ext cx="1236345" cy="74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23950" imgH="676156" progId="Equation.DSMT4">
                  <p:embed/>
                </p:oleObj>
              </mc:Choice>
              <mc:Fallback>
                <p:oleObj name="Equation" r:id="rId5" imgW="1123950" imgH="6761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3151625-1667-406D-9B50-17C1FC8416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2600" y="5717856"/>
                        <a:ext cx="1236345" cy="743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88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EB4C6E9-A091-4B63-B51A-40CC215D4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364383"/>
              </p:ext>
            </p:extLst>
          </p:nvPr>
        </p:nvGraphicFramePr>
        <p:xfrm>
          <a:off x="495300" y="509279"/>
          <a:ext cx="81534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345594" imgH="6714286" progId="Paint.Picture">
                  <p:embed/>
                </p:oleObj>
              </mc:Choice>
              <mc:Fallback>
                <p:oleObj name="Bitmap Image" r:id="rId2" imgW="10345594" imgH="6714286" progId="Paint.Picture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2EB4C6E9-A091-4B63-B51A-40CC215D4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509279"/>
                        <a:ext cx="8153400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242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29C583-4716-4E92-9AEF-6F50BDD3AEED}"/>
              </a:ext>
            </a:extLst>
          </p:cNvPr>
          <p:cNvSpPr/>
          <p:nvPr/>
        </p:nvSpPr>
        <p:spPr>
          <a:xfrm>
            <a:off x="108992" y="53802"/>
            <a:ext cx="2518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Capacitor Properties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57866-923A-443A-A753-83CC6B93ACF8}"/>
              </a:ext>
            </a:extLst>
          </p:cNvPr>
          <p:cNvSpPr/>
          <p:nvPr/>
        </p:nvSpPr>
        <p:spPr>
          <a:xfrm>
            <a:off x="114300" y="1828800"/>
            <a:ext cx="8915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tabLst>
                <a:tab pos="304800" algn="l"/>
              </a:tabLst>
            </a:pPr>
            <a:r>
              <a:rPr lang="en-US" dirty="0"/>
              <a:t>3.	The ideal capacitor does not dissipate energy.  It takes power from the circuit when storing energy and returns previously stored energy when delivering power to the circuit.</a:t>
            </a:r>
          </a:p>
          <a:p>
            <a:pPr marL="457200" indent="-457200">
              <a:tabLst>
                <a:tab pos="304800" algn="l"/>
              </a:tabLst>
            </a:pPr>
            <a:endParaRPr lang="en-US" dirty="0"/>
          </a:p>
          <a:p>
            <a:pPr marL="457200" indent="-457200">
              <a:tabLst>
                <a:tab pos="304800" algn="l"/>
              </a:tabLst>
            </a:pPr>
            <a:r>
              <a:rPr lang="en-US" dirty="0"/>
              <a:t>4.	A real, non-ideal, capacitor has a  “leakage resistance” which is modeled as shown below. The leakage resistance may be as high as 100M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, and can be neglected for most practical applications.</a:t>
            </a:r>
            <a:r>
              <a:rPr lang="en-US" dirty="0">
                <a:sym typeface="Symbol" pitchFamily="18" charset="2"/>
              </a:rPr>
              <a:t>  </a:t>
            </a:r>
          </a:p>
          <a:p>
            <a:pPr marL="457200" indent="-457200">
              <a:tabLst>
                <a:tab pos="304800" algn="l"/>
              </a:tabLst>
            </a:pPr>
            <a:endParaRPr lang="en-US" i="1" dirty="0"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highlight>
                <a:srgbClr val="FFFF00"/>
              </a:highlight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highlight>
                <a:srgbClr val="FFFF00"/>
              </a:highlight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r>
              <a:rPr lang="en-US" i="1" dirty="0">
                <a:sym typeface="Symbol" pitchFamily="18" charset="2"/>
              </a:rPr>
              <a:t>	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Note</a:t>
            </a:r>
            <a:r>
              <a:rPr lang="en-US" i="1" dirty="0">
                <a:sym typeface="Symbol" pitchFamily="18" charset="2"/>
              </a:rPr>
              <a:t>: </a:t>
            </a:r>
            <a:r>
              <a:rPr lang="en-US" sz="2000" dirty="0">
                <a:solidFill>
                  <a:srgbClr val="009900"/>
                </a:solidFill>
                <a:sym typeface="Symbol" pitchFamily="18" charset="2"/>
              </a:rPr>
              <a:t>In this course we will always assume that the capacitors are ideal</a:t>
            </a:r>
            <a:r>
              <a:rPr lang="en-US" i="1" dirty="0">
                <a:solidFill>
                  <a:srgbClr val="009900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52FAF-9A75-4B89-89AE-EFAEB55647FA}"/>
              </a:ext>
            </a:extLst>
          </p:cNvPr>
          <p:cNvSpPr/>
          <p:nvPr/>
        </p:nvSpPr>
        <p:spPr>
          <a:xfrm>
            <a:off x="381000" y="979438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capacitor has the following important properties</a:t>
            </a:r>
            <a:r>
              <a:rPr lang="en-US" b="1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387CBF-C166-4935-A4A4-A54859BB6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184" y="3619459"/>
            <a:ext cx="2804694" cy="187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8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E31ACE-656E-40AF-A815-D9161CDBD1F5}"/>
              </a:ext>
            </a:extLst>
          </p:cNvPr>
          <p:cNvSpPr/>
          <p:nvPr/>
        </p:nvSpPr>
        <p:spPr>
          <a:xfrm>
            <a:off x="149659" y="598088"/>
            <a:ext cx="74676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tabLst>
                <a:tab pos="304800" algn="l"/>
              </a:tabLst>
            </a:pPr>
            <a:r>
              <a:rPr lang="en-US" sz="2000" b="1" dirty="0">
                <a:solidFill>
                  <a:srgbClr val="3333FF"/>
                </a:solidFill>
              </a:rPr>
              <a:t>The capacitor has the following important properties</a:t>
            </a:r>
            <a:r>
              <a:rPr lang="en-US" sz="2000" b="1" dirty="0">
                <a:solidFill>
                  <a:srgbClr val="0070C0"/>
                </a:solidFill>
              </a:rPr>
              <a:t>:</a:t>
            </a:r>
          </a:p>
          <a:p>
            <a:pPr marL="457200" indent="-457200">
              <a:tabLst>
                <a:tab pos="304800" algn="l"/>
              </a:tabLst>
            </a:pPr>
            <a:endParaRPr lang="en-US" dirty="0"/>
          </a:p>
          <a:p>
            <a:pPr marL="342900" indent="-342900">
              <a:buFont typeface="+mj-lt"/>
              <a:buAutoNum type="arabicPeriod"/>
              <a:tabLst>
                <a:tab pos="304800" algn="l"/>
              </a:tabLst>
            </a:pPr>
            <a:r>
              <a:rPr lang="en-US" sz="1600" dirty="0"/>
              <a:t>When the voltage across a capacitor is constant</a:t>
            </a:r>
          </a:p>
          <a:p>
            <a:pPr>
              <a:tabLst>
                <a:tab pos="304800" algn="l"/>
              </a:tabLst>
            </a:pPr>
            <a:r>
              <a:rPr lang="en-US" sz="1600" dirty="0"/>
              <a:t>	 (not changing with time) the current through the capacitor: </a:t>
            </a:r>
          </a:p>
          <a:p>
            <a:pPr>
              <a:tabLst>
                <a:tab pos="304800" algn="l"/>
              </a:tabLst>
            </a:pPr>
            <a:endParaRPr lang="en-US" sz="1600" dirty="0"/>
          </a:p>
          <a:p>
            <a:pPr marL="457200" indent="-457200">
              <a:tabLst>
                <a:tab pos="304800" algn="l"/>
              </a:tabLst>
            </a:pPr>
            <a:r>
              <a:rPr lang="en-US" sz="1600" dirty="0"/>
              <a:t>             </a:t>
            </a:r>
            <a:r>
              <a:rPr lang="en-US" sz="1600" i="1" dirty="0"/>
              <a:t>i</a:t>
            </a:r>
            <a:r>
              <a:rPr lang="en-US" sz="1600" dirty="0"/>
              <a:t> = </a:t>
            </a:r>
            <a:r>
              <a:rPr lang="en-US" sz="1600" i="1" dirty="0"/>
              <a:t>C</a:t>
            </a:r>
            <a:r>
              <a:rPr lang="en-US" sz="1600" dirty="0"/>
              <a:t> </a:t>
            </a:r>
            <a:r>
              <a:rPr lang="en-US" sz="1600" i="1" dirty="0"/>
              <a:t>dv</a:t>
            </a:r>
            <a:r>
              <a:rPr lang="en-US" sz="1600" dirty="0"/>
              <a:t>/</a:t>
            </a:r>
            <a:r>
              <a:rPr lang="en-US" sz="1600" i="1" dirty="0" err="1"/>
              <a:t>dt</a:t>
            </a:r>
            <a:r>
              <a:rPr lang="en-US" sz="1600" dirty="0"/>
              <a:t> = 0 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/>
              <a:t>	Thus, </a:t>
            </a:r>
            <a:r>
              <a:rPr lang="en-US" sz="1600" b="1" dirty="0">
                <a:solidFill>
                  <a:srgbClr val="0070C0"/>
                </a:solidFill>
              </a:rPr>
              <a:t>a capacitor is an open circuit to dc</a:t>
            </a:r>
            <a:r>
              <a:rPr lang="en-US" sz="1600" b="1" dirty="0"/>
              <a:t>.</a:t>
            </a:r>
            <a:r>
              <a:rPr lang="en-US" sz="1600" dirty="0"/>
              <a:t> 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/>
              <a:t>      If, however, a dc voltage is suddenly connected across a capacitor,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/>
              <a:t>	 the capacitor begins to charge (store energy).</a:t>
            </a:r>
          </a:p>
          <a:p>
            <a:pPr marL="457200" indent="-457200">
              <a:tabLst>
                <a:tab pos="304800" algn="l"/>
              </a:tabLst>
            </a:pPr>
            <a:endParaRPr lang="en-US" sz="1600" dirty="0"/>
          </a:p>
          <a:p>
            <a:pPr marL="457200" indent="-457200">
              <a:buFontTx/>
              <a:buAutoNum type="arabicPeriod"/>
              <a:tabLst>
                <a:tab pos="304800" algn="l"/>
              </a:tabLst>
            </a:pPr>
            <a:endParaRPr lang="en-US" sz="1600" dirty="0"/>
          </a:p>
          <a:p>
            <a:pPr marL="342900" indent="-342900">
              <a:buAutoNum type="arabicPeriod" startAt="2"/>
              <a:tabLst>
                <a:tab pos="304800" algn="l"/>
              </a:tabLst>
            </a:pPr>
            <a:r>
              <a:rPr lang="en-US" sz="1600" dirty="0"/>
              <a:t>The voltage across a capacitor must be continuous, since a jump </a:t>
            </a:r>
          </a:p>
          <a:p>
            <a:pPr>
              <a:tabLst>
                <a:tab pos="304800" algn="l"/>
              </a:tabLst>
            </a:pPr>
            <a:r>
              <a:rPr lang="en-US" sz="1600" dirty="0"/>
              <a:t>	(a discontinuity) change in the voltage would require an infinite current,</a:t>
            </a:r>
          </a:p>
          <a:p>
            <a:pPr>
              <a:tabLst>
                <a:tab pos="304800" algn="l"/>
              </a:tabLst>
            </a:pPr>
            <a:r>
              <a:rPr lang="en-US" sz="1600" dirty="0"/>
              <a:t> 	which is physically impossible. Thus, a capacitor resists an abrupt</a:t>
            </a:r>
          </a:p>
          <a:p>
            <a:pPr>
              <a:tabLst>
                <a:tab pos="304800" algn="l"/>
              </a:tabLst>
            </a:pPr>
            <a:r>
              <a:rPr lang="en-US" sz="1600" dirty="0"/>
              <a:t>	change in the voltage across it, Conversely </a:t>
            </a:r>
          </a:p>
          <a:p>
            <a:pPr>
              <a:tabLst>
                <a:tab pos="304800" algn="l"/>
              </a:tabLst>
            </a:pPr>
            <a:r>
              <a:rPr lang="en-US" sz="1600" dirty="0"/>
              <a:t>	 </a:t>
            </a:r>
          </a:p>
          <a:p>
            <a:pPr>
              <a:tabLst>
                <a:tab pos="304800" algn="l"/>
              </a:tabLst>
            </a:pPr>
            <a:r>
              <a:rPr lang="en-US" b="1" dirty="0">
                <a:solidFill>
                  <a:srgbClr val="0070C0"/>
                </a:solidFill>
              </a:rPr>
              <a:t>	</a:t>
            </a:r>
          </a:p>
          <a:p>
            <a:pPr>
              <a:tabLst>
                <a:tab pos="304800" algn="l"/>
              </a:tabLst>
            </a:pPr>
            <a:r>
              <a:rPr lang="en-US" b="1" dirty="0">
                <a:solidFill>
                  <a:srgbClr val="0070C0"/>
                </a:solidFill>
              </a:rPr>
              <a:t>The voltage across a capacitor cannot change instantaneously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Picture 28">
            <a:extLst>
              <a:ext uri="{FF2B5EF4-FFF2-40B4-BE49-F238E27FC236}">
                <a16:creationId xmlns:a16="http://schemas.microsoft.com/office/drawing/2014/main" id="{9698F75D-70B2-45F5-92D8-CA55784D3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259" y="1921190"/>
            <a:ext cx="2209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A2174F-B33E-4B54-94C5-AAD97AEB0829}"/>
              </a:ext>
            </a:extLst>
          </p:cNvPr>
          <p:cNvSpPr/>
          <p:nvPr/>
        </p:nvSpPr>
        <p:spPr>
          <a:xfrm>
            <a:off x="235487" y="73536"/>
            <a:ext cx="2305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Properties </a:t>
            </a:r>
          </a:p>
        </p:txBody>
      </p:sp>
    </p:spTree>
    <p:extLst>
      <p:ext uri="{BB962C8B-B14F-4D97-AF65-F5344CB8AC3E}">
        <p14:creationId xmlns:p14="http://schemas.microsoft.com/office/powerpoint/2010/main" val="134518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5354F-7586-448B-9C39-85072FCA87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5111028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capacitors all have these characteristics: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voltage is not changing, the current through the cap is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with DC applied to the terminals no current will flow.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voltage on the capacitor’s plates can’t change instantaneously.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abrupt change in voltage would require an infinite current!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if the voltage on the cap does not equal the applied voltage, charge will flow and the voltage will finally reach the applied voltage.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Capacitors </a:t>
            </a:r>
            <a:r>
              <a:rPr lang="en-US" altLang="en-US" sz="1000" b="0" noProof="0" dirty="0"/>
              <a:t>2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capacitor does not dissipate energy, meaning stored energy may be retrieved later.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capacitor has a parallel-model leakage resistance, leading to a slow loss of the stored energy internally.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resistance is typically very high, on the order of 100 MΩ and thus can be ignored for many circuit applications.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76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1">
            <a:extLst>
              <a:ext uri="{FF2B5EF4-FFF2-40B4-BE49-F238E27FC236}">
                <a16:creationId xmlns:a16="http://schemas.microsoft.com/office/drawing/2014/main" id="{8C37C8CC-23BF-41DF-BA79-DE0B1DA3E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04800"/>
            <a:ext cx="85534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2">
            <a:extLst>
              <a:ext uri="{FF2B5EF4-FFF2-40B4-BE49-F238E27FC236}">
                <a16:creationId xmlns:a16="http://schemas.microsoft.com/office/drawing/2014/main" id="{B31D89A8-1A13-4FE4-9FE5-309111B9C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67000"/>
            <a:ext cx="756285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571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5">
            <a:extLst>
              <a:ext uri="{FF2B5EF4-FFF2-40B4-BE49-F238E27FC236}">
                <a16:creationId xmlns:a16="http://schemas.microsoft.com/office/drawing/2014/main" id="{EFDAA640-761F-4ED9-8964-DF1C4DB5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73914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6">
            <a:extLst>
              <a:ext uri="{FF2B5EF4-FFF2-40B4-BE49-F238E27FC236}">
                <a16:creationId xmlns:a16="http://schemas.microsoft.com/office/drawing/2014/main" id="{214AC4B8-822E-4391-B529-0665AC125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24200"/>
            <a:ext cx="786765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26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0">
            <a:extLst>
              <a:ext uri="{FF2B5EF4-FFF2-40B4-BE49-F238E27FC236}">
                <a16:creationId xmlns:a16="http://schemas.microsoft.com/office/drawing/2014/main" id="{71EA6332-CF10-4AE3-821E-2A0EE4473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381000"/>
            <a:ext cx="8448676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1">
            <a:extLst>
              <a:ext uri="{FF2B5EF4-FFF2-40B4-BE49-F238E27FC236}">
                <a16:creationId xmlns:a16="http://schemas.microsoft.com/office/drawing/2014/main" id="{6CBD65C0-EF33-4577-8E82-859BB1C84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0"/>
            <a:ext cx="68580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827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C487AC6-C504-45D8-B335-A5068D5D43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57200"/>
          <a:ext cx="8229600" cy="405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323810" imgH="3610479" progId="Paint.Picture">
                  <p:embed/>
                </p:oleObj>
              </mc:Choice>
              <mc:Fallback>
                <p:oleObj name="Bitmap Image" r:id="rId2" imgW="7323810" imgH="3610479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CC487AC6-C504-45D8-B335-A5068D5D4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8229600" cy="405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61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37EFF410-FF23-488E-AD9A-2EF0B7A3A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533400"/>
          <a:ext cx="83820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1403017" imgH="6257143" progId="Paint.Picture">
                  <p:embed/>
                </p:oleObj>
              </mc:Choice>
              <mc:Fallback>
                <p:oleObj name="Bitmap Image" r:id="rId2" imgW="11403017" imgH="6257143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37EFF410-FF23-488E-AD9A-2EF0B7A3A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33400"/>
                        <a:ext cx="8382000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191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7B46A41-7A09-4248-BE25-477688F35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762000"/>
          <a:ext cx="8085138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980952" imgH="4466667" progId="Paint.Picture">
                  <p:embed/>
                </p:oleObj>
              </mc:Choice>
              <mc:Fallback>
                <p:oleObj name="Bitmap Image" r:id="rId2" imgW="7980952" imgH="4466667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A7B46A41-7A09-4248-BE25-477688F35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62000"/>
                        <a:ext cx="8085138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4149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D7FCC410-34B2-48A6-8A78-1669BE35F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33400"/>
          <a:ext cx="7010400" cy="559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695238" imgH="5619048" progId="Paint.Picture">
                  <p:embed/>
                </p:oleObj>
              </mc:Choice>
              <mc:Fallback>
                <p:oleObj name="Bitmap Image" r:id="rId2" imgW="6695238" imgH="5619048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D7FCC410-34B2-48A6-8A78-1669BE35F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33400"/>
                        <a:ext cx="7010400" cy="559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8849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7591F1CF-5FC4-4C84-BF0E-CD78724148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13604"/>
              </p:ext>
            </p:extLst>
          </p:nvPr>
        </p:nvGraphicFramePr>
        <p:xfrm>
          <a:off x="1371600" y="304800"/>
          <a:ext cx="6629400" cy="6238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838095" imgH="6180952" progId="Paint.Picture">
                  <p:embed/>
                </p:oleObj>
              </mc:Choice>
              <mc:Fallback>
                <p:oleObj name="Bitmap Image" r:id="rId2" imgW="5838095" imgH="6180952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7591F1CF-5FC4-4C84-BF0E-CD7872414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"/>
                        <a:ext cx="6629400" cy="6238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6409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90ADE53-8D24-4029-B61D-4FEA809FA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533400"/>
          <a:ext cx="7780338" cy="505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171429" imgH="4753639" progId="Paint.Picture">
                  <p:embed/>
                </p:oleObj>
              </mc:Choice>
              <mc:Fallback>
                <p:oleObj name="Bitmap Image" r:id="rId2" imgW="8171429" imgH="4753639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890ADE53-8D24-4029-B61D-4FEA809FA5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"/>
                        <a:ext cx="7780338" cy="505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090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6EEB342-6664-4EF8-BAF9-CD7786F2C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57200"/>
          <a:ext cx="76200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504762" imgH="6744641" progId="Paint.Picture">
                  <p:embed/>
                </p:oleObj>
              </mc:Choice>
              <mc:Fallback>
                <p:oleObj name="Bitmap Image" r:id="rId2" imgW="9504762" imgH="6744641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C6EEB342-6664-4EF8-BAF9-CD7786F2C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"/>
                        <a:ext cx="7620000" cy="579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386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E3508EF6-3C65-4C83-A19D-F8D52DB713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33400"/>
          <a:ext cx="77724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857143" imgH="6552381" progId="Paint.Picture">
                  <p:embed/>
                </p:oleObj>
              </mc:Choice>
              <mc:Fallback>
                <p:oleObj name="Bitmap Image" r:id="rId2" imgW="8857143" imgH="6552381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E3508EF6-3C65-4C83-A19D-F8D52DB713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3400"/>
                        <a:ext cx="7772400" cy="579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158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1FD-4095-4AE3-A72C-59F9E23762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876800" cy="370024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learned with resistors that applying the equivalent series and parallel combinations can simply many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with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capacitors, one can note that the voltages on all the caps are the same.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7C835B2-3B39-4522-8618-5738D0BA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106" y="1659980"/>
            <a:ext cx="3378994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047A73C-29C1-4127-98D2-6D4A50F3B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66120"/>
              </p:ext>
            </p:extLst>
          </p:nvPr>
        </p:nvGraphicFramePr>
        <p:xfrm>
          <a:off x="1125855" y="5270249"/>
          <a:ext cx="331089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900" imgH="523994" progId="Equation.DSMT4">
                  <p:embed/>
                </p:oleObj>
              </mc:Choice>
              <mc:Fallback>
                <p:oleObj name="Equation" r:id="rId3" imgW="3009900" imgH="5239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047A73C-29C1-4127-98D2-6D4A50F3B7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5855" y="5270249"/>
                        <a:ext cx="3310890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Capacitors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930913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into consideration the current voltage relationship of each capacitor: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179B33-AFCF-4967-AEF6-27CBFBA26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917663"/>
              </p:ext>
            </p:extLst>
          </p:nvPr>
        </p:nvGraphicFramePr>
        <p:xfrm>
          <a:off x="1352550" y="2336069"/>
          <a:ext cx="4530700" cy="767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93480" progId="Equation.DSMT4">
                  <p:embed/>
                </p:oleObj>
              </mc:Choice>
              <mc:Fallback>
                <p:oleObj name="Equation" r:id="rId2" imgW="232380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179B33-AFCF-4967-AEF6-27CBFBA26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2550" y="2336069"/>
                        <a:ext cx="4530700" cy="767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DF08EEF-AF3B-4CD2-ADBD-B682EDA9D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26133"/>
              </p:ext>
            </p:extLst>
          </p:nvPr>
        </p:nvGraphicFramePr>
        <p:xfrm>
          <a:off x="1581965" y="3213739"/>
          <a:ext cx="2474871" cy="8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57200" progId="Equation.DSMT4">
                  <p:embed/>
                </p:oleObj>
              </mc:Choice>
              <mc:Fallback>
                <p:oleObj name="Equation" r:id="rId4" imgW="1396800" imgH="4572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DF08EEF-AF3B-4CD2-ADBD-B682EDA9D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1965" y="3213739"/>
                        <a:ext cx="2474871" cy="809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5214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672EC67-F31A-42E5-B2D1-6EE38530C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531132"/>
              </p:ext>
            </p:extLst>
          </p:nvPr>
        </p:nvGraphicFramePr>
        <p:xfrm>
          <a:off x="1352550" y="4739638"/>
          <a:ext cx="32194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9450" imgH="447556" progId="Equation.DSMT4">
                  <p:embed/>
                </p:oleObj>
              </mc:Choice>
              <mc:Fallback>
                <p:oleObj name="Equation" r:id="rId6" imgW="3219450" imgH="447556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672EC67-F31A-42E5-B2D1-6EE38530C7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2550" y="4739638"/>
                        <a:ext cx="321945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315759"/>
            <a:ext cx="8458200" cy="91522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find that parallel capacitors combine as the sum of all capacitance.</a:t>
            </a:r>
          </a:p>
        </p:txBody>
      </p:sp>
    </p:spTree>
    <p:extLst>
      <p:ext uri="{BB962C8B-B14F-4D97-AF65-F5344CB8AC3E}">
        <p14:creationId xmlns:p14="http://schemas.microsoft.com/office/powerpoint/2010/main" val="2639140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10"/>
            <a:ext cx="4426453" cy="258989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our attention to a series arrangement of capacitors: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each capacitor shares the same current.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CEE8AB6-954C-4F43-9067-6AC18B728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582878"/>
              </p:ext>
            </p:extLst>
          </p:nvPr>
        </p:nvGraphicFramePr>
        <p:xfrm>
          <a:off x="785812" y="4081463"/>
          <a:ext cx="33432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3275" imgH="523994" progId="Equation.DSMT4">
                  <p:embed/>
                </p:oleObj>
              </mc:Choice>
              <mc:Fallback>
                <p:oleObj name="Equation" r:id="rId2" imgW="3343275" imgH="523994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CEE8AB6-954C-4F43-9067-6AC18B7287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5812" y="4081463"/>
                        <a:ext cx="33432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1350DD-E3ED-46A3-8BC3-822B904A6D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8705" y="5274107"/>
            <a:ext cx="6847310" cy="904786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the voltage current relationship.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F259BA8B-7182-4A03-8347-132C72152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5" y="1433533"/>
            <a:ext cx="3655424" cy="391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609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Capacitors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B7F11C2-95C9-44F6-B3FC-540BB04C0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081324"/>
              </p:ext>
            </p:extLst>
          </p:nvPr>
        </p:nvGraphicFramePr>
        <p:xfrm>
          <a:off x="286066" y="1282901"/>
          <a:ext cx="8571867" cy="725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54680" imgH="495000" progId="Equation.DSMT4">
                  <p:embed/>
                </p:oleObj>
              </mc:Choice>
              <mc:Fallback>
                <p:oleObj name="Equation" r:id="rId2" imgW="5854680" imgH="4950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DB7F11C2-95C9-44F6-B3FC-540BB04C0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6066" y="1282901"/>
                        <a:ext cx="8571867" cy="725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179B33-AFCF-4967-AEF6-27CBFBA26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498930"/>
              </p:ext>
            </p:extLst>
          </p:nvPr>
        </p:nvGraphicFramePr>
        <p:xfrm>
          <a:off x="454155" y="2201830"/>
          <a:ext cx="6641023" cy="72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33840" imgH="495000" progId="Equation.DSMT4">
                  <p:embed/>
                </p:oleObj>
              </mc:Choice>
              <mc:Fallback>
                <p:oleObj name="Equation" r:id="rId4" imgW="4533840" imgH="4950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179B33-AFCF-4967-AEF6-27CBFBA26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155" y="2201830"/>
                        <a:ext cx="6641023" cy="725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DF08EEF-AF3B-4CD2-ADBD-B682EDA9D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567153"/>
              </p:ext>
            </p:extLst>
          </p:nvPr>
        </p:nvGraphicFramePr>
        <p:xfrm>
          <a:off x="487047" y="3105055"/>
          <a:ext cx="2208068" cy="798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95000" progId="Equation.DSMT4">
                  <p:embed/>
                </p:oleObj>
              </mc:Choice>
              <mc:Fallback>
                <p:oleObj name="Equation" r:id="rId6" imgW="1371600" imgH="4950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DF08EEF-AF3B-4CD2-ADBD-B682EDA9D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7047" y="3105055"/>
                        <a:ext cx="2208068" cy="798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034576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47268B6-5EE6-4AA3-AC72-E6C8986FF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170794"/>
              </p:ext>
            </p:extLst>
          </p:nvPr>
        </p:nvGraphicFramePr>
        <p:xfrm>
          <a:off x="664073" y="4564019"/>
          <a:ext cx="2766060" cy="660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600075" progId="Equation.DSMT4">
                  <p:embed/>
                </p:oleObj>
              </mc:Choice>
              <mc:Fallback>
                <p:oleObj name="Equation" r:id="rId8" imgW="2514600" imgH="600075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47268B6-5EE6-4AA3-AC72-E6C8986FF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4073" y="4564019"/>
                        <a:ext cx="2766060" cy="660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315758"/>
            <a:ext cx="8458200" cy="123744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see that the series combination of capacitors resembles the parallel combination of resistors.</a:t>
            </a:r>
          </a:p>
        </p:txBody>
      </p:sp>
    </p:spTree>
    <p:extLst>
      <p:ext uri="{BB962C8B-B14F-4D97-AF65-F5344CB8AC3E}">
        <p14:creationId xmlns:p14="http://schemas.microsoft.com/office/powerpoint/2010/main" val="4216336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44D7FD2-D669-4322-964B-0B158BF0FE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7598" y="190774"/>
            <a:ext cx="7867786" cy="370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59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A5ADCCE-EE18-4E1B-B43D-6A3D2F48E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33400"/>
          <a:ext cx="8229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504762" imgH="3877216" progId="Paint.Picture">
                  <p:embed/>
                </p:oleObj>
              </mc:Choice>
              <mc:Fallback>
                <p:oleObj name="Bitmap Image" r:id="rId2" imgW="7504762" imgH="3877216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8A5ADCCE-EE18-4E1B-B43D-6A3D2F48E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82296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121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CBD13B7-5BDD-4366-A8E4-5EFDCFA85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57200"/>
          <a:ext cx="7620000" cy="601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866667" imgH="6744641" progId="Paint.Picture">
                  <p:embed/>
                </p:oleObj>
              </mc:Choice>
              <mc:Fallback>
                <p:oleObj name="Bitmap Image" r:id="rId2" imgW="9866667" imgH="6744641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ACBD13B7-5BDD-4366-A8E4-5EFDCFA85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"/>
                        <a:ext cx="7620000" cy="601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8399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and Parallel Caps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39257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think about the combinations of capacitors is this: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capacitors in parallel is equivalent to increasing the surface area of the capacitors: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lead to an increased overall capacitance (as is observed).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series combination can be seen as increasing the total plate separation.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result in a decrease in capacitance (as is observed).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950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229100" cy="46541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is a passive element that stores energy in its magnetic field.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applications in power supplies, transformers, radios, TVs, radars, and electric motors.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conductor has inductance, but the effect is typically enhanced by coiling the wire up.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C21ACBF-63DA-40F7-BFBB-B484B1E53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439" y="1194076"/>
            <a:ext cx="3520965" cy="508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021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38811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current is passed through an inductor, the voltage across it is directly proportional to the time rate of change in current.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E575EEC-FD0D-433C-AC85-E20CA7DFC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42926"/>
              </p:ext>
            </p:extLst>
          </p:nvPr>
        </p:nvGraphicFramePr>
        <p:xfrm>
          <a:off x="848678" y="2734178"/>
          <a:ext cx="12287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28725" imgH="904756" progId="Equation.DSMT4">
                  <p:embed/>
                </p:oleObj>
              </mc:Choice>
              <mc:Fallback>
                <p:oleObj name="Equation" r:id="rId3" imgW="1228725" imgH="904756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E575EEC-FD0D-433C-AC85-E20CA7DFCA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8678" y="2734178"/>
                        <a:ext cx="122872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708409"/>
            <a:ext cx="8458200" cy="250951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unit of inductance, measured in Henries,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Henry is 1 volt-second per ampere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developed tends to oppose a changing flow of current.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801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3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333603" cy="167549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inductance depends on the geometry: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for a solenoid the inductance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46CEFA6-7D63-405C-848C-17F559F4A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68259"/>
              </p:ext>
            </p:extLst>
          </p:nvPr>
        </p:nvGraphicFramePr>
        <p:xfrm>
          <a:off x="879893" y="3094703"/>
          <a:ext cx="1282991" cy="767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523994" progId="Equation.DSMT4">
                  <p:embed/>
                </p:oleObj>
              </mc:Choice>
              <mc:Fallback>
                <p:oleObj name="Equation" r:id="rId3" imgW="876300" imgH="523994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46CEFA6-7D63-405C-848C-17F559F4A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893" y="3094703"/>
                        <a:ext cx="1282991" cy="767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997236"/>
            <a:ext cx="5143500" cy="241663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 is the number of turns of the wire around the core of cross sectional area A and length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 used for the core has a magnetic property called the permeability,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5269E2D0-1F19-4851-90F5-77DF319CA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434" y="1501658"/>
            <a:ext cx="3845592" cy="228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92384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597F048-09AE-4D3B-BEF7-1A4106847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371600"/>
            <a:ext cx="64389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874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Current in an Inductor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312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voltage relationship for an inductor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7A2AC2C-4AD1-4F6B-8473-4232D24AE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248277"/>
              </p:ext>
            </p:extLst>
          </p:nvPr>
        </p:nvGraphicFramePr>
        <p:xfrm>
          <a:off x="1209567" y="1882192"/>
          <a:ext cx="2858262" cy="1048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866894" progId="Equation.DSMT4">
                  <p:embed/>
                </p:oleObj>
              </mc:Choice>
              <mc:Fallback>
                <p:oleObj name="Equation" r:id="rId2" imgW="2362200" imgH="8668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7A2AC2C-4AD1-4F6B-8473-4232D24AE5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9567" y="1882192"/>
                        <a:ext cx="2858262" cy="1048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03345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delivered to the inductor is: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B4A5980-6AB3-45E6-A039-A293B67D7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718096"/>
              </p:ext>
            </p:extLst>
          </p:nvPr>
        </p:nvGraphicFramePr>
        <p:xfrm>
          <a:off x="1209567" y="3712890"/>
          <a:ext cx="2193256" cy="900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7825" imgH="676156" progId="Equation.DSMT4">
                  <p:embed/>
                </p:oleObj>
              </mc:Choice>
              <mc:Fallback>
                <p:oleObj name="Equation" r:id="rId4" imgW="1647825" imgH="676156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B4A5980-6AB3-45E6-A039-A293B67D7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9567" y="3712890"/>
                        <a:ext cx="2193256" cy="9001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78454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EE31FB4-D566-4DC0-A995-141EADF5A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875536"/>
              </p:ext>
            </p:extLst>
          </p:nvPr>
        </p:nvGraphicFramePr>
        <p:xfrm>
          <a:off x="1209567" y="5443158"/>
          <a:ext cx="1288733" cy="82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71575" imgH="752594" progId="Equation.DSMT4">
                  <p:embed/>
                </p:oleObj>
              </mc:Choice>
              <mc:Fallback>
                <p:oleObj name="Equation" r:id="rId6" imgW="1171575" imgH="752594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EE31FB4-D566-4DC0-A995-141EADF5A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09567" y="5443158"/>
                        <a:ext cx="1288733" cy="82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0034AA4-EBCF-402A-A946-F971E5B46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87780"/>
              </p:ext>
            </p:extLst>
          </p:nvPr>
        </p:nvGraphicFramePr>
        <p:xfrm>
          <a:off x="6001709" y="2059272"/>
          <a:ext cx="1481138" cy="69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7836" imgH="393529" progId="Equation.DSMT4">
                  <p:embed/>
                </p:oleObj>
              </mc:Choice>
              <mc:Fallback>
                <p:oleObj name="Equation" r:id="rId8" imgW="837836" imgH="393529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0034AA4-EBCF-402A-A946-F971E5B46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709" y="2059272"/>
                        <a:ext cx="1481138" cy="69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111C485-B697-4107-99E1-059593DDC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975136"/>
              </p:ext>
            </p:extLst>
          </p:nvPr>
        </p:nvGraphicFramePr>
        <p:xfrm>
          <a:off x="7615991" y="1241298"/>
          <a:ext cx="1481138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640385" imgH="992429" progId="Visio.Drawing.6">
                  <p:embed/>
                </p:oleObj>
              </mc:Choice>
              <mc:Fallback>
                <p:oleObj name="Visio" r:id="rId10" imgW="640385" imgH="992429" progId="Visio.Drawing.6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111C485-B697-4107-99E1-059593DDC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991" y="1241298"/>
                        <a:ext cx="1481138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953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711AD00-528C-4BF4-A2DF-B6AB74971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31260" y="-17543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Current and Voltage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A2CB210-7F9A-45C0-80D9-7438DF68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" y="5216525"/>
            <a:ext cx="87137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dirty="0"/>
              <a:t>where </a:t>
            </a:r>
            <a:r>
              <a:rPr lang="en-US" i="1" dirty="0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baseline="-25000" dirty="0"/>
              <a:t>0</a:t>
            </a:r>
            <a:r>
              <a:rPr lang="en-US" dirty="0"/>
              <a:t>) = the total current evaluated at </a:t>
            </a:r>
            <a:r>
              <a:rPr lang="en-US" i="1" dirty="0"/>
              <a:t>t</a:t>
            </a:r>
            <a:r>
              <a:rPr lang="en-US" baseline="-25000" dirty="0"/>
              <a:t>0</a:t>
            </a:r>
            <a:r>
              <a:rPr lang="en-US" dirty="0"/>
              <a:t> and </a:t>
            </a:r>
            <a:r>
              <a:rPr lang="en-US" i="1" dirty="0"/>
              <a:t>i</a:t>
            </a:r>
            <a:r>
              <a:rPr lang="en-US" dirty="0"/>
              <a:t>(</a:t>
            </a:r>
            <a:r>
              <a:rPr lang="en-US" dirty="0">
                <a:sym typeface="Symbol" pitchFamily="18" charset="2"/>
              </a:rPr>
              <a:t>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</a:t>
            </a:r>
            <a:r>
              <a:rPr lang="en-US" dirty="0"/>
              <a:t> 0 (which is reasonable since at some time there was no  current in the inductor). </a:t>
            </a:r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B64F160F-83CB-45DA-957E-C479FD921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138447"/>
              </p:ext>
            </p:extLst>
          </p:nvPr>
        </p:nvGraphicFramePr>
        <p:xfrm>
          <a:off x="655241" y="747811"/>
          <a:ext cx="1737518" cy="814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B64F160F-83CB-45DA-957E-C479FD9217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41" y="747811"/>
                        <a:ext cx="1737518" cy="814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03AED0AF-A605-484C-B0EB-7EFB90FB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547072"/>
            <a:ext cx="1758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3D5CE1-5F7F-4468-BCEA-65E824A25959}"/>
              </a:ext>
            </a:extLst>
          </p:cNvPr>
          <p:cNvSpPr txBox="1"/>
          <p:nvPr/>
        </p:nvSpPr>
        <p:spPr>
          <a:xfrm>
            <a:off x="508183" y="260671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Integrating gives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DB6F7BBF-0DB2-4245-8F9F-5A3FCDAF3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86" y="1028029"/>
            <a:ext cx="1371601" cy="310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BCF2B71A-C266-417C-BDC0-811DF91A4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2980031"/>
            <a:ext cx="23526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017F6-E631-409B-B4C9-BC1C34090B04}"/>
              </a:ext>
            </a:extLst>
          </p:cNvPr>
          <p:cNvSpPr txBox="1"/>
          <p:nvPr/>
        </p:nvSpPr>
        <p:spPr>
          <a:xfrm>
            <a:off x="941387" y="3893102"/>
            <a:ext cx="79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 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753E4C46-144E-4795-9A34-FE1516270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39" y="4243140"/>
            <a:ext cx="30480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86E8984A-DD22-463F-8E00-08461F34A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63" y="2298060"/>
            <a:ext cx="3302343" cy="226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683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FA71-AB0B-4A24-8794-162ED155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0CEB-B59F-44D1-8F1A-CA9C464E36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current through an inductor is constant, the voltage across it is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an inductor acts like a short for DC.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an inductor cannot change instantaneously.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did happen, the voltage across the inductor would be infinity!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important consideration if an inductor is to be turned off abruptly; it will produce a high voltage.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22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FA71-AB0B-4A24-8794-162ED155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Inductors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0CEB-B59F-44D1-8F1A-CA9C464E36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the ideal capacitor, the ideal inductor does not dissipate energy stored in 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stored will be returned to the circuit later.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reality, inductors do have internal resistance due to the wiring used to make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inductor thus has a winding resistance in series with 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small winding capacitance due to the closeness of the windings.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characteristics are typically small, though at high frequencies, the capacitance may matter.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3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44488" y="1444625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The instantaneous power delivered to an inductor is 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71538" y="3789363"/>
          <a:ext cx="708501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393480" progId="Equation.DSMT4">
                  <p:embed/>
                </p:oleObj>
              </mc:Choice>
              <mc:Fallback>
                <p:oleObj name="Equation" r:id="rId2" imgW="2412720" imgH="39348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3789363"/>
                        <a:ext cx="7085012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1325563" y="2005013"/>
          <a:ext cx="2941637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393480" progId="Equation.DSMT4">
                  <p:embed/>
                </p:oleObj>
              </mc:Choice>
              <mc:Fallback>
                <p:oleObj name="Equation" r:id="rId4" imgW="1028520" imgH="39348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005013"/>
                        <a:ext cx="2941637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25450" y="3282950"/>
            <a:ext cx="56467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/>
              <a:t>The energy stored in the magnetic field is thus</a:t>
            </a:r>
          </a:p>
          <a:p>
            <a:pPr eaLnBrk="0" hangingPunct="0"/>
            <a:endParaRPr lang="en-US"/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838200" y="4953000"/>
          <a:ext cx="42529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393480" progId="Equation.DSMT4">
                  <p:embed/>
                </p:oleObj>
              </mc:Choice>
              <mc:Fallback>
                <p:oleObj name="Equation" r:id="rId6" imgW="1447560" imgH="393480" progId="Equation.DSMT4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953000"/>
                        <a:ext cx="42529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77C4AF5-1AD0-4394-AEED-62C16863EB75}"/>
              </a:ext>
            </a:extLst>
          </p:cNvPr>
          <p:cNvSpPr/>
          <p:nvPr/>
        </p:nvSpPr>
        <p:spPr>
          <a:xfrm>
            <a:off x="215569" y="63500"/>
            <a:ext cx="3198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Storage in an Inductor</a:t>
            </a:r>
          </a:p>
        </p:txBody>
      </p:sp>
    </p:spTree>
    <p:extLst>
      <p:ext uri="{BB962C8B-B14F-4D97-AF65-F5344CB8AC3E}">
        <p14:creationId xmlns:p14="http://schemas.microsoft.com/office/powerpoint/2010/main" val="130928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41769" y="1055908"/>
            <a:ext cx="8961437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ctr">
              <a:tabLst>
                <a:tab pos="304800" algn="l"/>
              </a:tabLst>
            </a:pPr>
            <a:r>
              <a:rPr lang="en-US" sz="2800" b="1" dirty="0"/>
              <a:t>An inductor has the following important properties:</a:t>
            </a:r>
          </a:p>
          <a:p>
            <a:pPr marL="457200" indent="-457200">
              <a:tabLst>
                <a:tab pos="304800" algn="l"/>
              </a:tabLst>
            </a:pPr>
            <a:endParaRPr lang="en-US" sz="2800" b="1" dirty="0"/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r>
              <a:rPr lang="en-US" b="1" dirty="0"/>
              <a:t>An inductor acts like a short circuit to dc</a:t>
            </a:r>
            <a:r>
              <a:rPr lang="en-US" dirty="0"/>
              <a:t>, since from</a:t>
            </a:r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r>
              <a:rPr lang="en-US" dirty="0"/>
              <a:t>    </a:t>
            </a:r>
          </a:p>
          <a:p>
            <a:pPr marL="914400" lvl="1" indent="-457200">
              <a:tabLst>
                <a:tab pos="304800" algn="l"/>
              </a:tabLst>
            </a:pPr>
            <a:r>
              <a:rPr lang="en-US" i="1" dirty="0"/>
              <a:t>v</a:t>
            </a:r>
            <a:r>
              <a:rPr lang="en-US" dirty="0"/>
              <a:t> = 0 when </a:t>
            </a:r>
            <a:r>
              <a:rPr lang="en-US" i="1" dirty="0"/>
              <a:t>i</a:t>
            </a:r>
            <a:r>
              <a:rPr lang="en-US" dirty="0"/>
              <a:t> = a constant.</a:t>
            </a:r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 marL="914400" lvl="1" indent="-457200">
              <a:tabLst>
                <a:tab pos="304800" algn="l"/>
              </a:tabLst>
            </a:pPr>
            <a:endParaRPr lang="en-US" dirty="0"/>
          </a:p>
          <a:p>
            <a:pPr>
              <a:tabLst>
                <a:tab pos="304800" algn="l"/>
              </a:tabLst>
            </a:pPr>
            <a:endParaRPr lang="en-US" b="1" dirty="0"/>
          </a:p>
          <a:p>
            <a:pPr>
              <a:tabLst>
                <a:tab pos="304800" algn="l"/>
              </a:tabLst>
            </a:pPr>
            <a:endParaRPr lang="en-US" b="1" dirty="0"/>
          </a:p>
          <a:p>
            <a:pPr marL="457200" indent="-457200">
              <a:buAutoNum type="arabicPeriod" startAt="2"/>
              <a:tabLst>
                <a:tab pos="304800" algn="l"/>
              </a:tabLst>
            </a:pPr>
            <a:r>
              <a:rPr lang="en-US" b="1" dirty="0">
                <a:solidFill>
                  <a:srgbClr val="3333FF"/>
                </a:solidFill>
              </a:rPr>
              <a:t>The current through an inductor cannot change  instantaneously</a:t>
            </a:r>
            <a:r>
              <a:rPr lang="en-US" dirty="0"/>
              <a:t>, since an instantaneous</a:t>
            </a:r>
          </a:p>
          <a:p>
            <a:pPr>
              <a:tabLst>
                <a:tab pos="304800" algn="l"/>
              </a:tabLst>
            </a:pPr>
            <a:r>
              <a:rPr lang="en-US" dirty="0"/>
              <a:t>	   change in current would  require an infinite voltage, which is not physically possible.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236881"/>
              </p:ext>
            </p:extLst>
          </p:nvPr>
        </p:nvGraphicFramePr>
        <p:xfrm>
          <a:off x="1778365" y="2245433"/>
          <a:ext cx="19875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65" y="2245433"/>
                        <a:ext cx="198755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434" y="1981200"/>
            <a:ext cx="364251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7FFDF4-F781-4716-AA36-E8BB1FDFA362}"/>
              </a:ext>
            </a:extLst>
          </p:cNvPr>
          <p:cNvSpPr/>
          <p:nvPr/>
        </p:nvSpPr>
        <p:spPr>
          <a:xfrm>
            <a:off x="106248" y="224841"/>
            <a:ext cx="248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Properties</a:t>
            </a:r>
          </a:p>
        </p:txBody>
      </p:sp>
    </p:spTree>
    <p:extLst>
      <p:ext uri="{BB962C8B-B14F-4D97-AF65-F5344CB8AC3E}">
        <p14:creationId xmlns:p14="http://schemas.microsoft.com/office/powerpoint/2010/main" val="2744112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805190"/>
            <a:ext cx="8961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ctr">
              <a:tabLst>
                <a:tab pos="304800" algn="l"/>
              </a:tabLst>
            </a:pPr>
            <a:r>
              <a:rPr lang="en-US" sz="2800" b="1" dirty="0"/>
              <a:t>An inductor has the following important properties: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07988" y="1431599"/>
            <a:ext cx="826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tabLst>
                <a:tab pos="323850" algn="l"/>
              </a:tabLst>
            </a:pPr>
            <a:r>
              <a:rPr lang="en-US" sz="2000" dirty="0"/>
              <a:t>3.	Like the ideal capacitor, the ideal inductor does not dissipate energy.</a:t>
            </a:r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r>
              <a:rPr lang="en-US" sz="2000" dirty="0"/>
              <a:t>4.	A real inductor has a significant resistance due to the resistance of the coil, as well as a “winding capacitance”.  Thus, the model for a real inductor is shown below.</a:t>
            </a:r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endParaRPr lang="en-US" sz="2000" dirty="0"/>
          </a:p>
          <a:p>
            <a:pPr marL="457200" indent="-457200">
              <a:tabLst>
                <a:tab pos="323850" algn="l"/>
              </a:tabLst>
            </a:pPr>
            <a:r>
              <a:rPr lang="en-US" sz="2000" dirty="0">
                <a:solidFill>
                  <a:srgbClr val="FF0000"/>
                </a:solidFill>
              </a:rPr>
              <a:t>In this course, </a:t>
            </a:r>
            <a:r>
              <a:rPr lang="en-US" sz="2000" dirty="0">
                <a:solidFill>
                  <a:srgbClr val="3333FF"/>
                </a:solidFill>
              </a:rPr>
              <a:t>however, we will use ideal inductors and assume that an ideal inductor is a good model</a:t>
            </a:r>
            <a:r>
              <a:rPr lang="en-US" sz="2000" i="1" dirty="0"/>
              <a:t>.</a:t>
            </a:r>
            <a:r>
              <a:rPr lang="en-US" sz="2000" dirty="0"/>
              <a:t>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BDA04C-44BE-4448-9B00-D004D32983CF}"/>
              </a:ext>
            </a:extLst>
          </p:cNvPr>
          <p:cNvSpPr/>
          <p:nvPr/>
        </p:nvSpPr>
        <p:spPr>
          <a:xfrm>
            <a:off x="86513" y="93272"/>
            <a:ext cx="248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Properties</a:t>
            </a: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729D859A-12CF-4A2E-8E31-0B4413731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2318"/>
              </p:ext>
            </p:extLst>
          </p:nvPr>
        </p:nvGraphicFramePr>
        <p:xfrm>
          <a:off x="3323431" y="3276600"/>
          <a:ext cx="249713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39112" imgH="1221029" progId="Visio.Drawing.6">
                  <p:embed/>
                </p:oleObj>
              </mc:Choice>
              <mc:Fallback>
                <p:oleObj name="Visio" r:id="rId2" imgW="2039112" imgH="1221029" progId="Visio.Drawing.6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729D859A-12CF-4A2E-8E31-0B4413731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431" y="3276600"/>
                        <a:ext cx="249713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2838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" y="381000"/>
            <a:ext cx="8846127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036" y="2171700"/>
            <a:ext cx="63627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810000"/>
            <a:ext cx="5353050" cy="1674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18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91" y="318654"/>
            <a:ext cx="1809750" cy="44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22" y="990601"/>
            <a:ext cx="7668491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81719"/>
            <a:ext cx="7820892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4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A2D572C5-6368-4BB7-9AB9-8D1E7166D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4572000"/>
            <a:ext cx="5427518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E1F025-3A99-4200-ABA3-3D2A911E0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654" y="200025"/>
            <a:ext cx="2476500" cy="57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7C96EC-441F-4E4A-B7F6-ED8120819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4" y="777154"/>
            <a:ext cx="7162800" cy="73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4AE52-BAAF-483F-80BA-795321B68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346" y="1757529"/>
            <a:ext cx="331470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F3901-A8D0-437A-8C6E-DA1A5F43E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36" y="1515774"/>
            <a:ext cx="541020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143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76710"/>
            <a:ext cx="4525128" cy="418814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need to extend the series parallel combinations to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let’s consider a series combination of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42B9357-906B-48D9-B91C-209207B8E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278" y="1425254"/>
            <a:ext cx="3645821" cy="403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4D52E45-3C08-427E-8541-1BDF4792A9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922692"/>
              </p:ext>
            </p:extLst>
          </p:nvPr>
        </p:nvGraphicFramePr>
        <p:xfrm>
          <a:off x="752475" y="5581290"/>
          <a:ext cx="38195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19525" imgH="600075" progId="Equation.DSMT4">
                  <p:embed/>
                </p:oleObj>
              </mc:Choice>
              <mc:Fallback>
                <p:oleObj name="Equation" r:id="rId3" imgW="3819525" imgH="600075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4D52E45-3C08-427E-8541-1BDF4792A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2475" y="5581290"/>
                        <a:ext cx="3819525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Inductors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312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Factoring in the voltage current relationship.</a:t>
            </a:r>
            <a:endParaRPr lang="en-US" noProof="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57AB161-1804-49A8-98E5-746B5EA64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26823"/>
              </p:ext>
            </p:extLst>
          </p:nvPr>
        </p:nvGraphicFramePr>
        <p:xfrm>
          <a:off x="991009" y="1885200"/>
          <a:ext cx="4764128" cy="843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393480" progId="Equation.DSMT4">
                  <p:embed/>
                </p:oleObj>
              </mc:Choice>
              <mc:Fallback>
                <p:oleObj name="Equation" r:id="rId2" imgW="222228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57AB161-1804-49A8-98E5-746B5EA643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1009" y="1885200"/>
                        <a:ext cx="4764128" cy="843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0548886-4517-404D-A3E6-DD0EF9B1C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73551"/>
              </p:ext>
            </p:extLst>
          </p:nvPr>
        </p:nvGraphicFramePr>
        <p:xfrm>
          <a:off x="1248647" y="2870325"/>
          <a:ext cx="2858478" cy="980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57200" progId="Equation.DSMT4">
                  <p:embed/>
                </p:oleObj>
              </mc:Choice>
              <mc:Fallback>
                <p:oleObj name="Equation" r:id="rId4" imgW="1333440" imgH="4572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0548886-4517-404D-A3E6-DD0EF9B1C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8647" y="2870325"/>
                        <a:ext cx="2858478" cy="980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0227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8D89365-D29A-4D0C-8C1C-44AA54D34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165688"/>
              </p:ext>
            </p:extLst>
          </p:nvPr>
        </p:nvGraphicFramePr>
        <p:xfrm>
          <a:off x="991009" y="4750321"/>
          <a:ext cx="3373755" cy="49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7050" imgH="447556" progId="Equation.DSMT4">
                  <p:embed/>
                </p:oleObj>
              </mc:Choice>
              <mc:Fallback>
                <p:oleObj name="Equation" r:id="rId6" imgW="3067050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8D89365-D29A-4D0C-8C1C-44AA54D344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1009" y="4750321"/>
                        <a:ext cx="3373755" cy="49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463813"/>
            <a:ext cx="8458200" cy="95005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can see that the inductors have the same behavior as resistors.</a:t>
            </a:r>
          </a:p>
        </p:txBody>
      </p:sp>
    </p:spTree>
    <p:extLst>
      <p:ext uri="{BB962C8B-B14F-4D97-AF65-F5344CB8AC3E}">
        <p14:creationId xmlns:p14="http://schemas.microsoft.com/office/powerpoint/2010/main" val="2594294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438106" cy="191062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 a parallel combination of inductors: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circuit: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330C2CD-B489-49D6-AAC6-C9C4A3F24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667561"/>
              </p:ext>
            </p:extLst>
          </p:nvPr>
        </p:nvGraphicFramePr>
        <p:xfrm>
          <a:off x="695869" y="3323746"/>
          <a:ext cx="331089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900" imgH="523994" progId="Equation.DSMT4">
                  <p:embed/>
                </p:oleObj>
              </mc:Choice>
              <mc:Fallback>
                <p:oleObj name="Equation" r:id="rId2" imgW="3009900" imgH="523994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330C2CD-B489-49D6-AAC6-C9C4A3F24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5869" y="3323746"/>
                        <a:ext cx="3310890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010293"/>
            <a:ext cx="4438106" cy="131985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current voltage relationship is considered, we have: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877C187-B562-4B88-803E-704D1C92D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086653"/>
              </p:ext>
            </p:extLst>
          </p:nvPr>
        </p:nvGraphicFramePr>
        <p:xfrm>
          <a:off x="695869" y="5514455"/>
          <a:ext cx="5520595" cy="91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62475" imgH="752594" progId="Equation.DSMT4">
                  <p:embed/>
                </p:oleObj>
              </mc:Choice>
              <mc:Fallback>
                <p:oleObj name="Equation" r:id="rId4" imgW="4562475" imgH="752594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877C187-B562-4B88-803E-704D1C92D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5869" y="5514455"/>
                        <a:ext cx="5520595" cy="910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7">
            <a:extLst>
              <a:ext uri="{FF2B5EF4-FFF2-40B4-BE49-F238E27FC236}">
                <a16:creationId xmlns:a16="http://schemas.microsoft.com/office/drawing/2014/main" id="{2FB86B83-E556-4620-B640-BEC094F5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124" y="1482433"/>
            <a:ext cx="3762976" cy="389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829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Parallel Inductors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869680"/>
            <a:ext cx="8458200" cy="53902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inductance is thus: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ADC9C6-E98F-4018-B151-6538F8EC7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289732"/>
              </p:ext>
            </p:extLst>
          </p:nvPr>
        </p:nvGraphicFramePr>
        <p:xfrm>
          <a:off x="688106" y="1548291"/>
          <a:ext cx="3974484" cy="99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4625" imgH="676156" progId="Equation.DSMT4">
                  <p:embed/>
                </p:oleObj>
              </mc:Choice>
              <mc:Fallback>
                <p:oleObj name="Equation" r:id="rId3" imgW="2714625" imgH="6761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ADC9C6-E98F-4018-B151-6538F8EC7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106" y="1548291"/>
                        <a:ext cx="3974484" cy="990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738265"/>
            <a:ext cx="8458200" cy="278892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again, the parallel combination resembles that of resistors.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75766-AE85-4AF9-ACF7-C887D0E40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64992"/>
            <a:ext cx="9144000" cy="17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729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Summary of Capacitors and Inductors</a:t>
            </a:r>
            <a:endParaRPr lang="en-US" sz="3400" noProof="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86D183F-1985-4057-8069-BBA177D6E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1365069"/>
            <a:ext cx="5651500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46750E5-08B2-F576-B6D5-1AEC869CB38D}"/>
              </a:ext>
            </a:extLst>
          </p:cNvPr>
          <p:cNvGrpSpPr/>
          <p:nvPr/>
        </p:nvGrpSpPr>
        <p:grpSpPr>
          <a:xfrm>
            <a:off x="6498794" y="3308824"/>
            <a:ext cx="24840" cy="93960"/>
            <a:chOff x="6498794" y="3308824"/>
            <a:chExt cx="2484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6A00247-61C8-0EAB-B762-F3D685C37A0F}"/>
                    </a:ext>
                  </a:extLst>
                </p14:cNvPr>
                <p14:cNvContentPartPr/>
                <p14:nvPr/>
              </p14:nvContentPartPr>
              <p14:xfrm>
                <a:off x="6500234" y="3347344"/>
                <a:ext cx="23400" cy="5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6A00247-61C8-0EAB-B762-F3D685C37A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94114" y="3341224"/>
                  <a:ext cx="35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B3C697-B83E-3930-787C-4078CFF1E0B7}"/>
                    </a:ext>
                  </a:extLst>
                </p14:cNvPr>
                <p14:cNvContentPartPr/>
                <p14:nvPr/>
              </p14:nvContentPartPr>
              <p14:xfrm>
                <a:off x="6498794" y="3308824"/>
                <a:ext cx="17280" cy="85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B3C697-B83E-3930-787C-4078CFF1E0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92674" y="3302704"/>
                  <a:ext cx="295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BE940-B6FD-C89A-F159-81FE291674AE}"/>
              </a:ext>
            </a:extLst>
          </p:cNvPr>
          <p:cNvGrpSpPr/>
          <p:nvPr/>
        </p:nvGrpSpPr>
        <p:grpSpPr>
          <a:xfrm>
            <a:off x="6732074" y="3342664"/>
            <a:ext cx="29520" cy="59400"/>
            <a:chOff x="6732074" y="3342664"/>
            <a:chExt cx="2952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E920F9-4D5E-92BB-0F7B-9A0A52230D0A}"/>
                    </a:ext>
                  </a:extLst>
                </p14:cNvPr>
                <p14:cNvContentPartPr/>
                <p14:nvPr/>
              </p14:nvContentPartPr>
              <p14:xfrm>
                <a:off x="6734594" y="3344824"/>
                <a:ext cx="15480" cy="57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E920F9-4D5E-92BB-0F7B-9A0A52230D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8474" y="3338704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AB8044-5D66-DF41-F42E-97AE8409AF96}"/>
                    </a:ext>
                  </a:extLst>
                </p14:cNvPr>
                <p14:cNvContentPartPr/>
                <p14:nvPr/>
              </p14:nvContentPartPr>
              <p14:xfrm>
                <a:off x="6732074" y="3366424"/>
                <a:ext cx="29520" cy="23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AB8044-5D66-DF41-F42E-97AE8409AF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25954" y="3360304"/>
                  <a:ext cx="4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43F37C-5F1D-C3B8-3B83-5D96C50A19B8}"/>
                    </a:ext>
                  </a:extLst>
                </p14:cNvPr>
                <p14:cNvContentPartPr/>
                <p14:nvPr/>
              </p14:nvContentPartPr>
              <p14:xfrm>
                <a:off x="6737474" y="3342664"/>
                <a:ext cx="21960" cy="54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43F37C-5F1D-C3B8-3B83-5D96C50A19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31354" y="3336544"/>
                  <a:ext cx="3420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65805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1"/>
            <a:ext cx="2324100" cy="57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1320"/>
            <a:ext cx="5334000" cy="529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732127"/>
            <a:ext cx="34480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73060"/>
            <a:ext cx="7924800" cy="304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31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84" y="304800"/>
            <a:ext cx="2000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066" y="1371600"/>
            <a:ext cx="33242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6" y="701385"/>
            <a:ext cx="63912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66" y="1378527"/>
            <a:ext cx="54102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626677"/>
            <a:ext cx="52768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38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7" y="2667000"/>
            <a:ext cx="63531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9" y="949451"/>
            <a:ext cx="33242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8" y="533400"/>
            <a:ext cx="63912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62" y="124691"/>
            <a:ext cx="2000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6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4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2146</TotalTime>
  <Words>1799</Words>
  <Application>Microsoft Office PowerPoint</Application>
  <PresentationFormat>On-screen Show (4:3)</PresentationFormat>
  <Paragraphs>220</Paragraphs>
  <Slides>60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Cambria Math</vt:lpstr>
      <vt:lpstr>Symbol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Bitmap Image</vt:lpstr>
      <vt:lpstr>Visio</vt:lpstr>
      <vt:lpstr>PowerPoint Presentation</vt:lpstr>
      <vt:lpstr>Overview</vt:lpstr>
      <vt:lpstr>Capacitors 1</vt:lpstr>
      <vt:lpstr>Capacitors 2</vt:lpstr>
      <vt:lpstr>Capacitors 3</vt:lpstr>
      <vt:lpstr>PowerPoint Presentation</vt:lpstr>
      <vt:lpstr>Types of Capacitors</vt:lpstr>
      <vt:lpstr>PowerPoint Presentation</vt:lpstr>
      <vt:lpstr>Applications for Capacitors</vt:lpstr>
      <vt:lpstr>Current Voltage Relationship</vt:lpstr>
      <vt:lpstr>PowerPoint Presentation</vt:lpstr>
      <vt:lpstr>PowerPoint Presentation</vt:lpstr>
      <vt:lpstr>Stored Charge</vt:lpstr>
      <vt:lpstr>PowerPoint Presentation</vt:lpstr>
      <vt:lpstr>PowerPoint Presentation</vt:lpstr>
      <vt:lpstr>PowerPoint Presentation</vt:lpstr>
      <vt:lpstr>Properties of Capacitors 1</vt:lpstr>
      <vt:lpstr>Properties of Capacitors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Capacitors 1</vt:lpstr>
      <vt:lpstr>Parallel Capacitors 2</vt:lpstr>
      <vt:lpstr>Series Capacitors 1</vt:lpstr>
      <vt:lpstr>Series Capacitors 2</vt:lpstr>
      <vt:lpstr>PowerPoint Presentation</vt:lpstr>
      <vt:lpstr>PowerPoint Presentation</vt:lpstr>
      <vt:lpstr>PowerPoint Presentation</vt:lpstr>
      <vt:lpstr>Series and Parallel Caps</vt:lpstr>
      <vt:lpstr>Inductors 1</vt:lpstr>
      <vt:lpstr>Inductors 2</vt:lpstr>
      <vt:lpstr>Inductors 3</vt:lpstr>
      <vt:lpstr>PowerPoint Presentation</vt:lpstr>
      <vt:lpstr>Current in an Inductor</vt:lpstr>
      <vt:lpstr>PowerPoint Presentation</vt:lpstr>
      <vt:lpstr>Properties of Inductors 1</vt:lpstr>
      <vt:lpstr>Properties of Inductors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Series Inductors 1</vt:lpstr>
      <vt:lpstr>Series Inductors 2</vt:lpstr>
      <vt:lpstr>Parallel Inductors 1</vt:lpstr>
      <vt:lpstr>Parallel Inductors 2</vt:lpstr>
      <vt:lpstr>Summary of Capacitors and Inductors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163</cp:revision>
  <dcterms:created xsi:type="dcterms:W3CDTF">2019-12-14T02:10:23Z</dcterms:created>
  <dcterms:modified xsi:type="dcterms:W3CDTF">2026-10-05T04:07:37Z</dcterms:modified>
</cp:coreProperties>
</file>