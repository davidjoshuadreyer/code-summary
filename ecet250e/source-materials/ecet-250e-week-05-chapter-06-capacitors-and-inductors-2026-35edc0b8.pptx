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  <p:sldMasterId id="2147483691" r:id="rId2"/>
    <p:sldMasterId id="2147483684" r:id="rId3"/>
    <p:sldMasterId id="2147483686" r:id="rId4"/>
    <p:sldMasterId id="2147483701" r:id="rId5"/>
  </p:sldMasterIdLst>
  <p:notesMasterIdLst>
    <p:notesMasterId r:id="rId66"/>
  </p:notesMasterIdLst>
  <p:sldIdLst>
    <p:sldId id="400" r:id="rId6"/>
    <p:sldId id="296" r:id="rId7"/>
    <p:sldId id="297" r:id="rId8"/>
    <p:sldId id="266" r:id="rId9"/>
    <p:sldId id="361" r:id="rId10"/>
    <p:sldId id="375" r:id="rId11"/>
    <p:sldId id="344" r:id="rId12"/>
    <p:sldId id="374" r:id="rId13"/>
    <p:sldId id="345" r:id="rId14"/>
    <p:sldId id="362" r:id="rId15"/>
    <p:sldId id="376" r:id="rId16"/>
    <p:sldId id="377" r:id="rId17"/>
    <p:sldId id="353" r:id="rId18"/>
    <p:sldId id="380" r:id="rId19"/>
    <p:sldId id="379" r:id="rId20"/>
    <p:sldId id="378" r:id="rId21"/>
    <p:sldId id="298" r:id="rId22"/>
    <p:sldId id="346" r:id="rId23"/>
    <p:sldId id="381" r:id="rId24"/>
    <p:sldId id="382" r:id="rId25"/>
    <p:sldId id="383" r:id="rId26"/>
    <p:sldId id="385" r:id="rId27"/>
    <p:sldId id="386" r:id="rId28"/>
    <p:sldId id="388" r:id="rId29"/>
    <p:sldId id="389" r:id="rId30"/>
    <p:sldId id="387" r:id="rId31"/>
    <p:sldId id="390" r:id="rId32"/>
    <p:sldId id="391" r:id="rId33"/>
    <p:sldId id="392" r:id="rId34"/>
    <p:sldId id="301" r:id="rId35"/>
    <p:sldId id="363" r:id="rId36"/>
    <p:sldId id="364" r:id="rId37"/>
    <p:sldId id="365" r:id="rId38"/>
    <p:sldId id="399" r:id="rId39"/>
    <p:sldId id="393" r:id="rId40"/>
    <p:sldId id="394" r:id="rId41"/>
    <p:sldId id="347" r:id="rId42"/>
    <p:sldId id="348" r:id="rId43"/>
    <p:sldId id="322" r:id="rId44"/>
    <p:sldId id="367" r:id="rId45"/>
    <p:sldId id="395" r:id="rId46"/>
    <p:sldId id="366" r:id="rId47"/>
    <p:sldId id="396" r:id="rId48"/>
    <p:sldId id="369" r:id="rId49"/>
    <p:sldId id="370" r:id="rId50"/>
    <p:sldId id="265" r:id="rId51"/>
    <p:sldId id="398" r:id="rId52"/>
    <p:sldId id="267" r:id="rId53"/>
    <p:sldId id="268" r:id="rId54"/>
    <p:sldId id="280" r:id="rId55"/>
    <p:sldId id="397" r:id="rId56"/>
    <p:sldId id="302" r:id="rId57"/>
    <p:sldId id="372" r:id="rId58"/>
    <p:sldId id="373" r:id="rId59"/>
    <p:sldId id="368" r:id="rId60"/>
    <p:sldId id="349" r:id="rId61"/>
    <p:sldId id="271" r:id="rId62"/>
    <p:sldId id="284" r:id="rId63"/>
    <p:sldId id="283" r:id="rId64"/>
    <p:sldId id="401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400"/>
            <p14:sldId id="296"/>
            <p14:sldId id="297"/>
            <p14:sldId id="266"/>
            <p14:sldId id="361"/>
            <p14:sldId id="375"/>
            <p14:sldId id="344"/>
            <p14:sldId id="374"/>
            <p14:sldId id="345"/>
            <p14:sldId id="362"/>
            <p14:sldId id="376"/>
            <p14:sldId id="377"/>
            <p14:sldId id="353"/>
            <p14:sldId id="380"/>
            <p14:sldId id="379"/>
            <p14:sldId id="378"/>
            <p14:sldId id="298"/>
            <p14:sldId id="346"/>
            <p14:sldId id="381"/>
            <p14:sldId id="382"/>
            <p14:sldId id="383"/>
            <p14:sldId id="385"/>
            <p14:sldId id="386"/>
            <p14:sldId id="388"/>
            <p14:sldId id="389"/>
            <p14:sldId id="387"/>
            <p14:sldId id="390"/>
            <p14:sldId id="391"/>
            <p14:sldId id="392"/>
            <p14:sldId id="301"/>
            <p14:sldId id="363"/>
            <p14:sldId id="364"/>
            <p14:sldId id="365"/>
            <p14:sldId id="399"/>
            <p14:sldId id="393"/>
            <p14:sldId id="394"/>
            <p14:sldId id="347"/>
            <p14:sldId id="348"/>
            <p14:sldId id="322"/>
            <p14:sldId id="367"/>
            <p14:sldId id="395"/>
            <p14:sldId id="366"/>
            <p14:sldId id="396"/>
            <p14:sldId id="369"/>
            <p14:sldId id="370"/>
            <p14:sldId id="265"/>
            <p14:sldId id="398"/>
            <p14:sldId id="267"/>
            <p14:sldId id="268"/>
            <p14:sldId id="280"/>
            <p14:sldId id="397"/>
            <p14:sldId id="302"/>
            <p14:sldId id="372"/>
            <p14:sldId id="373"/>
            <p14:sldId id="368"/>
            <p14:sldId id="349"/>
            <p14:sldId id="271"/>
            <p14:sldId id="284"/>
            <p14:sldId id="283"/>
            <p14:sldId id="401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F1A350-82F1-411C-911D-604A221641BB}" v="6" dt="2026-09-28T18:50:44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03" autoAdjust="0"/>
    <p:restoredTop sz="94249" autoAdjust="0"/>
  </p:normalViewPr>
  <p:slideViewPr>
    <p:cSldViewPr snapToGrid="0" showGuides="1">
      <p:cViewPr varScale="1">
        <p:scale>
          <a:sx n="74" d="100"/>
          <a:sy n="74" d="100"/>
        </p:scale>
        <p:origin x="1284" y="48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44208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commentAuthors" Target="comment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Moazzen Zadeh-Bacon" userId="87017a61-33d9-4952-aa6c-e009fac81f23" providerId="ADAL" clId="{447EDA8B-4EC7-4A76-95DB-62723156D1EE}"/>
    <pc:docChg chg="modSld">
      <pc:chgData name="Mozhgan Moazzen Zadeh-Bacon" userId="87017a61-33d9-4952-aa6c-e009fac81f23" providerId="ADAL" clId="{447EDA8B-4EC7-4A76-95DB-62723156D1EE}" dt="2026-09-28T18:50:44.823" v="9" actId="14100"/>
      <pc:docMkLst>
        <pc:docMk/>
      </pc:docMkLst>
      <pc:sldChg chg="modSp mod">
        <pc:chgData name="Mozhgan Moazzen Zadeh-Bacon" userId="87017a61-33d9-4952-aa6c-e009fac81f23" providerId="ADAL" clId="{447EDA8B-4EC7-4A76-95DB-62723156D1EE}" dt="2026-09-28T18:43:47.382" v="6" actId="14100"/>
        <pc:sldMkLst>
          <pc:docMk/>
          <pc:sldMk cId="2668224351" sldId="296"/>
        </pc:sldMkLst>
        <pc:spChg chg="mod">
          <ac:chgData name="Mozhgan Moazzen Zadeh-Bacon" userId="87017a61-33d9-4952-aa6c-e009fac81f23" providerId="ADAL" clId="{447EDA8B-4EC7-4A76-95DB-62723156D1EE}" dt="2026-09-28T18:43:33.734" v="3" actId="2711"/>
          <ac:spMkLst>
            <pc:docMk/>
            <pc:sldMk cId="2668224351" sldId="296"/>
            <ac:spMk id="16" creationId="{13A8DFD6-B0C2-4F97-9A57-DACA87439F89}"/>
          </ac:spMkLst>
        </pc:spChg>
        <pc:spChg chg="mod">
          <ac:chgData name="Mozhgan Moazzen Zadeh-Bacon" userId="87017a61-33d9-4952-aa6c-e009fac81f23" providerId="ADAL" clId="{447EDA8B-4EC7-4A76-95DB-62723156D1EE}" dt="2026-09-28T18:43:43.951" v="5" actId="1076"/>
          <ac:spMkLst>
            <pc:docMk/>
            <pc:sldMk cId="2668224351" sldId="296"/>
            <ac:spMk id="17" creationId="{5060E02F-0818-4736-9E82-657A0E24268B}"/>
          </ac:spMkLst>
        </pc:spChg>
        <pc:picChg chg="mod">
          <ac:chgData name="Mozhgan Moazzen Zadeh-Bacon" userId="87017a61-33d9-4952-aa6c-e009fac81f23" providerId="ADAL" clId="{447EDA8B-4EC7-4A76-95DB-62723156D1EE}" dt="2026-09-28T18:43:47.382" v="6" actId="14100"/>
          <ac:picMkLst>
            <pc:docMk/>
            <pc:sldMk cId="2668224351" sldId="296"/>
            <ac:picMk id="4" creationId="{3AEEBBB5-EB77-4553-A342-C37B326EB08E}"/>
          </ac:picMkLst>
        </pc:picChg>
      </pc:sldChg>
      <pc:sldChg chg="modSp mod">
        <pc:chgData name="Mozhgan Moazzen Zadeh-Bacon" userId="87017a61-33d9-4952-aa6c-e009fac81f23" providerId="ADAL" clId="{447EDA8B-4EC7-4A76-95DB-62723156D1EE}" dt="2026-09-28T18:50:29.749" v="7" actId="14100"/>
        <pc:sldMkLst>
          <pc:docMk/>
          <pc:sldMk cId="3472257613" sldId="375"/>
        </pc:sldMkLst>
        <pc:picChg chg="mod">
          <ac:chgData name="Mozhgan Moazzen Zadeh-Bacon" userId="87017a61-33d9-4952-aa6c-e009fac81f23" providerId="ADAL" clId="{447EDA8B-4EC7-4A76-95DB-62723156D1EE}" dt="2026-09-28T18:50:29.749" v="7" actId="14100"/>
          <ac:picMkLst>
            <pc:docMk/>
            <pc:sldMk cId="3472257613" sldId="375"/>
            <ac:picMk id="8" creationId="{FF377DF4-5C28-465A-9D28-6C59E7247153}"/>
          </ac:picMkLst>
        </pc:picChg>
      </pc:sldChg>
      <pc:sldChg chg="modSp">
        <pc:chgData name="Mozhgan Moazzen Zadeh-Bacon" userId="87017a61-33d9-4952-aa6c-e009fac81f23" providerId="ADAL" clId="{447EDA8B-4EC7-4A76-95DB-62723156D1EE}" dt="2026-09-28T18:50:38.033" v="8" actId="14100"/>
        <pc:sldMkLst>
          <pc:docMk/>
          <pc:sldMk cId="2837179443" sldId="376"/>
        </pc:sldMkLst>
        <pc:graphicFrameChg chg="mod">
          <ac:chgData name="Mozhgan Moazzen Zadeh-Bacon" userId="87017a61-33d9-4952-aa6c-e009fac81f23" providerId="ADAL" clId="{447EDA8B-4EC7-4A76-95DB-62723156D1EE}" dt="2026-09-28T18:50:38.033" v="8" actId="14100"/>
          <ac:graphicFrameMkLst>
            <pc:docMk/>
            <pc:sldMk cId="2837179443" sldId="376"/>
            <ac:graphicFrameMk id="8" creationId="{F2DA0434-0860-4412-B828-C8B4372CC1A3}"/>
          </ac:graphicFrameMkLst>
        </pc:graphicFrameChg>
      </pc:sldChg>
      <pc:sldChg chg="modSp">
        <pc:chgData name="Mozhgan Moazzen Zadeh-Bacon" userId="87017a61-33d9-4952-aa6c-e009fac81f23" providerId="ADAL" clId="{447EDA8B-4EC7-4A76-95DB-62723156D1EE}" dt="2026-09-28T18:50:44.823" v="9" actId="14100"/>
        <pc:sldMkLst>
          <pc:docMk/>
          <pc:sldMk cId="2527532597" sldId="377"/>
        </pc:sldMkLst>
        <pc:graphicFrameChg chg="mod">
          <ac:chgData name="Mozhgan Moazzen Zadeh-Bacon" userId="87017a61-33d9-4952-aa6c-e009fac81f23" providerId="ADAL" clId="{447EDA8B-4EC7-4A76-95DB-62723156D1EE}" dt="2026-09-28T18:50:44.823" v="9" actId="14100"/>
          <ac:graphicFrameMkLst>
            <pc:docMk/>
            <pc:sldMk cId="2527532597" sldId="377"/>
            <ac:graphicFrameMk id="8" creationId="{736D99E0-BF85-45D8-9B3F-C556D7B07649}"/>
          </ac:graphicFrameMkLst>
        </pc:graphicFrameChg>
      </pc:sldChg>
      <pc:sldChg chg="modSp mod">
        <pc:chgData name="Mozhgan Moazzen Zadeh-Bacon" userId="87017a61-33d9-4952-aa6c-e009fac81f23" providerId="ADAL" clId="{447EDA8B-4EC7-4A76-95DB-62723156D1EE}" dt="2026-09-28T18:43:14.256" v="1" actId="1076"/>
        <pc:sldMkLst>
          <pc:docMk/>
          <pc:sldMk cId="0" sldId="400"/>
        </pc:sldMkLst>
        <pc:spChg chg="mod">
          <ac:chgData name="Mozhgan Moazzen Zadeh-Bacon" userId="87017a61-33d9-4952-aa6c-e009fac81f23" providerId="ADAL" clId="{447EDA8B-4EC7-4A76-95DB-62723156D1EE}" dt="2026-09-28T18:43:14.256" v="1" actId="1076"/>
          <ac:spMkLst>
            <pc:docMk/>
            <pc:sldMk cId="0" sldId="400"/>
            <ac:spMk id="2" creationId="{00000000-0000-0000-0000-000000000000}"/>
          </ac:spMkLst>
        </pc:spChg>
      </pc:sldChg>
      <pc:sldChg chg="modSp">
        <pc:chgData name="Mozhgan Moazzen Zadeh-Bacon" userId="87017a61-33d9-4952-aa6c-e009fac81f23" providerId="ADAL" clId="{447EDA8B-4EC7-4A76-95DB-62723156D1EE}" dt="2026-09-28T18:39:57.509" v="0" actId="16037"/>
        <pc:sldMkLst>
          <pc:docMk/>
          <pc:sldMk cId="0" sldId="401"/>
        </pc:sldMkLst>
        <pc:spChg chg="mod">
          <ac:chgData name="Mozhgan Moazzen Zadeh-Bacon" userId="87017a61-33d9-4952-aa6c-e009fac81f23" providerId="ADAL" clId="{447EDA8B-4EC7-4A76-95DB-62723156D1EE}" dt="2026-09-28T18:39:57.509" v="0" actId="16037"/>
          <ac:spMkLst>
            <pc:docMk/>
            <pc:sldMk cId="0" sldId="401"/>
            <ac:spMk id="2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28T18:39:57.509" v="0" actId="16037"/>
          <ac:spMkLst>
            <pc:docMk/>
            <pc:sldMk cId="0" sldId="401"/>
            <ac:spMk id="3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28T18:39:57.509" v="0" actId="16037"/>
          <ac:spMkLst>
            <pc:docMk/>
            <pc:sldMk cId="0" sldId="401"/>
            <ac:spMk id="6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28T18:39:57.509" v="0" actId="16037"/>
          <ac:spMkLst>
            <pc:docMk/>
            <pc:sldMk cId="0" sldId="401"/>
            <ac:spMk id="8" creationId="{00000000-0000-0000-0000-000000000000}"/>
          </ac:spMkLst>
        </pc:spChg>
        <pc:spChg chg="mod">
          <ac:chgData name="Mozhgan Moazzen Zadeh-Bacon" userId="87017a61-33d9-4952-aa6c-e009fac81f23" providerId="ADAL" clId="{447EDA8B-4EC7-4A76-95DB-62723156D1EE}" dt="2026-09-28T18:39:57.509" v="0" actId="16037"/>
          <ac:spMkLst>
            <pc:docMk/>
            <pc:sldMk cId="0" sldId="401"/>
            <ac:spMk id="9" creationId="{00000000-0000-0000-0000-000000000000}"/>
          </ac:spMkLst>
        </pc:spChg>
        <pc:picChg chg="mod">
          <ac:chgData name="Mozhgan Moazzen Zadeh-Bacon" userId="87017a61-33d9-4952-aa6c-e009fac81f23" providerId="ADAL" clId="{447EDA8B-4EC7-4A76-95DB-62723156D1EE}" dt="2026-09-28T18:39:57.509" v="0" actId="16037"/>
          <ac:picMkLst>
            <pc:docMk/>
            <pc:sldMk cId="0" sldId="401"/>
            <ac:picMk id="4" creationId="{00000000-0000-0000-0000-000000000000}"/>
          </ac:picMkLst>
        </pc:picChg>
        <pc:picChg chg="mod">
          <ac:chgData name="Mozhgan Moazzen Zadeh-Bacon" userId="87017a61-33d9-4952-aa6c-e009fac81f23" providerId="ADAL" clId="{447EDA8B-4EC7-4A76-95DB-62723156D1EE}" dt="2026-09-28T18:39:57.509" v="0" actId="16037"/>
          <ac:picMkLst>
            <pc:docMk/>
            <pc:sldMk cId="0" sldId="401"/>
            <ac:picMk id="5" creationId="{00000000-0000-0000-0000-000000000000}"/>
          </ac:picMkLst>
        </pc:picChg>
        <pc:picChg chg="mod">
          <ac:chgData name="Mozhgan Moazzen Zadeh-Bacon" userId="87017a61-33d9-4952-aa6c-e009fac81f23" providerId="ADAL" clId="{447EDA8B-4EC7-4A76-95DB-62723156D1EE}" dt="2026-09-28T18:39:57.509" v="0" actId="16037"/>
          <ac:picMkLst>
            <pc:docMk/>
            <pc:sldMk cId="0" sldId="401"/>
            <ac:picMk id="7" creationId="{00000000-0000-0000-0000-00000000000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1T18:21:02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43 1328,'1'-3'3116,"-4"12"-2134,0 3-520,-1 2-95,0-1 0,-2 24 0,-2-18 1819,1-10-2085,7-9-78,-1 0 0,1 0 1,0 0-1,0 0 0,-1 0 0,1 0 0,0 1 0,0-1 0,-1 0 0,1 0 0,0 0 0,-1 0 0,1 0 0,0 0 1,0 0-1,-1 0 0,1 0 0,0 0 0,0-1 0,-1 1 0,1 0 0,0 0 0,-1 0 0,1 0 0,0 0 1,0 0-1,0-1 0,-1 1 0,1 0 0,0 0 0,0 0 0,-1-1 0,1 1 53,0-7 488,5-7-224,0 1 1,1 0-1,8-15 0,12-27 752,-24 51-830,3-7 277,-5 11-521,0 0-1,0 0 1,0 0 0,0-1 0,0 1-1,0 0 1,0 0 0,0 0 0,0 0-1,0 0 1,0-1 0,0 1 0,0 0-1,0 0 1,0 0 0,0 0 0,0-1-1,0 1 1,0 0 0,0 0 0,0 0-1,0 0 1,0-1 0,0 1 0,0 0-1,0 0 1,0 0 0,0 0 0,-1 0-1,1 0 1,0-1 0,0 1 0,0 0-1,0 0 1,0 0 0,0 0 0,-1 0 0,1 0-1,0 0 1,0 0 0,0 0 0,0 0-1,-1 0 1,1 0 0,0 0 0,0-1-1,0 1 1,-1 0 0,-3 6 17,0 0-28,-4 6 27,0-1 1,-9 22-1,16-29-26,-1-1 1,1 1-1,0 0 1,0 0-1,0-1 1,0 1-1,1 0 0,-1 0 1,1 0-1,0 0 1,1 0-1,-1 0 1,0 0-1,1 0 0,1 5 1,0-5 8,-2-4-1,0-1-8,0 0 0,0 0 0,1 0 0,-1-1 0,0 1 0,1 0 0,-1 0 0,1 0 0,-1 0 0,1 0 0,1-2 0,-2 2-6,3-4-2,0 0 1,-1 0 0,0 0-1,0 0 1,-1 0 0,1 0-1,-1-1 1,0 1 0,0 0-1,-1-1 1,1 1 0,-1-1-1,-1 1 1,1 0 0,-1-1-1,0 1 1,-1-6 0,-2-2-2318,4 11 1300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1T18:21:03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 3321,'9'-35'2857,"22"-56"0,-30 89-2498,1-4 2201,-1 15-1156,-2 18-1268,-1 0 0,-10 46 0,3-26-32,8-42-91,1-1 1,-1 0-1,1 1 0,1-1 0,-1 0 1,0 1-1,1-1 0,3 9 1,-1-8 126,-1-6 389,0-14 566,-1 5-1210,12-60-1868,-11 55 1018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1T18:21:04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77 3569,'0'-1'400,"0"0"1,0 0-1,0 0 1,0 0 0,0 0-1,0 0 1,0 1-1,-1-1 1,1 0 0,0 0-1,-1 0 1,1 0-1,-1 0 1,1 1-1,-1-1 1,1 0 0,-1 0-1,-5-8 1238,6 9-1608,-3-3 1026,-2 13-480,2 1-468,-1-2 17,2 1-1,-1 0 0,1-1 1,0 1-1,1 0 1,0 15-1,1-24-119,0-1 0,0 0 1,0 0-1,0 0 0,0 0 0,0 0 0,1 0 1,-1 1-1,0-1 0,0 0 0,0 0 0,0 0 1,0 0-1,0 0 0,-1 1 0,1-1 1,0 0-1,0 0 0,0 0 0,0 0 0,0 0 1,0 1-1,0-1 0,0 0 0,0 0 0,0 0 1,0 0-1,0 0 0,0 0 0,-1 0 1,1 1-1,0-1 0,0 0 0,0 0 0,0 0 1,0 0-1,0 0 0,-1 0 0,1 0 1,0 0-1,0 0 0,0 0 0,0 0 0,0 0 1,-1 0-1,1 0 0,0 0 2,0 0 0,0 0 0,0 0 0,0 0 1,0 0-1,0 0 0,-1 0 0,1 0 0,0 0 0,0 0 0,0 0 0,0 0 0,0 0 0,0 0 1,0 0-1,0 0 0,0 0 0,0 0 0,0 0 0,0 0 0,0 0 0,0-1 0,-1 1 0,1 0 1,0 0-1,0 0 0,0 0 0,0 0 0,0 0 0,0 0 0,0 0 0,0 0 0,0 0 0,0 0 1,0-1-1,0 1 0,0 0 0,0 0 0,0 0 0,0 0 0,0 0 0,0 0 0,0 0 1,0 0-1,0 0 0,0 0 0,0 0 0,0 0 0,1-1 0,-1 1 0,0 0 0,0 0 0,0 0 1,0 0-1,0 0 0,0 0 0,0 0 0,0 0 0,3-2-1,0 0 0,0-1 0,-1 1 0,1-1 0,-1 1 0,0-1 0,0 0 0,0 0 0,0 0 0,0 0 0,0 0 1,-1-1-1,0 1 0,1 0 0,-1-1 0,1-5 0,-1-8-476,-1 1 1,-4-31-1,2 27-87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1T18:21:05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29 2120,'9'-12'993,"-3"5"-465,-3 2 416,-3 4-312,-2-1-192,1 1-240,-1 1-128,1 0-160,-1 0-24,1 0 8,-6 3-8,-2 1-160,1 1-224,-23 24-680,22-17 120,1-2 663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1T18:21:11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30 1064,'4'-10'538,"-3"8"-452,-1 0 1,1 0 0,0 0-1,0 0 1,0 0 0,0 0-1,3-2 1,-4 4 59,1-2 806,3 12-832,-3-6-119,0 0 0,0-1 0,0 1 1,0 0-1,-1 0 0,1 0 0,-1 0 1,0 0-1,-1 0 0,1 0 0,-1 0 1,1 0-1,-3 6 0,1-4 4,-1 0-1,0-1 1,0 1-1,-5 5 1,5-7 4,0 1 0,0-1 0,0 1 0,1-1 0,0 1 0,-3 8-1,4-9 10,0-7 19,2-12-14,1 7-20,1-1 1,0 1 0,1 0-1,0 0 1,0 0-1,0 1 1,1-1 0,0 1-1,10-10 1,-5 8-4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014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77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206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188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822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31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F8030048-9F2A-46F5-BDE9-20096DA10D1A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1EF6647E-0A30-4795-96EF-BAD0F774A2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56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>
                <a:latin typeface="Times New Roman" panose="02020603050405020304" pitchFamily="18" charset="0"/>
              </a:defRPr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  <p:sldLayoutId id="2147483706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38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0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4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jpeg"/><Relationship Id="rId4" Type="http://schemas.openxmlformats.org/officeDocument/2006/relationships/image" Target="../media/image49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52.emf"/><Relationship Id="rId7" Type="http://schemas.openxmlformats.org/officeDocument/2006/relationships/image" Target="../media/image54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56.emf"/><Relationship Id="rId5" Type="http://schemas.openxmlformats.org/officeDocument/2006/relationships/image" Target="../media/image53.e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55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5.wmf"/><Relationship Id="rId7" Type="http://schemas.openxmlformats.org/officeDocument/2006/relationships/image" Target="../media/image60.png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34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4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7" Type="http://schemas.openxmlformats.org/officeDocument/2006/relationships/image" Target="../media/image77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76.wmf"/><Relationship Id="rId4" Type="http://schemas.openxmlformats.org/officeDocument/2006/relationships/oleObject" Target="../embeddings/oleObject40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0.jpeg"/><Relationship Id="rId5" Type="http://schemas.openxmlformats.org/officeDocument/2006/relationships/image" Target="../media/image79.emf"/><Relationship Id="rId4" Type="http://schemas.openxmlformats.org/officeDocument/2006/relationships/oleObject" Target="../embeddings/oleObject43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2.png"/><Relationship Id="rId4" Type="http://schemas.openxmlformats.org/officeDocument/2006/relationships/image" Target="../media/image81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3.png"/><Relationship Id="rId3" Type="http://schemas.openxmlformats.org/officeDocument/2006/relationships/image" Target="../media/image83.jpeg"/><Relationship Id="rId7" Type="http://schemas.openxmlformats.org/officeDocument/2006/relationships/image" Target="../media/image100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1" Type="http://schemas.openxmlformats.org/officeDocument/2006/relationships/image" Target="../media/image102.png"/><Relationship Id="rId5" Type="http://schemas.openxmlformats.org/officeDocument/2006/relationships/image" Target="../media/image9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0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44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34640" y="0"/>
            <a:ext cx="54864" cy="68580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971800"/>
            <a:ext cx="822960" cy="36576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1965960"/>
            <a:ext cx="54315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0984" y="2880360"/>
            <a:ext cx="1920240" cy="27432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0984" y="3108960"/>
            <a:ext cx="57241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B3B3B"/>
                </a:solidFill>
                <a:latin typeface="Times New Roman"/>
              </a:rPr>
              <a:t>Week 5  |  Chapter 6: Capacitors and Inductors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5989320"/>
            <a:ext cx="5431536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>
                <a:solidFill>
                  <a:srgbClr val="3B3B3B"/>
                </a:solidFill>
                <a:latin typeface="Times New Roman"/>
              </a:rPr>
              <a:t>Mozhgan Bacon, PhD, 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6473952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3959" y="2887181"/>
            <a:ext cx="8458200" cy="339285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inductor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resistors, these elements do not dissipate energy.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instead store energy.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also look at how to analyze them in a circuit.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3AEEBBB5-EB77-4553-A342-C37B326EB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59" y="983411"/>
            <a:ext cx="7875588" cy="1656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8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Capacitors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816929" cy="4314194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capacitor is a passive element that stores energy in its electric field.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two conducting plates separated by an insulator (or dielectric).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plates are typically aluminum foil.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dielectric is often air, ceramic, paper, plastic, or mica.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67C208C-EC20-4208-A01B-0761AB0F0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651" y="1148211"/>
            <a:ext cx="3118803" cy="352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B0F3A8F-F828-4404-88F3-749B5A0C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118" y="4670398"/>
            <a:ext cx="3088158" cy="167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2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Capacitors </a:t>
            </a:r>
            <a:r>
              <a:rPr lang="en-US" altLang="en-US" sz="1000" b="0" noProof="0" dirty="0"/>
              <a:t>2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332141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voltage source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connected to the capacitor, the source deposits a positive charge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one plate and a negative charge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–q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other.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charges will be equal in magnitude.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amount of charge is proportional to the voltage: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CC92844-AC29-4B51-A155-A340DD68A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083471"/>
              </p:ext>
            </p:extLst>
          </p:nvPr>
        </p:nvGraphicFramePr>
        <p:xfrm>
          <a:off x="1177235" y="4836734"/>
          <a:ext cx="1198626" cy="54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600" imgH="447556" progId="Equation.DSMT4">
                  <p:embed/>
                </p:oleObj>
              </mc:Choice>
              <mc:Fallback>
                <p:oleObj name="Equation" r:id="rId3" imgW="990600" imgH="447556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CC92844-AC29-4B51-A155-A340DD68A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77235" y="4836734"/>
                        <a:ext cx="1198626" cy="54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5617030"/>
            <a:ext cx="8458200" cy="57912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capacitance.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9BB179-E752-4565-8E89-D2455B22E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216" y="3837001"/>
            <a:ext cx="2120961" cy="271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Capacitors </a:t>
            </a:r>
            <a:r>
              <a:rPr lang="en-US" altLang="en-US" sz="1000" b="0" noProof="0" dirty="0"/>
              <a:t>3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963826"/>
            <a:ext cx="8458200" cy="3407636"/>
          </a:xfrm>
        </p:spPr>
        <p:txBody>
          <a:bodyPr>
            <a:noAutofit/>
          </a:bodyPr>
          <a:lstStyle/>
          <a:p>
            <a:pPr algn="just">
              <a:spcBef>
                <a:spcPts val="8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 of capacitance is the Farad (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ts val="800"/>
              </a:spcBef>
              <a:spcAft>
                <a:spcPts val="0"/>
              </a:spcAft>
            </a:pPr>
            <a:r>
              <a:rPr lang="en-US" altLang="en-US" sz="24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Farad is 1 Coulomb/Volt</a:t>
            </a:r>
          </a:p>
          <a:p>
            <a:pPr algn="just">
              <a:spcBef>
                <a:spcPts val="8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capacitors are rated in picofarad (pF) and microfarad (</a:t>
            </a:r>
            <a:r>
              <a:rPr lang="en-US" altLang="en-US" sz="24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ts val="8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Capacitance is determined by the geometery of the capacitor:</a:t>
            </a:r>
          </a:p>
          <a:p>
            <a:pPr lvl="1" algn="just"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to the area of the plates (A).</a:t>
            </a:r>
          </a:p>
          <a:p>
            <a:pPr lvl="1" algn="just">
              <a:spcAft>
                <a:spcPts val="0"/>
              </a:spcAft>
            </a:pPr>
            <a:r>
              <a:rPr lang="en-US" alt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Inversely proportional to the space between them (d).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B72CBC7-A2EB-4FAD-BFFC-C45654FED1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220548"/>
              </p:ext>
            </p:extLst>
          </p:nvPr>
        </p:nvGraphicFramePr>
        <p:xfrm>
          <a:off x="7256466" y="3543739"/>
          <a:ext cx="1068705" cy="827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1550" imgH="752594" progId="Equation.DSMT4">
                  <p:embed/>
                </p:oleObj>
              </mc:Choice>
              <mc:Fallback>
                <p:oleObj name="Equation" r:id="rId3" imgW="971550" imgH="752594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B72CBC7-A2EB-4FAD-BFFC-C45654FED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56466" y="3543739"/>
                        <a:ext cx="1068705" cy="827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654994"/>
            <a:ext cx="8458200" cy="435102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ԑ is the permittivity of the dielectric.</a:t>
            </a:r>
            <a:endParaRPr lang="en-US" alt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F3335-759E-455B-891F-359D97B98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02" y="4392703"/>
            <a:ext cx="5465421" cy="210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568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377DF4-5C28-465A-9D28-6C59E7247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55" y="532852"/>
            <a:ext cx="7896174" cy="522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25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82" y="54820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Types of Capacitors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71" y="733431"/>
            <a:ext cx="8458200" cy="3073222"/>
          </a:xfrm>
        </p:spPr>
        <p:txBody>
          <a:bodyPr>
            <a:normAutofit fontScale="92500" lnSpcReduction="10000"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types of capacitors are film capacitors with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polyester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polystyrene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mica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save space, these are often rolled up before being housed in metal or plastic films.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Electrolytic caps produce a very high capacitance.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Trimmer caps have a range of values that they can be set to.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air caps can be adjusted by turning a shaft attached to a set of moveable plates.</a:t>
            </a: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1A365EE5-7DF6-4401-8451-294125D9E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383" y="3532674"/>
            <a:ext cx="4261387" cy="129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245D8ED9-4ADD-427D-AC36-915743094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249438"/>
              </p:ext>
            </p:extLst>
          </p:nvPr>
        </p:nvGraphicFramePr>
        <p:xfrm>
          <a:off x="2547275" y="4336318"/>
          <a:ext cx="4650393" cy="226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1298227" imgH="4990476" progId="Paint.Picture">
                  <p:embed/>
                </p:oleObj>
              </mc:Choice>
              <mc:Fallback>
                <p:oleObj name="Bitmap Image" r:id="rId3" imgW="11298227" imgH="4990476" progId="Paint.Picture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245D8ED9-4ADD-427D-AC36-9157430949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275" y="4336318"/>
                        <a:ext cx="4650393" cy="2269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9681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52F904-8623-42CE-95D0-EB074ADA34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DB061-B846-4410-A347-4EE1B1A4C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8" descr="electrolytic">
            <a:extLst>
              <a:ext uri="{FF2B5EF4-FFF2-40B4-BE49-F238E27FC236}">
                <a16:creationId xmlns:a16="http://schemas.microsoft.com/office/drawing/2014/main" id="{5E780B7D-123A-4DE5-9CCD-BDEBF1D2C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45" y="2303134"/>
            <a:ext cx="2363708" cy="179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E6A5124-C926-4D5D-AED5-8DBC92671D23}"/>
              </a:ext>
            </a:extLst>
          </p:cNvPr>
          <p:cNvSpPr/>
          <p:nvPr/>
        </p:nvSpPr>
        <p:spPr>
          <a:xfrm>
            <a:off x="136067" y="4116234"/>
            <a:ext cx="2852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93300"/>
                </a:solidFill>
                <a:latin typeface="Times New Roman" panose="02020603050405020304" pitchFamily="18" charset="0"/>
              </a:rPr>
              <a:t>Polarity must be observed</a:t>
            </a:r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11" name="Picture 16" descr="ceramic_caps2">
            <a:extLst>
              <a:ext uri="{FF2B5EF4-FFF2-40B4-BE49-F238E27FC236}">
                <a16:creationId xmlns:a16="http://schemas.microsoft.com/office/drawing/2014/main" id="{D2DBEE9E-8D0E-4ED7-8BE9-4DA736F5B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901" y="1078252"/>
            <a:ext cx="2270414" cy="269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4700cap">
            <a:extLst>
              <a:ext uri="{FF2B5EF4-FFF2-40B4-BE49-F238E27FC236}">
                <a16:creationId xmlns:a16="http://schemas.microsoft.com/office/drawing/2014/main" id="{314AFCA5-0C9F-414A-AE10-2B751F495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368948"/>
            <a:ext cx="3009899" cy="185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16EB57A-1765-48F5-B1B9-B3A289E4076A}"/>
              </a:ext>
            </a:extLst>
          </p:cNvPr>
          <p:cNvSpPr/>
          <p:nvPr/>
        </p:nvSpPr>
        <p:spPr>
          <a:xfrm>
            <a:off x="198120" y="0"/>
            <a:ext cx="27494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Electrolytic Capacitors </a:t>
            </a:r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085374-812C-406E-86C3-FD8CB6F41DAB}"/>
              </a:ext>
            </a:extLst>
          </p:cNvPr>
          <p:cNvSpPr/>
          <p:nvPr/>
        </p:nvSpPr>
        <p:spPr>
          <a:xfrm>
            <a:off x="3416611" y="38502"/>
            <a:ext cx="24160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Ceramic Capacitors </a:t>
            </a:r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15" name="Picture 14" descr="cap_ceramic_disc">
            <a:extLst>
              <a:ext uri="{FF2B5EF4-FFF2-40B4-BE49-F238E27FC236}">
                <a16:creationId xmlns:a16="http://schemas.microsoft.com/office/drawing/2014/main" id="{336A5E97-31D4-4023-A5A4-35525306E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072" y="407834"/>
            <a:ext cx="1885221" cy="181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9E51ADDE-7667-4E45-9751-8A7C32EBA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987862"/>
              </p:ext>
            </p:extLst>
          </p:nvPr>
        </p:nvGraphicFramePr>
        <p:xfrm>
          <a:off x="4422790" y="3785964"/>
          <a:ext cx="4300191" cy="2696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9876190" imgH="5934903" progId="Paint.Picture">
                  <p:embed/>
                </p:oleObj>
              </mc:Choice>
              <mc:Fallback>
                <p:oleObj name="Bitmap Image" r:id="rId6" imgW="9876190" imgH="5934903" progId="Paint.Picture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9E51ADDE-7667-4E45-9751-8A7C32EBAD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790" y="3785964"/>
                        <a:ext cx="4300191" cy="2696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706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Applications for Capacitors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3902529" cy="4353382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 have a wide range of applications, some of which are: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Blocking DC.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AC.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phase.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energy.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 noise.</a:t>
            </a:r>
          </a:p>
          <a:p>
            <a:pPr marL="291600" lvl="1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motors.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C9FADC2-8895-41FD-B4A4-C1CA6963E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377" y="2520744"/>
            <a:ext cx="4775200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0438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Current Voltage Relationship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205432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formula for the charge stored in a capacitor, we can find the current voltage relationship.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first derivative with respect to time gives: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7AAED84-D53F-400A-81D1-8606D9A8A5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427457"/>
              </p:ext>
            </p:extLst>
          </p:nvPr>
        </p:nvGraphicFramePr>
        <p:xfrm>
          <a:off x="776900" y="3496268"/>
          <a:ext cx="1267778" cy="910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7750" imgH="752594" progId="Equation.DSMT4">
                  <p:embed/>
                </p:oleObj>
              </mc:Choice>
              <mc:Fallback>
                <p:oleObj name="Equation" r:id="rId3" imgW="1047750" imgH="752594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7AAED84-D53F-400A-81D1-8606D9A8A5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6900" y="3496268"/>
                        <a:ext cx="1267778" cy="910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572003"/>
            <a:ext cx="8458200" cy="57912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assumes the passive sign convention.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A7DC0-D9AD-47A8-86C9-327E75387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683" y="2736188"/>
            <a:ext cx="2233417" cy="189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6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F2DA0434-0860-4412-B828-C8B4372CC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443338"/>
              </p:ext>
            </p:extLst>
          </p:nvPr>
        </p:nvGraphicFramePr>
        <p:xfrm>
          <a:off x="971946" y="361802"/>
          <a:ext cx="7594084" cy="5888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696160" imgH="6743880" progId="Paint.Picture">
                  <p:embed/>
                </p:oleObj>
              </mc:Choice>
              <mc:Fallback>
                <p:oleObj name="Bitmap Image" r:id="rId2" imgW="8696160" imgH="6743880" progId="Paint.Picture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F2DA0434-0860-4412-B828-C8B4372CC1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946" y="361802"/>
                        <a:ext cx="7594084" cy="58889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7179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736D99E0-BF85-45D8-9B3F-C556D7B07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001580"/>
              </p:ext>
            </p:extLst>
          </p:nvPr>
        </p:nvGraphicFramePr>
        <p:xfrm>
          <a:off x="1272923" y="564099"/>
          <a:ext cx="6958610" cy="5500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009524" imgH="5495238" progId="Paint.Picture">
                  <p:embed/>
                </p:oleObj>
              </mc:Choice>
              <mc:Fallback>
                <p:oleObj name="Bitmap Image" r:id="rId2" imgW="7009524" imgH="5495238" progId="Paint.Picture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736D99E0-BF85-45D8-9B3F-C556D7B076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2923" y="564099"/>
                        <a:ext cx="6958610" cy="5500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753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Stored Charge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2146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the voltage current relationship is: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BB52B5A-DED3-43AD-A199-F1F411A862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167720"/>
              </p:ext>
            </p:extLst>
          </p:nvPr>
        </p:nvGraphicFramePr>
        <p:xfrm>
          <a:off x="968490" y="1759443"/>
          <a:ext cx="3131411" cy="100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52675" imgH="752594" progId="Equation.DSMT4">
                  <p:embed/>
                </p:oleObj>
              </mc:Choice>
              <mc:Fallback>
                <p:oleObj name="Equation" r:id="rId2" imgW="2352675" imgH="752594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BB52B5A-DED3-43AD-A199-F1F411A862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8490" y="1759443"/>
                        <a:ext cx="3131411" cy="1001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842377"/>
            <a:ext cx="8458200" cy="1389988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the capacitor has a memory, which is often exploited in circuits.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instantaneous power delivered to the capacitor is.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A0A969D-38A9-42BD-8915-FFD2EE725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795401"/>
              </p:ext>
            </p:extLst>
          </p:nvPr>
        </p:nvGraphicFramePr>
        <p:xfrm>
          <a:off x="1212600" y="4326107"/>
          <a:ext cx="1728788" cy="726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8750" imgH="600075" progId="Equation.DSMT4">
                  <p:embed/>
                </p:oleObj>
              </mc:Choice>
              <mc:Fallback>
                <p:oleObj name="Equation" r:id="rId4" imgW="1428750" imgH="600075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9A0A969D-38A9-42BD-8915-FFD2EE7252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2600" y="4326107"/>
                        <a:ext cx="1728788" cy="726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132877"/>
            <a:ext cx="8458200" cy="480908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energy stored in a capacitor is: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3151625-1667-406D-9B50-17C1FC8416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257291"/>
              </p:ext>
            </p:extLst>
          </p:nvPr>
        </p:nvGraphicFramePr>
        <p:xfrm>
          <a:off x="1212600" y="5717856"/>
          <a:ext cx="1236345" cy="743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23950" imgH="676156" progId="Equation.DSMT4">
                  <p:embed/>
                </p:oleObj>
              </mc:Choice>
              <mc:Fallback>
                <p:oleObj name="Equation" r:id="rId6" imgW="1123950" imgH="676156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3151625-1667-406D-9B50-17C1FC8416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12600" y="5717856"/>
                        <a:ext cx="1236345" cy="7439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2883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EB4C6E9-A091-4B63-B51A-40CC215D40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364383"/>
              </p:ext>
            </p:extLst>
          </p:nvPr>
        </p:nvGraphicFramePr>
        <p:xfrm>
          <a:off x="495300" y="509279"/>
          <a:ext cx="81534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0345594" imgH="6714286" progId="Paint.Picture">
                  <p:embed/>
                </p:oleObj>
              </mc:Choice>
              <mc:Fallback>
                <p:oleObj name="Bitmap Image" r:id="rId2" imgW="10345594" imgH="6714286" progId="Paint.Picture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2EB4C6E9-A091-4B63-B51A-40CC215D40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509279"/>
                        <a:ext cx="8153400" cy="548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2428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29C583-4716-4E92-9AEF-6F50BDD3AEED}"/>
              </a:ext>
            </a:extLst>
          </p:cNvPr>
          <p:cNvSpPr/>
          <p:nvPr/>
        </p:nvSpPr>
        <p:spPr>
          <a:xfrm>
            <a:off x="215752" y="53802"/>
            <a:ext cx="2305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</a:rPr>
              <a:t>Capacitor Properties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357866-923A-443A-A753-83CC6B93ACF8}"/>
              </a:ext>
            </a:extLst>
          </p:cNvPr>
          <p:cNvSpPr/>
          <p:nvPr/>
        </p:nvSpPr>
        <p:spPr>
          <a:xfrm>
            <a:off x="114300" y="1828800"/>
            <a:ext cx="891540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tabLst>
                <a:tab pos="3048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3.	The ideal capacitor does not dissipate energy.  It takes power from the circuit when storing energy and returns previously stored energy when delivering power to the circuit.</a:t>
            </a:r>
          </a:p>
          <a:p>
            <a:pPr marL="457200" indent="-457200">
              <a:tabLst>
                <a:tab pos="304800" algn="l"/>
              </a:tabLst>
            </a:pPr>
            <a:endParaRPr lang="en-US" dirty="0">
              <a:latin typeface="Times New Roman" panose="02020603050405020304" pitchFamily="18" charset="0"/>
            </a:endParaRPr>
          </a:p>
          <a:p>
            <a:pPr marL="457200" indent="-457200">
              <a:tabLst>
                <a:tab pos="3048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4.	A real, non-ideal, capacitor has a  “leakage resistance” which is modeled as shown below. The leakage resistance may be as high as 100M</a:t>
            </a:r>
            <a:r>
              <a:rPr lang="en-US" dirty="0">
                <a:latin typeface="Times New Roman" panose="02020603050405020304" pitchFamily="18" charset="0"/>
                <a:sym typeface="Symbol" pitchFamily="18" charset="2"/>
              </a:rPr>
              <a:t></a:t>
            </a:r>
            <a:r>
              <a:rPr lang="en-US" dirty="0">
                <a:latin typeface="Times New Roman" panose="02020603050405020304" pitchFamily="18" charset="0"/>
              </a:rPr>
              <a:t>, and can be neglected for most practical applications.</a:t>
            </a:r>
            <a:r>
              <a:rPr lang="en-US" dirty="0">
                <a:latin typeface="Times New Roman" panose="02020603050405020304" pitchFamily="18" charset="0"/>
                <a:sym typeface="Symbol" pitchFamily="18" charset="2"/>
              </a:rPr>
              <a:t>  </a:t>
            </a:r>
          </a:p>
          <a:p>
            <a:pPr marL="457200" indent="-457200">
              <a:tabLst>
                <a:tab pos="304800" algn="l"/>
              </a:tabLst>
            </a:pPr>
            <a:endParaRPr lang="en-US" i="1" dirty="0">
              <a:latin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latin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latin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latin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latin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highlight>
                <a:srgbClr val="FFFF00"/>
              </a:highlight>
              <a:latin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endParaRPr lang="en-US" i="1" dirty="0">
              <a:highlight>
                <a:srgbClr val="FFFF00"/>
              </a:highlight>
              <a:latin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tabLst>
                <a:tab pos="304800" algn="l"/>
              </a:tabLst>
            </a:pPr>
            <a:r>
              <a:rPr lang="en-US" i="1" dirty="0">
                <a:latin typeface="Times New Roman" panose="02020603050405020304" pitchFamily="18" charset="0"/>
                <a:sym typeface="Symbol" pitchFamily="18" charset="2"/>
              </a:rPr>
              <a:t>	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sym typeface="Symbol" pitchFamily="18" charset="2"/>
              </a:rPr>
              <a:t>Note</a:t>
            </a:r>
            <a:r>
              <a:rPr lang="en-US" i="1" dirty="0">
                <a:latin typeface="Times New Roman" panose="02020603050405020304" pitchFamily="18" charset="0"/>
                <a:sym typeface="Symbol" pitchFamily="18" charset="2"/>
              </a:rPr>
              <a:t>: </a:t>
            </a:r>
            <a:r>
              <a:rPr lang="en-US" sz="2000" dirty="0">
                <a:solidFill>
                  <a:srgbClr val="009900"/>
                </a:solidFill>
                <a:latin typeface="Times New Roman" panose="02020603050405020304" pitchFamily="18" charset="0"/>
                <a:sym typeface="Symbol" pitchFamily="18" charset="2"/>
              </a:rPr>
              <a:t>In this course we will always assume that the capacitors are ideal</a:t>
            </a:r>
            <a:r>
              <a:rPr lang="en-US" i="1" dirty="0">
                <a:solidFill>
                  <a:srgbClr val="009900"/>
                </a:solidFill>
                <a:latin typeface="Times New Roman" panose="02020603050405020304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B52FAF-9A75-4B89-89AE-EFAEB55647FA}"/>
              </a:ext>
            </a:extLst>
          </p:cNvPr>
          <p:cNvSpPr/>
          <p:nvPr/>
        </p:nvSpPr>
        <p:spPr>
          <a:xfrm>
            <a:off x="381000" y="979438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The capacitor has the following important properties</a:t>
            </a:r>
            <a:r>
              <a:rPr lang="en-US" b="1" dirty="0">
                <a:latin typeface="Times New Roman" panose="02020603050405020304" pitchFamily="18" charset="0"/>
              </a:rPr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387CBF-C166-4935-A4A4-A54859BB6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184" y="3619459"/>
            <a:ext cx="2804694" cy="187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81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E31ACE-656E-40AF-A815-D9161CDBD1F5}"/>
              </a:ext>
            </a:extLst>
          </p:cNvPr>
          <p:cNvSpPr/>
          <p:nvPr/>
        </p:nvSpPr>
        <p:spPr>
          <a:xfrm>
            <a:off x="149659" y="598088"/>
            <a:ext cx="74676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tabLst>
                <a:tab pos="304800" algn="l"/>
              </a:tabLst>
            </a:pPr>
            <a:r>
              <a:rPr lang="en-US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 capacitor has the following important properties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:</a:t>
            </a:r>
          </a:p>
          <a:p>
            <a:pPr marL="457200" indent="-457200">
              <a:tabLst>
                <a:tab pos="304800" algn="l"/>
              </a:tabLst>
            </a:pP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When the voltage across a capacitor is constant</a:t>
            </a:r>
          </a:p>
          <a:p>
            <a:pPr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	 (not changing with time) the current through the capacitor: </a:t>
            </a:r>
          </a:p>
          <a:p>
            <a:pPr>
              <a:tabLst>
                <a:tab pos="304800" algn="l"/>
              </a:tabLst>
            </a:pPr>
            <a:endParaRPr lang="en-US" sz="1600" dirty="0">
              <a:latin typeface="Times New Roman" panose="02020603050405020304" pitchFamily="18" charset="0"/>
            </a:endParaRPr>
          </a:p>
          <a:p>
            <a:pPr marL="457200" indent="-457200"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             </a:t>
            </a:r>
            <a:r>
              <a:rPr lang="en-US" sz="1600" i="1" dirty="0">
                <a:latin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</a:rPr>
              <a:t> = </a:t>
            </a:r>
            <a:r>
              <a:rPr lang="en-US" sz="1600" i="1" dirty="0">
                <a:latin typeface="Times New Roman" panose="02020603050405020304" pitchFamily="18" charset="0"/>
              </a:rPr>
              <a:t>C</a:t>
            </a:r>
            <a:r>
              <a:rPr lang="en-US" sz="1600" dirty="0">
                <a:latin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</a:rPr>
              <a:t>dv</a:t>
            </a:r>
            <a:r>
              <a:rPr lang="en-US" sz="1600" dirty="0">
                <a:latin typeface="Times New Roman" panose="02020603050405020304" pitchFamily="18" charset="0"/>
              </a:rPr>
              <a:t>/</a:t>
            </a:r>
            <a:r>
              <a:rPr lang="en-US" sz="1600" i="1" dirty="0" err="1">
                <a:latin typeface="Times New Roman" panose="02020603050405020304" pitchFamily="18" charset="0"/>
              </a:rPr>
              <a:t>dt</a:t>
            </a:r>
            <a:r>
              <a:rPr lang="en-US" sz="1600" dirty="0">
                <a:latin typeface="Times New Roman" panose="02020603050405020304" pitchFamily="18" charset="0"/>
              </a:rPr>
              <a:t> = 0 </a:t>
            </a:r>
          </a:p>
          <a:p>
            <a:pPr marL="457200" indent="-457200"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	Thus, </a:t>
            </a: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a capacitor is an open circuit to dc</a:t>
            </a:r>
            <a:r>
              <a:rPr lang="en-US" sz="1600" b="1" dirty="0">
                <a:latin typeface="Times New Roman" panose="02020603050405020304" pitchFamily="18" charset="0"/>
              </a:rPr>
              <a:t>.</a:t>
            </a:r>
            <a:r>
              <a:rPr lang="en-US" sz="1600" dirty="0">
                <a:latin typeface="Times New Roman" panose="02020603050405020304" pitchFamily="18" charset="0"/>
              </a:rPr>
              <a:t> </a:t>
            </a:r>
          </a:p>
          <a:p>
            <a:pPr marL="457200" indent="-457200"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      If, however, a dc voltage is suddenly connected across a capacitor,</a:t>
            </a:r>
          </a:p>
          <a:p>
            <a:pPr marL="457200" indent="-457200"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	 the capacitor begins to charge (store energy).</a:t>
            </a:r>
          </a:p>
          <a:p>
            <a:pPr marL="457200" indent="-457200">
              <a:tabLst>
                <a:tab pos="304800" algn="l"/>
              </a:tabLst>
            </a:pPr>
            <a:endParaRPr lang="en-US" sz="1600" dirty="0">
              <a:latin typeface="Times New Roman" panose="02020603050405020304" pitchFamily="18" charset="0"/>
            </a:endParaRPr>
          </a:p>
          <a:p>
            <a:pPr marL="457200" indent="-457200">
              <a:buFontTx/>
              <a:buAutoNum type="arabicPeriod"/>
              <a:tabLst>
                <a:tab pos="304800" algn="l"/>
              </a:tabLst>
            </a:pPr>
            <a:endParaRPr lang="en-US" sz="1600" dirty="0">
              <a:latin typeface="Times New Roman" panose="02020603050405020304" pitchFamily="18" charset="0"/>
            </a:endParaRPr>
          </a:p>
          <a:p>
            <a:pPr marL="342900" indent="-342900">
              <a:buAutoNum type="arabicPeriod" startAt="2"/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The voltage across a capacitor must be continuous, since a jump </a:t>
            </a:r>
          </a:p>
          <a:p>
            <a:pPr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	(a discontinuity) change in the voltage would require an infinite current,</a:t>
            </a:r>
          </a:p>
          <a:p>
            <a:pPr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 	which is physically impossible. Thus, a capacitor resists an abrupt</a:t>
            </a:r>
          </a:p>
          <a:p>
            <a:pPr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	change in the voltage across it, Conversely </a:t>
            </a:r>
          </a:p>
          <a:p>
            <a:pPr>
              <a:tabLst>
                <a:tab pos="304800" algn="l"/>
              </a:tabLst>
            </a:pPr>
            <a:r>
              <a:rPr lang="en-US" sz="1600" dirty="0">
                <a:latin typeface="Times New Roman" panose="02020603050405020304" pitchFamily="18" charset="0"/>
              </a:rPr>
              <a:t>	 </a:t>
            </a:r>
          </a:p>
          <a:p>
            <a:pPr>
              <a:tabLst>
                <a:tab pos="304800" algn="l"/>
              </a:tabLst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tabLst>
                <a:tab pos="304800" algn="l"/>
              </a:tabLst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The voltage across a capacitor cannot change instantaneously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" name="Picture 28">
            <a:extLst>
              <a:ext uri="{FF2B5EF4-FFF2-40B4-BE49-F238E27FC236}">
                <a16:creationId xmlns:a16="http://schemas.microsoft.com/office/drawing/2014/main" id="{9698F75D-70B2-45F5-92D8-CA55784D3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259" y="1921190"/>
            <a:ext cx="22098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EA2174F-B33E-4B54-94C5-AAD97AEB0829}"/>
              </a:ext>
            </a:extLst>
          </p:cNvPr>
          <p:cNvSpPr/>
          <p:nvPr/>
        </p:nvSpPr>
        <p:spPr>
          <a:xfrm>
            <a:off x="235487" y="73536"/>
            <a:ext cx="2305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 Properties </a:t>
            </a:r>
          </a:p>
        </p:txBody>
      </p:sp>
    </p:spTree>
    <p:extLst>
      <p:ext uri="{BB962C8B-B14F-4D97-AF65-F5344CB8AC3E}">
        <p14:creationId xmlns:p14="http://schemas.microsoft.com/office/powerpoint/2010/main" val="1345189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Properties of Capacitors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05354F-7586-448B-9C39-85072FCA87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5111028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capacitors all have these characteristics: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voltage is not changing, the current through the cap is zero.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with DC applied to the terminals no current will flow.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voltage on the capacitor’s plates can’t change instantaneously.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abrupt change in voltage would require an infinite current!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if the voltage on the cap does not equal the applied voltage, charge will flow and the voltage will finally reach the applied voltage.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521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03B1-F068-430F-B79D-E90C350E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Properties of Capacitors </a:t>
            </a:r>
            <a:r>
              <a:rPr lang="en-US" altLang="en-US" sz="1000" b="0" noProof="0" dirty="0"/>
              <a:t>2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99A4-7C6E-406A-968B-9FDECDBBD2F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capacitor does not dissipate energy, meaning stored energy may be retrieved later.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 capacitor has a parallel-model leakage resistance, leading to a slow loss of the stored energy internally.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resistance is typically very high, on the order of 100 MΩ and thus can be ignored for many circuit applications.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762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1">
            <a:extLst>
              <a:ext uri="{FF2B5EF4-FFF2-40B4-BE49-F238E27FC236}">
                <a16:creationId xmlns:a16="http://schemas.microsoft.com/office/drawing/2014/main" id="{8C37C8CC-23BF-41DF-BA79-DE0B1DA3E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304800"/>
            <a:ext cx="85534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5714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5">
            <a:extLst>
              <a:ext uri="{FF2B5EF4-FFF2-40B4-BE49-F238E27FC236}">
                <a16:creationId xmlns:a16="http://schemas.microsoft.com/office/drawing/2014/main" id="{EFDAA640-761F-4ED9-8964-DF1C4DB5C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739140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2266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0">
            <a:extLst>
              <a:ext uri="{FF2B5EF4-FFF2-40B4-BE49-F238E27FC236}">
                <a16:creationId xmlns:a16="http://schemas.microsoft.com/office/drawing/2014/main" id="{71EA6332-CF10-4AE3-821E-2A0EE4473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381000"/>
            <a:ext cx="8448676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8273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C487AC6-C504-45D8-B335-A5068D5D43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457200"/>
          <a:ext cx="8229600" cy="405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323810" imgH="3610479" progId="Paint.Picture">
                  <p:embed/>
                </p:oleObj>
              </mc:Choice>
              <mc:Fallback>
                <p:oleObj name="Bitmap Image" r:id="rId2" imgW="7323810" imgH="3610479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CC487AC6-C504-45D8-B335-A5068D5D43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7200"/>
                        <a:ext cx="8229600" cy="405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2619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191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A7B46A41-7A09-4248-BE25-477688F35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762000"/>
          <a:ext cx="8085138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980952" imgH="4466667" progId="Paint.Picture">
                  <p:embed/>
                </p:oleObj>
              </mc:Choice>
              <mc:Fallback>
                <p:oleObj name="Bitmap Image" r:id="rId2" imgW="7980952" imgH="4466667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A7B46A41-7A09-4248-BE25-477688F35C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762000"/>
                        <a:ext cx="8085138" cy="452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4149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849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409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890ADE53-8D24-4029-B61D-4FEA809FA5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533400"/>
          <a:ext cx="7780338" cy="505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171429" imgH="4753639" progId="Paint.Picture">
                  <p:embed/>
                </p:oleObj>
              </mc:Choice>
              <mc:Fallback>
                <p:oleObj name="Bitmap Image" r:id="rId2" imgW="8171429" imgH="4753639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890ADE53-8D24-4029-B61D-4FEA809FA5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3400"/>
                        <a:ext cx="7780338" cy="5059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8090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386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581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D5FD-4B60-4DD6-A0B9-ABDD2EE9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Parallel Capacitors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AB1FD-4095-4AE3-A72C-59F9E23762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876800" cy="3700240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learned with resistors that applying the equivalent series and parallel combinations can simply many circuits.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with </a:t>
            </a:r>
            <a:r>
              <a:rPr lang="en-US" altLang="en-US" sz="24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 capacitors, one can note that the voltages on all the caps are the same.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L: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7C835B2-3B39-4522-8618-5738D0BA5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106" y="1659980"/>
            <a:ext cx="3378994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047A73C-29C1-4127-98D2-6D4A50F3B7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66120"/>
              </p:ext>
            </p:extLst>
          </p:nvPr>
        </p:nvGraphicFramePr>
        <p:xfrm>
          <a:off x="1125855" y="5270249"/>
          <a:ext cx="331089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09900" imgH="523994" progId="Equation.DSMT4">
                  <p:embed/>
                </p:oleObj>
              </mc:Choice>
              <mc:Fallback>
                <p:oleObj name="Equation" r:id="rId3" imgW="3009900" imgH="523994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047A73C-29C1-4127-98D2-6D4A50F3B7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5855" y="5270249"/>
                        <a:ext cx="3310890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4402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Parallel Capacitors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930913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into consideration the current voltage relationship of each capacitor: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B179B33-AFCF-4967-AEF6-27CBFBA26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917663"/>
              </p:ext>
            </p:extLst>
          </p:nvPr>
        </p:nvGraphicFramePr>
        <p:xfrm>
          <a:off x="1352550" y="2336069"/>
          <a:ext cx="4530700" cy="767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393480" progId="Equation.DSMT4">
                  <p:embed/>
                </p:oleObj>
              </mc:Choice>
              <mc:Fallback>
                <p:oleObj name="Equation" r:id="rId2" imgW="2323800" imgH="3934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B179B33-AFCF-4967-AEF6-27CBFBA264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52550" y="2336069"/>
                        <a:ext cx="4530700" cy="767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8DF08EEF-AF3B-4CD2-ADBD-B682EDA9D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526133"/>
              </p:ext>
            </p:extLst>
          </p:nvPr>
        </p:nvGraphicFramePr>
        <p:xfrm>
          <a:off x="1581965" y="3213739"/>
          <a:ext cx="2474871" cy="809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457200" progId="Equation.DSMT4">
                  <p:embed/>
                </p:oleObj>
              </mc:Choice>
              <mc:Fallback>
                <p:oleObj name="Equation" r:id="rId4" imgW="1396800" imgH="4572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8DF08EEF-AF3B-4CD2-ADBD-B682EDA9D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1965" y="3213739"/>
                        <a:ext cx="2474871" cy="8099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152143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Where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672EC67-F31A-42E5-B2D1-6EE38530C7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531132"/>
              </p:ext>
            </p:extLst>
          </p:nvPr>
        </p:nvGraphicFramePr>
        <p:xfrm>
          <a:off x="1352550" y="4739638"/>
          <a:ext cx="32194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19450" imgH="447556" progId="Equation.DSMT4">
                  <p:embed/>
                </p:oleObj>
              </mc:Choice>
              <mc:Fallback>
                <p:oleObj name="Equation" r:id="rId6" imgW="3219450" imgH="447556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2672EC67-F31A-42E5-B2D1-6EE38530C7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52550" y="4739638"/>
                        <a:ext cx="3219450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315759"/>
            <a:ext cx="8458200" cy="91522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find that parallel capacitors combine as the sum of all capacitance.</a:t>
            </a:r>
          </a:p>
        </p:txBody>
      </p:sp>
    </p:spTree>
    <p:extLst>
      <p:ext uri="{BB962C8B-B14F-4D97-AF65-F5344CB8AC3E}">
        <p14:creationId xmlns:p14="http://schemas.microsoft.com/office/powerpoint/2010/main" val="2639140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Series Capacitors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899" y="1276710"/>
            <a:ext cx="4426453" cy="258989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Turning our attention to a series arrangement of capacitors: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each capacitor shares the same current.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to the loop: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9CEE8AB6-954C-4F43-9067-6AC18B7287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582878"/>
              </p:ext>
            </p:extLst>
          </p:nvPr>
        </p:nvGraphicFramePr>
        <p:xfrm>
          <a:off x="785812" y="4081463"/>
          <a:ext cx="33432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3275" imgH="523994" progId="Equation.DSMT4">
                  <p:embed/>
                </p:oleObj>
              </mc:Choice>
              <mc:Fallback>
                <p:oleObj name="Equation" r:id="rId2" imgW="3343275" imgH="523994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9CEE8AB6-954C-4F43-9067-6AC18B7287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5812" y="4081463"/>
                        <a:ext cx="33432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11350DD-E3ED-46A3-8BC3-822B904A6D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8705" y="5274107"/>
            <a:ext cx="6847310" cy="904786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apply the voltage current relationship.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F259BA8B-7182-4A03-8347-132C72152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15" y="1433533"/>
            <a:ext cx="3655424" cy="391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0609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Series Capacitors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B7F11C2-95C9-44F6-B3FC-540BB04C0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081324"/>
              </p:ext>
            </p:extLst>
          </p:nvPr>
        </p:nvGraphicFramePr>
        <p:xfrm>
          <a:off x="286066" y="1282901"/>
          <a:ext cx="8571867" cy="725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54680" imgH="495000" progId="Equation.DSMT4">
                  <p:embed/>
                </p:oleObj>
              </mc:Choice>
              <mc:Fallback>
                <p:oleObj name="Equation" r:id="rId2" imgW="5854680" imgH="4950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DB7F11C2-95C9-44F6-B3FC-540BB04C0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6066" y="1282901"/>
                        <a:ext cx="8571867" cy="725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B179B33-AFCF-4967-AEF6-27CBFBA26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498930"/>
              </p:ext>
            </p:extLst>
          </p:nvPr>
        </p:nvGraphicFramePr>
        <p:xfrm>
          <a:off x="454155" y="2201830"/>
          <a:ext cx="6641023" cy="725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33840" imgH="495000" progId="Equation.DSMT4">
                  <p:embed/>
                </p:oleObj>
              </mc:Choice>
              <mc:Fallback>
                <p:oleObj name="Equation" r:id="rId4" imgW="4533840" imgH="4950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B179B33-AFCF-4967-AEF6-27CBFBA264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4155" y="2201830"/>
                        <a:ext cx="6641023" cy="725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8DF08EEF-AF3B-4CD2-ADBD-B682EDA9D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567153"/>
              </p:ext>
            </p:extLst>
          </p:nvPr>
        </p:nvGraphicFramePr>
        <p:xfrm>
          <a:off x="487047" y="3105055"/>
          <a:ext cx="2208068" cy="798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495000" progId="Equation.DSMT4">
                  <p:embed/>
                </p:oleObj>
              </mc:Choice>
              <mc:Fallback>
                <p:oleObj name="Equation" r:id="rId6" imgW="1371600" imgH="4950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8DF08EEF-AF3B-4CD2-ADBD-B682EDA9D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7047" y="3105055"/>
                        <a:ext cx="2208068" cy="798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034576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Where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47268B6-5EE6-4AA3-AC72-E6C8986FF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170794"/>
              </p:ext>
            </p:extLst>
          </p:nvPr>
        </p:nvGraphicFramePr>
        <p:xfrm>
          <a:off x="664073" y="4564019"/>
          <a:ext cx="2766060" cy="660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4600" imgH="600075" progId="Equation.DSMT4">
                  <p:embed/>
                </p:oleObj>
              </mc:Choice>
              <mc:Fallback>
                <p:oleObj name="Equation" r:id="rId8" imgW="2514600" imgH="600075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447268B6-5EE6-4AA3-AC72-E6C8986FFC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4073" y="4564019"/>
                        <a:ext cx="2766060" cy="6600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315758"/>
            <a:ext cx="8458200" cy="123744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see that the series combination of capacitors resembles the parallel combination of resistors.</a:t>
            </a:r>
          </a:p>
        </p:txBody>
      </p:sp>
    </p:spTree>
    <p:extLst>
      <p:ext uri="{BB962C8B-B14F-4D97-AF65-F5344CB8AC3E}">
        <p14:creationId xmlns:p14="http://schemas.microsoft.com/office/powerpoint/2010/main" val="4216336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44D7FD2-D669-4322-964B-0B158BF0FE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7598" y="190774"/>
            <a:ext cx="7867786" cy="370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59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8A5ADCCE-EE18-4E1B-B43D-6A3D2F48E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533400"/>
          <a:ext cx="82296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504762" imgH="3877216" progId="Paint.Picture">
                  <p:embed/>
                </p:oleObj>
              </mc:Choice>
              <mc:Fallback>
                <p:oleObj name="Bitmap Image" r:id="rId2" imgW="7504762" imgH="3877216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8A5ADCCE-EE18-4E1B-B43D-6A3D2F48E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3400"/>
                        <a:ext cx="8229600" cy="45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0121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399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03B1-F068-430F-B79D-E90C350E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Series and Parallel Caps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99A4-7C6E-406A-968B-9FDECDBBD2F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39257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way to think about the combinations of capacitors is this: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capacitors in parallel is equivalent to increasing the surface area of the capacitors: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would lead to an increased overall capacitance (as is observed).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series combination can be seen as increasing the total plate separation.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would result in a decrease in capacitance (as is observed).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950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03B1-F068-430F-B79D-E90C350E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Inductors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99A4-7C6E-406A-968B-9FDECDBBD2F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229100" cy="4654191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inductor is a passive element that stores energy in its magnetic field.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applications in power supplies, transformers, radios, TVs, radars, and electric motors.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conductor has inductance, but the effect is typically enhanced by coiling the wire up.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C21ACBF-63DA-40F7-BFBB-B484B1E53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439" y="1194076"/>
            <a:ext cx="3520965" cy="5080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8021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Inductors </a:t>
            </a:r>
            <a:r>
              <a:rPr lang="en-US" altLang="en-US" sz="1000" b="0" noProof="0" dirty="0"/>
              <a:t>2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1388114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current is passed through an inductor, the voltage across it is directly proportional to the time rate of change in current.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E575EEC-FD0D-433C-AC85-E20CA7DFC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042926"/>
              </p:ext>
            </p:extLst>
          </p:nvPr>
        </p:nvGraphicFramePr>
        <p:xfrm>
          <a:off x="848678" y="2734178"/>
          <a:ext cx="12287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28725" imgH="904756" progId="Equation.DSMT4">
                  <p:embed/>
                </p:oleObj>
              </mc:Choice>
              <mc:Fallback>
                <p:oleObj name="Equation" r:id="rId3" imgW="1228725" imgH="904756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E575EEC-FD0D-433C-AC85-E20CA7DFCA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8678" y="2734178"/>
                        <a:ext cx="1228725" cy="90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708409"/>
            <a:ext cx="8458200" cy="250951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 unit of inductance, measured in Henries,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Henry is 1 volt-second per ampere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developed tends to oppose a changing flow of current.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5801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Inductors </a:t>
            </a:r>
            <a:r>
              <a:rPr lang="en-US" altLang="en-US" sz="1000" b="0" noProof="0" dirty="0"/>
              <a:t>3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333603" cy="1675497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the inductance depends on the geometry: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for a solenoid the inductance is: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46CEFA6-7D63-405C-848C-17F559F4A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168259"/>
              </p:ext>
            </p:extLst>
          </p:nvPr>
        </p:nvGraphicFramePr>
        <p:xfrm>
          <a:off x="879893" y="3094703"/>
          <a:ext cx="1282991" cy="767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300" imgH="523994" progId="Equation.DSMT4">
                  <p:embed/>
                </p:oleObj>
              </mc:Choice>
              <mc:Fallback>
                <p:oleObj name="Equation" r:id="rId3" imgW="876300" imgH="523994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46CEFA6-7D63-405C-848C-17F559F4A0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9893" y="3094703"/>
                        <a:ext cx="1282991" cy="7670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997236"/>
            <a:ext cx="5143500" cy="2416634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 is the number of turns of the wire around the core of cross sectional area A and length </a:t>
            </a:r>
            <a:r>
              <a:rPr lang="en-US" altLang="en-US" sz="24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material used for the core has a magnetic property called the permeability, </a:t>
            </a:r>
            <a:r>
              <a:rPr lang="en-US" altLang="en-US" sz="24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5269E2D0-1F19-4851-90F5-77DF319CA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434" y="1501658"/>
            <a:ext cx="3845592" cy="2289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92384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7597F048-09AE-4D3B-BEF7-1A4106847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1371600"/>
            <a:ext cx="64389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874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Current in an Inductor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33127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voltage relationship for an inductor is: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7A2AC2C-4AD1-4F6B-8473-4232D24AE5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248277"/>
              </p:ext>
            </p:extLst>
          </p:nvPr>
        </p:nvGraphicFramePr>
        <p:xfrm>
          <a:off x="1209567" y="1882192"/>
          <a:ext cx="2858262" cy="1048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2200" imgH="866894" progId="Equation.DSMT4">
                  <p:embed/>
                </p:oleObj>
              </mc:Choice>
              <mc:Fallback>
                <p:oleObj name="Equation" r:id="rId2" imgW="2362200" imgH="866894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A7A2AC2C-4AD1-4F6B-8473-4232D24AE5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09567" y="1882192"/>
                        <a:ext cx="2858262" cy="10487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103345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delivered to the inductor is: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B4A5980-6AB3-45E6-A039-A293B67D79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718096"/>
              </p:ext>
            </p:extLst>
          </p:nvPr>
        </p:nvGraphicFramePr>
        <p:xfrm>
          <a:off x="1209567" y="3712890"/>
          <a:ext cx="2193256" cy="900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7825" imgH="676156" progId="Equation.DSMT4">
                  <p:embed/>
                </p:oleObj>
              </mc:Choice>
              <mc:Fallback>
                <p:oleObj name="Equation" r:id="rId4" imgW="1647825" imgH="676156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B4A5980-6AB3-45E6-A039-A293B67D79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09567" y="3712890"/>
                        <a:ext cx="2193256" cy="9001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784543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energy stored is: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EE31FB4-D566-4DC0-A995-141EADF5A5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875536"/>
              </p:ext>
            </p:extLst>
          </p:nvPr>
        </p:nvGraphicFramePr>
        <p:xfrm>
          <a:off x="1209567" y="5443158"/>
          <a:ext cx="1288733" cy="827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71575" imgH="752594" progId="Equation.DSMT4">
                  <p:embed/>
                </p:oleObj>
              </mc:Choice>
              <mc:Fallback>
                <p:oleObj name="Equation" r:id="rId6" imgW="1171575" imgH="752594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EE31FB4-D566-4DC0-A995-141EADF5A5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09567" y="5443158"/>
                        <a:ext cx="1288733" cy="8277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0034AA4-EBCF-402A-A946-F971E5B466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87780"/>
              </p:ext>
            </p:extLst>
          </p:nvPr>
        </p:nvGraphicFramePr>
        <p:xfrm>
          <a:off x="6001709" y="2059272"/>
          <a:ext cx="1481138" cy="69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7836" imgH="393529" progId="Equation.DSMT4">
                  <p:embed/>
                </p:oleObj>
              </mc:Choice>
              <mc:Fallback>
                <p:oleObj name="Equation" r:id="rId8" imgW="837836" imgH="393529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0034AA4-EBCF-402A-A946-F971E5B46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1709" y="2059272"/>
                        <a:ext cx="1481138" cy="69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111C485-B697-4107-99E1-059593DDC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975136"/>
              </p:ext>
            </p:extLst>
          </p:nvPr>
        </p:nvGraphicFramePr>
        <p:xfrm>
          <a:off x="7615991" y="1241298"/>
          <a:ext cx="1481138" cy="229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640385" imgH="992429" progId="Visio.Drawing.6">
                  <p:embed/>
                </p:oleObj>
              </mc:Choice>
              <mc:Fallback>
                <p:oleObj name="Visio" r:id="rId10" imgW="640385" imgH="992429" progId="Visio.Drawing.6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E111C485-B697-4107-99E1-059593DDCC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5991" y="1241298"/>
                        <a:ext cx="1481138" cy="229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953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711AD00-528C-4BF4-A2DF-B6AB74971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31260" y="-17543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Current and Voltage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A2CB210-7F9A-45C0-80D9-7438DF68B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" y="5304522"/>
            <a:ext cx="87137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where </a:t>
            </a:r>
            <a:r>
              <a:rPr lang="en-US" i="1" dirty="0">
                <a:latin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</a:rPr>
              <a:t>t</a:t>
            </a:r>
            <a:r>
              <a:rPr lang="en-US" baseline="-25000" dirty="0">
                <a:latin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</a:rPr>
              <a:t>) = the total current evaluated at </a:t>
            </a:r>
            <a:r>
              <a:rPr lang="en-US" i="1" dirty="0">
                <a:latin typeface="Times New Roman" panose="02020603050405020304" pitchFamily="18" charset="0"/>
              </a:rPr>
              <a:t>t</a:t>
            </a:r>
            <a:r>
              <a:rPr lang="en-US" baseline="-25000" dirty="0">
                <a:latin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sym typeface="Symbol" pitchFamily="18" charset="2"/>
              </a:rPr>
              <a:t></a:t>
            </a:r>
            <a:r>
              <a:rPr lang="en-US" dirty="0">
                <a:latin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sym typeface="Symbol" pitchFamily="18" charset="2"/>
              </a:rPr>
              <a:t></a:t>
            </a:r>
            <a:r>
              <a:rPr lang="en-US" dirty="0">
                <a:latin typeface="Times New Roman" panose="02020603050405020304" pitchFamily="18" charset="0"/>
              </a:rPr>
              <a:t> 0 (which is reasonable since at some time there was no  current in the inductor). </a:t>
            </a:r>
          </a:p>
        </p:txBody>
      </p:sp>
      <p:graphicFrame>
        <p:nvGraphicFramePr>
          <p:cNvPr id="6" name="Object 12">
            <a:extLst>
              <a:ext uri="{FF2B5EF4-FFF2-40B4-BE49-F238E27FC236}">
                <a16:creationId xmlns:a16="http://schemas.microsoft.com/office/drawing/2014/main" id="{B64F160F-83CB-45DA-957E-C479FD9217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138447"/>
              </p:ext>
            </p:extLst>
          </p:nvPr>
        </p:nvGraphicFramePr>
        <p:xfrm>
          <a:off x="655241" y="747811"/>
          <a:ext cx="1737518" cy="814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393480" progId="Equation.DSMT4">
                  <p:embed/>
                </p:oleObj>
              </mc:Choice>
              <mc:Fallback>
                <p:oleObj name="Equation" r:id="rId2" imgW="838080" imgH="393480" progId="Equation.DSMT4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B64F160F-83CB-45DA-957E-C479FD9217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241" y="747811"/>
                        <a:ext cx="1737518" cy="814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>
            <a:extLst>
              <a:ext uri="{FF2B5EF4-FFF2-40B4-BE49-F238E27FC236}">
                <a16:creationId xmlns:a16="http://schemas.microsoft.com/office/drawing/2014/main" id="{03AED0AF-A605-484C-B0EB-7EFB90FB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1547072"/>
            <a:ext cx="17589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3D5CE1-5F7F-4468-BCEA-65E824A25959}"/>
              </a:ext>
            </a:extLst>
          </p:cNvPr>
          <p:cNvSpPr txBox="1"/>
          <p:nvPr/>
        </p:nvSpPr>
        <p:spPr>
          <a:xfrm>
            <a:off x="508183" y="2606711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Integrating gives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DB6F7BBF-0DB2-4245-8F9F-5A3FCDAF3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586" y="1028029"/>
            <a:ext cx="1371601" cy="310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BCF2B71A-C266-417C-BDC0-811DF91A4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2980031"/>
            <a:ext cx="235267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F017F6-E631-409B-B4C9-BC1C34090B04}"/>
              </a:ext>
            </a:extLst>
          </p:cNvPr>
          <p:cNvSpPr txBox="1"/>
          <p:nvPr/>
        </p:nvSpPr>
        <p:spPr>
          <a:xfrm>
            <a:off x="941387" y="3893102"/>
            <a:ext cx="79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Or 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753E4C46-144E-4795-9A34-FE1516270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39" y="4243140"/>
            <a:ext cx="30480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86E8984A-DD22-463F-8E00-08461F34A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063" y="2298060"/>
            <a:ext cx="3302343" cy="2261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16838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FA71-AB0B-4A24-8794-162ED155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Properties of Inductors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E0CEB-B59F-44D1-8F1A-CA9C464E36D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current through an inductor is constant, the voltage across it is zero.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an inductor acts like a short for DC.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through an inductor cannot change instantaneously.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this did happen, the voltage across the inductor would be infinity!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important consideration if an inductor is to be turned off abruptly; it will produce a high voltage.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1223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FA71-AB0B-4A24-8794-162ED155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Properties of Inductors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E0CEB-B59F-44D1-8F1A-CA9C464E36D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the ideal capacitor, the ideal inductor does not dissipate energy stored in 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stored will be returned to the circuit later.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reality, inductors do have internal resistance due to the wiring used to make them.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 inductor thus has a winding resistance in series with it.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also a small winding capacitance due to the closeness of the windings.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two characteristics are typically small, though at high frequencies, the capacitance may matter.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03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344488" y="1488559"/>
            <a:ext cx="50193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The instantaneous power delivered to an inductor is </a:t>
            </a: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871538" y="3789363"/>
          <a:ext cx="7085012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393480" progId="Equation.DSMT4">
                  <p:embed/>
                </p:oleObj>
              </mc:Choice>
              <mc:Fallback>
                <p:oleObj name="Equation" r:id="rId2" imgW="2412720" imgH="393480" progId="Equation.DSMT4">
                  <p:embed/>
                  <p:pic>
                    <p:nvPicPr>
                      <p:cNvPr id="1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3789363"/>
                        <a:ext cx="7085012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1325563" y="2005013"/>
          <a:ext cx="2941637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393480" progId="Equation.DSMT4">
                  <p:embed/>
                </p:oleObj>
              </mc:Choice>
              <mc:Fallback>
                <p:oleObj name="Equation" r:id="rId4" imgW="1028520" imgH="393480" progId="Equation.DSMT4">
                  <p:embed/>
                  <p:pic>
                    <p:nvPicPr>
                      <p:cNvPr id="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2005013"/>
                        <a:ext cx="2941637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425450" y="3371076"/>
            <a:ext cx="427905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The energy stored in the magnetic field is thus</a:t>
            </a:r>
          </a:p>
          <a:p>
            <a:pPr eaLnBrk="0" hangingPunct="0"/>
            <a:endParaRPr 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838200" y="4953000"/>
          <a:ext cx="425291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560" imgH="393480" progId="Equation.DSMT4">
                  <p:embed/>
                </p:oleObj>
              </mc:Choice>
              <mc:Fallback>
                <p:oleObj name="Equation" r:id="rId6" imgW="1447560" imgH="393480" progId="Equation.DSMT4">
                  <p:embed/>
                  <p:pic>
                    <p:nvPicPr>
                      <p:cNvPr id="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953000"/>
                        <a:ext cx="4252913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77C4AF5-1AD0-4394-AEED-62C16863EB75}"/>
              </a:ext>
            </a:extLst>
          </p:cNvPr>
          <p:cNvSpPr/>
          <p:nvPr/>
        </p:nvSpPr>
        <p:spPr>
          <a:xfrm>
            <a:off x="215569" y="63500"/>
            <a:ext cx="3198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Storage in an Inductor</a:t>
            </a:r>
          </a:p>
        </p:txBody>
      </p:sp>
    </p:spTree>
    <p:extLst>
      <p:ext uri="{BB962C8B-B14F-4D97-AF65-F5344CB8AC3E}">
        <p14:creationId xmlns:p14="http://schemas.microsoft.com/office/powerpoint/2010/main" val="130928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41769" y="917408"/>
            <a:ext cx="8961437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 algn="ctr">
              <a:tabLst>
                <a:tab pos="304800" algn="l"/>
              </a:tabLst>
            </a:pPr>
            <a:r>
              <a:rPr lang="en-US" sz="2800" b="1" dirty="0">
                <a:latin typeface="Times New Roman" panose="02020603050405020304" pitchFamily="18" charset="0"/>
              </a:rPr>
              <a:t>An inductor has the following important properties:</a:t>
            </a:r>
          </a:p>
          <a:p>
            <a:pPr marL="457200" indent="-457200">
              <a:tabLst>
                <a:tab pos="304800" algn="l"/>
              </a:tabLst>
            </a:pPr>
            <a:endParaRPr lang="en-US" sz="2800" b="1" dirty="0">
              <a:latin typeface="Times New Roman" panose="02020603050405020304" pitchFamily="18" charset="0"/>
            </a:endParaRPr>
          </a:p>
          <a:p>
            <a:pPr marL="914400" lvl="1" indent="-457200">
              <a:buFontTx/>
              <a:buAutoNum type="arabicPeriod"/>
              <a:tabLst>
                <a:tab pos="3048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An inductor acts like a short circuit to dc</a:t>
            </a:r>
            <a:r>
              <a:rPr lang="en-US" dirty="0">
                <a:latin typeface="Times New Roman" panose="02020603050405020304" pitchFamily="18" charset="0"/>
              </a:rPr>
              <a:t>, since from</a:t>
            </a:r>
          </a:p>
          <a:p>
            <a:pPr marL="914400" lvl="1" indent="-457200">
              <a:buFontTx/>
              <a:buAutoNum type="arabicPeriod"/>
              <a:tabLst>
                <a:tab pos="304800" algn="l"/>
              </a:tabLst>
            </a:pPr>
            <a:endParaRPr lang="en-US" dirty="0">
              <a:latin typeface="Times New Roman" panose="02020603050405020304" pitchFamily="18" charset="0"/>
            </a:endParaRPr>
          </a:p>
          <a:p>
            <a:pPr marL="914400" lvl="1" indent="-457200">
              <a:buFontTx/>
              <a:buAutoNum type="arabicPeriod"/>
              <a:tabLst>
                <a:tab pos="304800" algn="l"/>
              </a:tabLst>
            </a:pPr>
            <a:endParaRPr lang="en-US" dirty="0">
              <a:latin typeface="Times New Roman" panose="02020603050405020304" pitchFamily="18" charset="0"/>
            </a:endParaRPr>
          </a:p>
          <a:p>
            <a:pPr marL="914400" lvl="1" indent="-457200">
              <a:tabLst>
                <a:tab pos="304800" algn="l"/>
              </a:tabLst>
            </a:pPr>
            <a:endParaRPr lang="en-US" dirty="0">
              <a:latin typeface="Times New Roman" panose="02020603050405020304" pitchFamily="18" charset="0"/>
            </a:endParaRPr>
          </a:p>
          <a:p>
            <a:pPr marL="914400" lvl="1" indent="-457200">
              <a:tabLst>
                <a:tab pos="304800" algn="l"/>
              </a:tabLst>
            </a:pPr>
            <a:endParaRPr lang="en-US" dirty="0">
              <a:latin typeface="Times New Roman" panose="02020603050405020304" pitchFamily="18" charset="0"/>
            </a:endParaRPr>
          </a:p>
          <a:p>
            <a:pPr marL="914400" lvl="1" indent="-457200">
              <a:tabLst>
                <a:tab pos="3048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    </a:t>
            </a:r>
          </a:p>
          <a:p>
            <a:pPr marL="914400" lvl="1" indent="-457200">
              <a:tabLst>
                <a:tab pos="304800" algn="l"/>
              </a:tabLst>
            </a:pPr>
            <a:r>
              <a:rPr lang="en-US" i="1" dirty="0">
                <a:latin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</a:rPr>
              <a:t> = 0 when </a:t>
            </a:r>
            <a:r>
              <a:rPr lang="en-US" i="1" dirty="0">
                <a:latin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</a:rPr>
              <a:t> = a constant.</a:t>
            </a:r>
          </a:p>
          <a:p>
            <a:pPr marL="914400" lvl="1" indent="-457200">
              <a:tabLst>
                <a:tab pos="304800" algn="l"/>
              </a:tabLst>
            </a:pPr>
            <a:endParaRPr lang="en-US" dirty="0">
              <a:latin typeface="Times New Roman" panose="02020603050405020304" pitchFamily="18" charset="0"/>
            </a:endParaRPr>
          </a:p>
          <a:p>
            <a:pPr marL="914400" lvl="1" indent="-457200">
              <a:tabLst>
                <a:tab pos="304800" algn="l"/>
              </a:tabLst>
            </a:pPr>
            <a:endParaRPr lang="en-US" dirty="0">
              <a:latin typeface="Times New Roman" panose="02020603050405020304" pitchFamily="18" charset="0"/>
            </a:endParaRPr>
          </a:p>
          <a:p>
            <a:pPr marL="914400" lvl="1" indent="-457200">
              <a:tabLst>
                <a:tab pos="304800" algn="l"/>
              </a:tabLst>
            </a:pPr>
            <a:endParaRPr lang="en-US" dirty="0">
              <a:latin typeface="Times New Roman" panose="02020603050405020304" pitchFamily="18" charset="0"/>
            </a:endParaRPr>
          </a:p>
          <a:p>
            <a:pPr marL="914400" lvl="1" indent="-457200">
              <a:tabLst>
                <a:tab pos="304800" algn="l"/>
              </a:tabLst>
            </a:pPr>
            <a:endParaRPr lang="en-US" dirty="0">
              <a:latin typeface="Times New Roman" panose="02020603050405020304" pitchFamily="18" charset="0"/>
            </a:endParaRPr>
          </a:p>
          <a:p>
            <a:pPr>
              <a:tabLst>
                <a:tab pos="304800" algn="l"/>
              </a:tabLs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tabLst>
                <a:tab pos="304800" algn="l"/>
              </a:tabLst>
            </a:pPr>
            <a:endParaRPr lang="en-US" b="1" dirty="0">
              <a:latin typeface="Times New Roman" panose="02020603050405020304" pitchFamily="18" charset="0"/>
            </a:endParaRPr>
          </a:p>
          <a:p>
            <a:pPr marL="457200" indent="-457200">
              <a:buAutoNum type="arabicPeriod" startAt="2"/>
              <a:tabLst>
                <a:tab pos="304800" algn="l"/>
              </a:tabLst>
            </a:pPr>
            <a:r>
              <a:rPr lang="en-US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 current through an inductor cannot change  instantaneously</a:t>
            </a:r>
            <a:r>
              <a:rPr lang="en-US" dirty="0">
                <a:latin typeface="Times New Roman" panose="02020603050405020304" pitchFamily="18" charset="0"/>
              </a:rPr>
              <a:t>, since an instantaneous</a:t>
            </a:r>
          </a:p>
          <a:p>
            <a:pPr>
              <a:tabLst>
                <a:tab pos="304800" algn="l"/>
              </a:tabLst>
            </a:pPr>
            <a:r>
              <a:rPr lang="en-US" dirty="0">
                <a:latin typeface="Times New Roman" panose="02020603050405020304" pitchFamily="18" charset="0"/>
              </a:rPr>
              <a:t>	   change in current would  require an infinite voltage, which is not physically possible.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236881"/>
              </p:ext>
            </p:extLst>
          </p:nvPr>
        </p:nvGraphicFramePr>
        <p:xfrm>
          <a:off x="1778365" y="2245433"/>
          <a:ext cx="198755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393480" progId="Equation.DSMT4">
                  <p:embed/>
                </p:oleObj>
              </mc:Choice>
              <mc:Fallback>
                <p:oleObj name="Equation" r:id="rId2" imgW="838080" imgH="393480" progId="Equation.DSMT4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365" y="2245433"/>
                        <a:ext cx="1987550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30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434" y="1981200"/>
            <a:ext cx="3642517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17FFDF4-F781-4716-AA36-E8BB1FDFA362}"/>
              </a:ext>
            </a:extLst>
          </p:cNvPr>
          <p:cNvSpPr/>
          <p:nvPr/>
        </p:nvSpPr>
        <p:spPr>
          <a:xfrm>
            <a:off x="106248" y="224841"/>
            <a:ext cx="248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Inductor Properties</a:t>
            </a:r>
          </a:p>
        </p:txBody>
      </p:sp>
    </p:spTree>
    <p:extLst>
      <p:ext uri="{BB962C8B-B14F-4D97-AF65-F5344CB8AC3E}">
        <p14:creationId xmlns:p14="http://schemas.microsoft.com/office/powerpoint/2010/main" val="27441123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805190"/>
            <a:ext cx="89614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 algn="ctr">
              <a:tabLst>
                <a:tab pos="304800" algn="l"/>
              </a:tabLst>
            </a:pPr>
            <a:r>
              <a:rPr lang="en-US" sz="2800" b="1" dirty="0">
                <a:latin typeface="Times New Roman" panose="02020603050405020304" pitchFamily="18" charset="0"/>
              </a:rPr>
              <a:t>An inductor has the following important properties: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07988" y="1431599"/>
            <a:ext cx="8261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>
              <a:tabLst>
                <a:tab pos="323850" algn="l"/>
              </a:tabLst>
            </a:pPr>
            <a:r>
              <a:rPr lang="en-US" sz="2000" dirty="0">
                <a:latin typeface="Times New Roman" panose="02020603050405020304" pitchFamily="18" charset="0"/>
              </a:rPr>
              <a:t>3.	Like the ideal capacitor, the ideal inductor does not dissipate energy.</a:t>
            </a:r>
          </a:p>
          <a:p>
            <a:pPr marL="457200" indent="-457200">
              <a:tabLst>
                <a:tab pos="323850" algn="l"/>
              </a:tabLst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457200" indent="-457200">
              <a:tabLst>
                <a:tab pos="323850" algn="l"/>
              </a:tabLst>
            </a:pPr>
            <a:r>
              <a:rPr lang="en-US" sz="2000" dirty="0">
                <a:latin typeface="Times New Roman" panose="02020603050405020304" pitchFamily="18" charset="0"/>
              </a:rPr>
              <a:t>4.	A real inductor has a significant resistance due to the resistance of the coil, as well as a “winding capacitance”.  Thus, the model for a real inductor is shown below.</a:t>
            </a:r>
          </a:p>
          <a:p>
            <a:pPr marL="457200" indent="-457200">
              <a:tabLst>
                <a:tab pos="323850" algn="l"/>
              </a:tabLst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457200" indent="-457200">
              <a:tabLst>
                <a:tab pos="323850" algn="l"/>
              </a:tabLst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457200" indent="-457200">
              <a:tabLst>
                <a:tab pos="323850" algn="l"/>
              </a:tabLst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457200" indent="-457200">
              <a:tabLst>
                <a:tab pos="323850" algn="l"/>
              </a:tabLst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457200" indent="-457200">
              <a:tabLst>
                <a:tab pos="323850" algn="l"/>
              </a:tabLst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457200" indent="-457200">
              <a:tabLst>
                <a:tab pos="323850" algn="l"/>
              </a:tabLst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457200" indent="-457200">
              <a:tabLst>
                <a:tab pos="323850" algn="l"/>
              </a:tabLst>
            </a:pPr>
            <a:endParaRPr lang="en-US" sz="2000" dirty="0">
              <a:latin typeface="Times New Roman" panose="02020603050405020304" pitchFamily="18" charset="0"/>
            </a:endParaRPr>
          </a:p>
          <a:p>
            <a:pPr marL="457200" indent="-457200">
              <a:tabLst>
                <a:tab pos="323850" algn="l"/>
              </a:tabLst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In this course, </a:t>
            </a:r>
            <a:r>
              <a:rPr lang="en-US" sz="2000" dirty="0">
                <a:solidFill>
                  <a:srgbClr val="3333FF"/>
                </a:solidFill>
                <a:latin typeface="Times New Roman" panose="02020603050405020304" pitchFamily="18" charset="0"/>
              </a:rPr>
              <a:t>however, we will use ideal inductors and assume that an ideal inductor is a good model</a:t>
            </a:r>
            <a:r>
              <a:rPr lang="en-US" sz="2000" i="1" dirty="0">
                <a:latin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BDA04C-44BE-4448-9B00-D004D32983CF}"/>
              </a:ext>
            </a:extLst>
          </p:cNvPr>
          <p:cNvSpPr/>
          <p:nvPr/>
        </p:nvSpPr>
        <p:spPr>
          <a:xfrm>
            <a:off x="86513" y="93272"/>
            <a:ext cx="248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Inductor Properties</a:t>
            </a:r>
          </a:p>
        </p:txBody>
      </p: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729D859A-12CF-4A2E-8E31-0B4413731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2318"/>
              </p:ext>
            </p:extLst>
          </p:nvPr>
        </p:nvGraphicFramePr>
        <p:xfrm>
          <a:off x="3323431" y="3276600"/>
          <a:ext cx="2497138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039112" imgH="1221029" progId="Visio.Drawing.6">
                  <p:embed/>
                </p:oleObj>
              </mc:Choice>
              <mc:Fallback>
                <p:oleObj name="Visio" r:id="rId2" imgW="2039112" imgH="1221029" progId="Visio.Drawing.6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729D859A-12CF-4A2E-8E31-0B44137317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431" y="3276600"/>
                        <a:ext cx="2497138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28389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5" y="381000"/>
            <a:ext cx="8846127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1844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91" y="318654"/>
            <a:ext cx="1809750" cy="44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22" y="990601"/>
            <a:ext cx="7668491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0445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E1F025-3A99-4200-ABA3-3D2A911E0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654" y="200025"/>
            <a:ext cx="2476500" cy="577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7C96EC-441F-4E4A-B7F6-ED8120819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54" y="777154"/>
            <a:ext cx="7162800" cy="73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A4AE52-BAAF-483F-80BA-795321B68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346" y="1757529"/>
            <a:ext cx="3314700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14348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E60F-727A-4A2B-A4D6-C9FDE273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Series Inductors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FF0FE-013B-48E4-A2A6-D4DA91E9F4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1" y="1276710"/>
            <a:ext cx="4525128" cy="4188144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now need to extend the series parallel combinations to inductors.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let’s consider a series combination of inductors.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to the loop: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042B9357-906B-48D9-B91C-209207B8E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278" y="1425254"/>
            <a:ext cx="3645821" cy="403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4D52E45-3C08-427E-8541-1BDF4792A9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922692"/>
              </p:ext>
            </p:extLst>
          </p:nvPr>
        </p:nvGraphicFramePr>
        <p:xfrm>
          <a:off x="752475" y="5581290"/>
          <a:ext cx="38195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19525" imgH="600075" progId="Equation.DSMT4">
                  <p:embed/>
                </p:oleObj>
              </mc:Choice>
              <mc:Fallback>
                <p:oleObj name="Equation" r:id="rId3" imgW="3819525" imgH="600075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4D52E45-3C08-427E-8541-1BDF4792A9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2475" y="5581290"/>
                        <a:ext cx="3819525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75250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Series Inductors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433127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Factoring in the voltage current relationship.</a:t>
            </a:r>
            <a:endParaRPr lang="en-US" noProof="0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57AB161-1804-49A8-98E5-746B5EA643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026823"/>
              </p:ext>
            </p:extLst>
          </p:nvPr>
        </p:nvGraphicFramePr>
        <p:xfrm>
          <a:off x="991009" y="1885200"/>
          <a:ext cx="4764128" cy="843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22280" imgH="393480" progId="Equation.DSMT4">
                  <p:embed/>
                </p:oleObj>
              </mc:Choice>
              <mc:Fallback>
                <p:oleObj name="Equation" r:id="rId2" imgW="2222280" imgH="39348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57AB161-1804-49A8-98E5-746B5EA643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1009" y="1885200"/>
                        <a:ext cx="4764128" cy="8439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0548886-4517-404D-A3E6-DD0EF9B1C3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373551"/>
              </p:ext>
            </p:extLst>
          </p:nvPr>
        </p:nvGraphicFramePr>
        <p:xfrm>
          <a:off x="1248647" y="2870325"/>
          <a:ext cx="2858478" cy="980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457200" progId="Equation.DSMT4">
                  <p:embed/>
                </p:oleObj>
              </mc:Choice>
              <mc:Fallback>
                <p:oleObj name="Equation" r:id="rId4" imgW="1333440" imgH="45720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50548886-4517-404D-A3E6-DD0EF9B1C3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48647" y="2870325"/>
                        <a:ext cx="2858478" cy="980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102273"/>
            <a:ext cx="8458200" cy="437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Where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8D89365-D29A-4D0C-8C1C-44AA54D344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165688"/>
              </p:ext>
            </p:extLst>
          </p:nvPr>
        </p:nvGraphicFramePr>
        <p:xfrm>
          <a:off x="991009" y="4750321"/>
          <a:ext cx="3373755" cy="492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67050" imgH="447556" progId="Equation.DSMT4">
                  <p:embed/>
                </p:oleObj>
              </mc:Choice>
              <mc:Fallback>
                <p:oleObj name="Equation" r:id="rId6" imgW="3067050" imgH="447556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E8D89365-D29A-4D0C-8C1C-44AA54D344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1009" y="4750321"/>
                        <a:ext cx="3373755" cy="492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463813"/>
            <a:ext cx="8458200" cy="95005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can see that the inductors have the same behavior as resistors.</a:t>
            </a:r>
          </a:p>
        </p:txBody>
      </p:sp>
    </p:spTree>
    <p:extLst>
      <p:ext uri="{BB962C8B-B14F-4D97-AF65-F5344CB8AC3E}">
        <p14:creationId xmlns:p14="http://schemas.microsoft.com/office/powerpoint/2010/main" val="2594294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Parallel Inductors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438106" cy="1910627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consider a parallel combination of inductors: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to the circuit: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330C2CD-B489-49D6-AAC6-C9C4A3F242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667561"/>
              </p:ext>
            </p:extLst>
          </p:nvPr>
        </p:nvGraphicFramePr>
        <p:xfrm>
          <a:off x="695869" y="3323746"/>
          <a:ext cx="331089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09900" imgH="523994" progId="Equation.DSMT4">
                  <p:embed/>
                </p:oleObj>
              </mc:Choice>
              <mc:Fallback>
                <p:oleObj name="Equation" r:id="rId2" imgW="3009900" imgH="523994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330C2CD-B489-49D6-AAC6-C9C4A3F242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5869" y="3323746"/>
                        <a:ext cx="3310890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010293"/>
            <a:ext cx="4438106" cy="131985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current voltage relationship is considered, we have: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9877C187-B562-4B88-803E-704D1C92D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086653"/>
              </p:ext>
            </p:extLst>
          </p:nvPr>
        </p:nvGraphicFramePr>
        <p:xfrm>
          <a:off x="695869" y="5514455"/>
          <a:ext cx="5520595" cy="910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62475" imgH="752594" progId="Equation.DSMT4">
                  <p:embed/>
                </p:oleObj>
              </mc:Choice>
              <mc:Fallback>
                <p:oleObj name="Equation" r:id="rId4" imgW="4562475" imgH="752594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9877C187-B562-4B88-803E-704D1C92D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5869" y="5514455"/>
                        <a:ext cx="5520595" cy="910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7">
            <a:extLst>
              <a:ext uri="{FF2B5EF4-FFF2-40B4-BE49-F238E27FC236}">
                <a16:creationId xmlns:a16="http://schemas.microsoft.com/office/drawing/2014/main" id="{2FB86B83-E556-4620-B640-BEC094F58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124" y="1482433"/>
            <a:ext cx="3762976" cy="3893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68292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Parallel Inductors </a:t>
            </a:r>
            <a:r>
              <a:rPr lang="en-US" altLang="en-US" sz="1000" b="0" noProof="0" dirty="0"/>
              <a:t>2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869680"/>
            <a:ext cx="8458200" cy="539028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inductance is thus: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6ADC9C6-E98F-4018-B151-6538F8EC73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289732"/>
              </p:ext>
            </p:extLst>
          </p:nvPr>
        </p:nvGraphicFramePr>
        <p:xfrm>
          <a:off x="688106" y="1548291"/>
          <a:ext cx="3974484" cy="990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14625" imgH="676156" progId="Equation.DSMT4">
                  <p:embed/>
                </p:oleObj>
              </mc:Choice>
              <mc:Fallback>
                <p:oleObj name="Equation" r:id="rId3" imgW="2714625" imgH="676156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6ADC9C6-E98F-4018-B151-6538F8EC73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8106" y="1548291"/>
                        <a:ext cx="3974484" cy="9901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738265"/>
            <a:ext cx="8458200" cy="278892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again, the parallel combination resembles that of resistors.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A75766-AE85-4AF9-ACF7-C887D0E40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64992"/>
            <a:ext cx="9144000" cy="172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729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400" noProof="0" dirty="0"/>
              <a:t>Summary of Capacitors and Inductors</a:t>
            </a:r>
            <a:endParaRPr lang="en-US" sz="3400" noProof="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86D183F-1985-4057-8069-BBA177D6E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1365069"/>
            <a:ext cx="5651500" cy="4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46750E5-08B2-F576-B6D5-1AEC869CB38D}"/>
              </a:ext>
            </a:extLst>
          </p:cNvPr>
          <p:cNvGrpSpPr/>
          <p:nvPr/>
        </p:nvGrpSpPr>
        <p:grpSpPr>
          <a:xfrm>
            <a:off x="6498794" y="3308824"/>
            <a:ext cx="24840" cy="93960"/>
            <a:chOff x="6498794" y="3308824"/>
            <a:chExt cx="2484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6A00247-61C8-0EAB-B762-F3D685C37A0F}"/>
                    </a:ext>
                  </a:extLst>
                </p14:cNvPr>
                <p14:cNvContentPartPr/>
                <p14:nvPr/>
              </p14:nvContentPartPr>
              <p14:xfrm>
                <a:off x="6500234" y="3347344"/>
                <a:ext cx="23400" cy="55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6A00247-61C8-0EAB-B762-F3D685C37A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94114" y="3341224"/>
                  <a:ext cx="356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B3C697-B83E-3930-787C-4078CFF1E0B7}"/>
                    </a:ext>
                  </a:extLst>
                </p14:cNvPr>
                <p14:cNvContentPartPr/>
                <p14:nvPr/>
              </p14:nvContentPartPr>
              <p14:xfrm>
                <a:off x="6498794" y="3308824"/>
                <a:ext cx="17280" cy="85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B3C697-B83E-3930-787C-4078CFF1E0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92674" y="3302704"/>
                  <a:ext cx="2952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EBE940-B6FD-C89A-F159-81FE291674AE}"/>
              </a:ext>
            </a:extLst>
          </p:cNvPr>
          <p:cNvGrpSpPr/>
          <p:nvPr/>
        </p:nvGrpSpPr>
        <p:grpSpPr>
          <a:xfrm>
            <a:off x="6732074" y="3342664"/>
            <a:ext cx="29520" cy="59400"/>
            <a:chOff x="6732074" y="3342664"/>
            <a:chExt cx="29520" cy="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9E920F9-4D5E-92BB-0F7B-9A0A52230D0A}"/>
                    </a:ext>
                  </a:extLst>
                </p14:cNvPr>
                <p14:cNvContentPartPr/>
                <p14:nvPr/>
              </p14:nvContentPartPr>
              <p14:xfrm>
                <a:off x="6734594" y="3344824"/>
                <a:ext cx="15480" cy="57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9E920F9-4D5E-92BB-0F7B-9A0A52230D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28474" y="3338704"/>
                  <a:ext cx="27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6AB8044-5D66-DF41-F42E-97AE8409AF96}"/>
                    </a:ext>
                  </a:extLst>
                </p14:cNvPr>
                <p14:cNvContentPartPr/>
                <p14:nvPr/>
              </p14:nvContentPartPr>
              <p14:xfrm>
                <a:off x="6732074" y="3366424"/>
                <a:ext cx="29520" cy="23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6AB8044-5D66-DF41-F42E-97AE8409AF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25954" y="3360304"/>
                  <a:ext cx="41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43F37C-5F1D-C3B8-3B83-5D96C50A19B8}"/>
                    </a:ext>
                  </a:extLst>
                </p14:cNvPr>
                <p14:cNvContentPartPr/>
                <p14:nvPr/>
              </p14:nvContentPartPr>
              <p14:xfrm>
                <a:off x="6737474" y="3342664"/>
                <a:ext cx="21960" cy="54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43F37C-5F1D-C3B8-3B83-5D96C50A19B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31354" y="3336544"/>
                  <a:ext cx="34200" cy="6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765805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1"/>
            <a:ext cx="2324100" cy="579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51320"/>
            <a:ext cx="5334000" cy="529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732127"/>
            <a:ext cx="344805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63183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84" y="304800"/>
            <a:ext cx="2000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066" y="1371600"/>
            <a:ext cx="332422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36" y="701385"/>
            <a:ext cx="639127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33889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99" y="949451"/>
            <a:ext cx="332422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8" y="533400"/>
            <a:ext cx="639127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62" y="124691"/>
            <a:ext cx="2000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2643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53527" y="0"/>
            <a:ext cx="1481328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0"/>
            <a:ext cx="1481328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640080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6437376"/>
            <a:ext cx="1252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0584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3794760"/>
            <a:ext cx="4261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5330952"/>
            <a:ext cx="19568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Mozhg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2152</TotalTime>
  <Words>1793</Words>
  <Application>Microsoft Office PowerPoint</Application>
  <PresentationFormat>On-screen Show (4:3)</PresentationFormat>
  <Paragraphs>219</Paragraphs>
  <Slides>60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60</vt:i4>
      </vt:variant>
    </vt:vector>
  </HeadingPairs>
  <TitlesOfParts>
    <vt:vector size="71" baseType="lpstr">
      <vt:lpstr>Arial</vt:lpstr>
      <vt:lpstr>Calibri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Bitmap Image</vt:lpstr>
      <vt:lpstr>Visio</vt:lpstr>
      <vt:lpstr>PowerPoint Presentation</vt:lpstr>
      <vt:lpstr>Overview</vt:lpstr>
      <vt:lpstr>Capacitors 1</vt:lpstr>
      <vt:lpstr>Capacitors 2</vt:lpstr>
      <vt:lpstr>Capacitors 3</vt:lpstr>
      <vt:lpstr>PowerPoint Presentation</vt:lpstr>
      <vt:lpstr>Types of Capacitors</vt:lpstr>
      <vt:lpstr>PowerPoint Presentation</vt:lpstr>
      <vt:lpstr>Applications for Capacitors</vt:lpstr>
      <vt:lpstr>Current Voltage Relationship</vt:lpstr>
      <vt:lpstr>PowerPoint Presentation</vt:lpstr>
      <vt:lpstr>PowerPoint Presentation</vt:lpstr>
      <vt:lpstr>Stored Charge</vt:lpstr>
      <vt:lpstr>PowerPoint Presentation</vt:lpstr>
      <vt:lpstr>PowerPoint Presentation</vt:lpstr>
      <vt:lpstr>PowerPoint Presentation</vt:lpstr>
      <vt:lpstr>Properties of Capacitors 1</vt:lpstr>
      <vt:lpstr>Properties of Capacitors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Parallel Capacitors 1</vt:lpstr>
      <vt:lpstr>Parallel Capacitors 2</vt:lpstr>
      <vt:lpstr>Series Capacitors 1</vt:lpstr>
      <vt:lpstr>Series Capacitors 2</vt:lpstr>
      <vt:lpstr>PowerPoint Presentation</vt:lpstr>
      <vt:lpstr>PowerPoint Presentation</vt:lpstr>
      <vt:lpstr>PowerPoint Presentation</vt:lpstr>
      <vt:lpstr>Series and Parallel Caps</vt:lpstr>
      <vt:lpstr>Inductors 1</vt:lpstr>
      <vt:lpstr>Inductors 2</vt:lpstr>
      <vt:lpstr>Inductors 3</vt:lpstr>
      <vt:lpstr>PowerPoint Presentation</vt:lpstr>
      <vt:lpstr>Current in an Inductor</vt:lpstr>
      <vt:lpstr>PowerPoint Presentation</vt:lpstr>
      <vt:lpstr>Properties of Inductors 1</vt:lpstr>
      <vt:lpstr>Properties of Inductors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Series Inductors 1</vt:lpstr>
      <vt:lpstr>Series Inductors 2</vt:lpstr>
      <vt:lpstr>Parallel Inductors 1</vt:lpstr>
      <vt:lpstr>Parallel Inductors 2</vt:lpstr>
      <vt:lpstr>Summary of Capacitors and Inductors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163</cp:revision>
  <dcterms:created xsi:type="dcterms:W3CDTF">2019-12-14T02:10:23Z</dcterms:created>
  <dcterms:modified xsi:type="dcterms:W3CDTF">2026-09-28T18:50:48Z</dcterms:modified>
</cp:coreProperties>
</file>