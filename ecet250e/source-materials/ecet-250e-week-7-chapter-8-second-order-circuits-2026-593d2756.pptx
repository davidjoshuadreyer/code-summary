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  <p:sldMasterId id="2147483691" r:id="rId2"/>
    <p:sldMasterId id="2147483684" r:id="rId3"/>
    <p:sldMasterId id="2147483686" r:id="rId4"/>
    <p:sldMasterId id="2147483701" r:id="rId5"/>
  </p:sldMasterIdLst>
  <p:notesMasterIdLst>
    <p:notesMasterId r:id="rId49"/>
  </p:notesMasterIdLst>
  <p:sldIdLst>
    <p:sldId id="367" r:id="rId57"/>
    <p:sldId id="296" r:id="rId7"/>
    <p:sldId id="297" r:id="rId8"/>
    <p:sldId id="322" r:id="rId9"/>
    <p:sldId id="343" r:id="rId10"/>
    <p:sldId id="344" r:id="rId11"/>
    <p:sldId id="363" r:id="rId12"/>
    <p:sldId id="323" r:id="rId13"/>
    <p:sldId id="324" r:id="rId14"/>
    <p:sldId id="325" r:id="rId15"/>
    <p:sldId id="326" r:id="rId16"/>
    <p:sldId id="327" r:id="rId17"/>
    <p:sldId id="328" r:id="rId18"/>
    <p:sldId id="330" r:id="rId19"/>
    <p:sldId id="364" r:id="rId20"/>
    <p:sldId id="345" r:id="rId21"/>
    <p:sldId id="346" r:id="rId22"/>
    <p:sldId id="347" r:id="rId23"/>
    <p:sldId id="348" r:id="rId24"/>
    <p:sldId id="349" r:id="rId25"/>
    <p:sldId id="332" r:id="rId26"/>
    <p:sldId id="333" r:id="rId27"/>
    <p:sldId id="334" r:id="rId28"/>
    <p:sldId id="335" r:id="rId29"/>
    <p:sldId id="336" r:id="rId30"/>
    <p:sldId id="337" r:id="rId31"/>
    <p:sldId id="350" r:id="rId32"/>
    <p:sldId id="351" r:id="rId33"/>
    <p:sldId id="352" r:id="rId34"/>
    <p:sldId id="353" r:id="rId35"/>
    <p:sldId id="338" r:id="rId36"/>
    <p:sldId id="339" r:id="rId37"/>
    <p:sldId id="340" r:id="rId38"/>
    <p:sldId id="341" r:id="rId39"/>
    <p:sldId id="365" r:id="rId40"/>
    <p:sldId id="366" r:id="rId41"/>
    <p:sldId id="342" r:id="rId42"/>
    <p:sldId id="354" r:id="rId43"/>
    <p:sldId id="355" r:id="rId44"/>
    <p:sldId id="358" r:id="rId45"/>
    <p:sldId id="331" r:id="rId46"/>
    <p:sldId id="361" r:id="rId47"/>
    <p:sldId id="368" r:id="rId5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256"/>
            <p14:sldId id="296"/>
            <p14:sldId id="297"/>
            <p14:sldId id="322"/>
            <p14:sldId id="343"/>
            <p14:sldId id="344"/>
            <p14:sldId id="363"/>
            <p14:sldId id="323"/>
            <p14:sldId id="324"/>
            <p14:sldId id="325"/>
            <p14:sldId id="326"/>
            <p14:sldId id="327"/>
            <p14:sldId id="328"/>
            <p14:sldId id="330"/>
            <p14:sldId id="364"/>
            <p14:sldId id="345"/>
            <p14:sldId id="346"/>
            <p14:sldId id="347"/>
            <p14:sldId id="348"/>
            <p14:sldId id="349"/>
            <p14:sldId id="332"/>
            <p14:sldId id="333"/>
            <p14:sldId id="334"/>
            <p14:sldId id="335"/>
            <p14:sldId id="336"/>
            <p14:sldId id="337"/>
            <p14:sldId id="350"/>
            <p14:sldId id="351"/>
            <p14:sldId id="352"/>
            <p14:sldId id="353"/>
            <p14:sldId id="338"/>
            <p14:sldId id="339"/>
            <p14:sldId id="340"/>
            <p14:sldId id="341"/>
            <p14:sldId id="365"/>
            <p14:sldId id="366"/>
            <p14:sldId id="342"/>
            <p14:sldId id="354"/>
            <p14:sldId id="355"/>
            <p14:sldId id="358"/>
            <p14:sldId id="331"/>
            <p14:sldId id="361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362394-F299-49F9-9D97-65C9FBE831AE}" v="7" dt="2025-12-06T04:30:39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4200" autoAdjust="0"/>
  </p:normalViewPr>
  <p:slideViewPr>
    <p:cSldViewPr snapToGrid="0" showGuides="1">
      <p:cViewPr varScale="1">
        <p:scale>
          <a:sx n="78" d="100"/>
          <a:sy n="78" d="100"/>
        </p:scale>
        <p:origin x="627" y="33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31656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9" Type="http://schemas.openxmlformats.org/officeDocument/2006/relationships/notesMaster" Target="notesMasters/notesMaster1.xml"/><Relationship Id="rId50" Type="http://schemas.openxmlformats.org/officeDocument/2006/relationships/commentAuthors" Target="commentAuthor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6/11/relationships/changesInfo" Target="changesInfos/changesInfo1.xml"/><Relationship Id="rId56" Type="http://schemas.microsoft.com/office/2015/10/relationships/revisionInfo" Target="revisionInfo.xml"/><Relationship Id="rId57" Type="http://schemas.openxmlformats.org/officeDocument/2006/relationships/slide" Target="slides/slide44.xml"/><Relationship Id="rId58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A390D8AC-0881-4A45-827E-35D352BC7877}"/>
    <pc:docChg chg="modSld">
      <pc:chgData name="Mozhgan Moazzen Zadeh-Bacon" userId="87017a61-33d9-4952-aa6c-e009fac81f23" providerId="ADAL" clId="{A390D8AC-0881-4A45-827E-35D352BC7877}" dt="2025-12-06T04:30:39.557" v="16"/>
      <pc:docMkLst>
        <pc:docMk/>
      </pc:docMkLst>
      <pc:sldChg chg="addSp delSp modSp mod">
        <pc:chgData name="Mozhgan Moazzen Zadeh-Bacon" userId="87017a61-33d9-4952-aa6c-e009fac81f23" providerId="ADAL" clId="{A390D8AC-0881-4A45-827E-35D352BC7877}" dt="2025-12-06T04:27:29.120" v="5" actId="20577"/>
        <pc:sldMkLst>
          <pc:docMk/>
          <pc:sldMk cId="2829018584" sldId="342"/>
        </pc:sldMkLst>
        <pc:spChg chg="add mod">
          <ac:chgData name="Mozhgan Moazzen Zadeh-Bacon" userId="87017a61-33d9-4952-aa6c-e009fac81f23" providerId="ADAL" clId="{A390D8AC-0881-4A45-827E-35D352BC7877}" dt="2025-12-06T04:27:29.120" v="5" actId="20577"/>
          <ac:spMkLst>
            <pc:docMk/>
            <pc:sldMk cId="2829018584" sldId="342"/>
            <ac:spMk id="3" creationId="{A7617759-8B00-4061-B3EE-683032FEBF14}"/>
          </ac:spMkLst>
        </pc:spChg>
        <pc:graphicFrameChg chg="del mod replId">
          <ac:chgData name="Mozhgan Moazzen Zadeh-Bacon" userId="87017a61-33d9-4952-aa6c-e009fac81f23" providerId="ADAL" clId="{A390D8AC-0881-4A45-827E-35D352BC7877}" dt="2025-12-06T04:26:38.803" v="1"/>
          <ac:graphicFrameMkLst>
            <pc:docMk/>
            <pc:sldMk cId="2829018584" sldId="342"/>
            <ac:graphicFrameMk id="2" creationId="{A7617759-8B00-4061-B3EE-683032FEBF14}"/>
          </ac:graphicFrameMkLst>
        </pc:graphicFrameChg>
      </pc:sldChg>
      <pc:sldChg chg="addSp delSp modSp mod">
        <pc:chgData name="Mozhgan Moazzen Zadeh-Bacon" userId="87017a61-33d9-4952-aa6c-e009fac81f23" providerId="ADAL" clId="{A390D8AC-0881-4A45-827E-35D352BC7877}" dt="2025-12-06T04:30:39.557" v="16"/>
        <pc:sldMkLst>
          <pc:docMk/>
          <pc:sldMk cId="3532675266" sldId="366"/>
        </pc:sldMkLst>
        <pc:grpChg chg="del mod">
          <ac:chgData name="Mozhgan Moazzen Zadeh-Bacon" userId="87017a61-33d9-4952-aa6c-e009fac81f23" providerId="ADAL" clId="{A390D8AC-0881-4A45-827E-35D352BC7877}" dt="2025-12-06T04:30:32.675" v="12"/>
          <ac:grpSpMkLst>
            <pc:docMk/>
            <pc:sldMk cId="3532675266" sldId="366"/>
            <ac:grpSpMk id="8" creationId="{6DA7356E-7BFB-02EA-894F-40E2DA9AEC2A}"/>
          </ac:grpSpMkLst>
        </pc:grpChg>
        <pc:grpChg chg="mod">
          <ac:chgData name="Mozhgan Moazzen Zadeh-Bacon" userId="87017a61-33d9-4952-aa6c-e009fac81f23" providerId="ADAL" clId="{A390D8AC-0881-4A45-827E-35D352BC7877}" dt="2025-12-06T04:30:32.675" v="12"/>
          <ac:grpSpMkLst>
            <pc:docMk/>
            <pc:sldMk cId="3532675266" sldId="366"/>
            <ac:grpSpMk id="14" creationId="{06DFFFEB-820B-2623-B2A6-57DFD25C28DC}"/>
          </ac:grpSpMkLst>
        </pc:grpChg>
        <pc:grpChg chg="mod">
          <ac:chgData name="Mozhgan Moazzen Zadeh-Bacon" userId="87017a61-33d9-4952-aa6c-e009fac81f23" providerId="ADAL" clId="{A390D8AC-0881-4A45-827E-35D352BC7877}" dt="2025-12-06T04:30:39.557" v="16"/>
          <ac:grpSpMkLst>
            <pc:docMk/>
            <pc:sldMk cId="3532675266" sldId="366"/>
            <ac:grpSpMk id="18" creationId="{DB7D14E3-FF6E-A31E-7C95-91F18BCCCDEB}"/>
          </ac:grpSpMkLst>
        </pc:grpChg>
        <pc:inkChg chg="add mod">
          <ac:chgData name="Mozhgan Moazzen Zadeh-Bacon" userId="87017a61-33d9-4952-aa6c-e009fac81f23" providerId="ADAL" clId="{A390D8AC-0881-4A45-827E-35D352BC7877}" dt="2025-12-06T04:30:32.675" v="12"/>
          <ac:inkMkLst>
            <pc:docMk/>
            <pc:sldMk cId="3532675266" sldId="366"/>
            <ac:inkMk id="4" creationId="{71B4ABE1-2717-A35B-CE1C-9F79586581A2}"/>
          </ac:inkMkLst>
        </pc:inkChg>
        <pc:inkChg chg="add mod">
          <ac:chgData name="Mozhgan Moazzen Zadeh-Bacon" userId="87017a61-33d9-4952-aa6c-e009fac81f23" providerId="ADAL" clId="{A390D8AC-0881-4A45-827E-35D352BC7877}" dt="2025-12-06T04:30:32.675" v="12"/>
          <ac:inkMkLst>
            <pc:docMk/>
            <pc:sldMk cId="3532675266" sldId="366"/>
            <ac:inkMk id="6" creationId="{E30E28A9-4560-8B06-2C1F-47602E16FCBC}"/>
          </ac:inkMkLst>
        </pc:inkChg>
        <pc:inkChg chg="add mod">
          <ac:chgData name="Mozhgan Moazzen Zadeh-Bacon" userId="87017a61-33d9-4952-aa6c-e009fac81f23" providerId="ADAL" clId="{A390D8AC-0881-4A45-827E-35D352BC7877}" dt="2025-12-06T04:30:32.675" v="12"/>
          <ac:inkMkLst>
            <pc:docMk/>
            <pc:sldMk cId="3532675266" sldId="366"/>
            <ac:inkMk id="11" creationId="{33D8CD60-2FA8-7608-1951-FDA32B31EA3C}"/>
          </ac:inkMkLst>
        </pc:inkChg>
        <pc:inkChg chg="add">
          <ac:chgData name="Mozhgan Moazzen Zadeh-Bacon" userId="87017a61-33d9-4952-aa6c-e009fac81f23" providerId="ADAL" clId="{A390D8AC-0881-4A45-827E-35D352BC7877}" dt="2025-12-06T04:30:31.165" v="10" actId="9405"/>
          <ac:inkMkLst>
            <pc:docMk/>
            <pc:sldMk cId="3532675266" sldId="366"/>
            <ac:inkMk id="12" creationId="{A183DBD3-D84F-607A-3A4E-BD88B714BC7B}"/>
          </ac:inkMkLst>
        </pc:inkChg>
        <pc:inkChg chg="add">
          <ac:chgData name="Mozhgan Moazzen Zadeh-Bacon" userId="87017a61-33d9-4952-aa6c-e009fac81f23" providerId="ADAL" clId="{A390D8AC-0881-4A45-827E-35D352BC7877}" dt="2025-12-06T04:30:31.754" v="11" actId="9405"/>
          <ac:inkMkLst>
            <pc:docMk/>
            <pc:sldMk cId="3532675266" sldId="366"/>
            <ac:inkMk id="13" creationId="{5CC8564E-77B3-6B04-5C04-4BCF689E0633}"/>
          </ac:inkMkLst>
        </pc:inkChg>
        <pc:inkChg chg="add mod">
          <ac:chgData name="Mozhgan Moazzen Zadeh-Bacon" userId="87017a61-33d9-4952-aa6c-e009fac81f23" providerId="ADAL" clId="{A390D8AC-0881-4A45-827E-35D352BC7877}" dt="2025-12-06T04:30:39.557" v="16"/>
          <ac:inkMkLst>
            <pc:docMk/>
            <pc:sldMk cId="3532675266" sldId="366"/>
            <ac:inkMk id="15" creationId="{04885FED-6809-EF7B-E972-531BAA8D981B}"/>
          </ac:inkMkLst>
        </pc:inkChg>
        <pc:inkChg chg="add mod">
          <ac:chgData name="Mozhgan Moazzen Zadeh-Bacon" userId="87017a61-33d9-4952-aa6c-e009fac81f23" providerId="ADAL" clId="{A390D8AC-0881-4A45-827E-35D352BC7877}" dt="2025-12-06T04:30:39.557" v="16"/>
          <ac:inkMkLst>
            <pc:docMk/>
            <pc:sldMk cId="3532675266" sldId="366"/>
            <ac:inkMk id="16" creationId="{1DDD1DD2-9F8E-62AC-6C0C-660AA5CDF258}"/>
          </ac:inkMkLst>
        </pc:inkChg>
        <pc:inkChg chg="add mod">
          <ac:chgData name="Mozhgan Moazzen Zadeh-Bacon" userId="87017a61-33d9-4952-aa6c-e009fac81f23" providerId="ADAL" clId="{A390D8AC-0881-4A45-827E-35D352BC7877}" dt="2025-12-06T04:30:39.557" v="16"/>
          <ac:inkMkLst>
            <pc:docMk/>
            <pc:sldMk cId="3532675266" sldId="366"/>
            <ac:inkMk id="17" creationId="{E6960C01-660F-06F0-A053-55D6A63ACEF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27.7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225 9 2192,'0'0'46,"0"-1"-1,0 1 0,-1-1 1,1 0-1,0 1 0,-1-1 0,1 1 1,-1 0-1,1-1 0,-1 1 1,1-1-1,-1 1 0,1 0 0,-1-1 1,1 1-1,-1 0 0,1-1 0,-1 1 1,1 0-1,-1 0 0,0 0 1,1 0-1,-1-1 0,1 1 0,-1 0 1,0 0-1,1 0 0,-1 0 0,1 0 1,-1 0-1,-1 1 0,-19 5-105,16-4 128,-63 21 1817,52-17-1006,0-1-1,0 0 1,-31 5 0,28-10 570,27 0-1374,-6 0-80,1 0 0,-1 0 0,1-1 0,-1 1 0,1-1 0,-1 1 0,1-1 0,-1 0-1,1 0 1,-1 0 0,1 0 0,-1-1 0,0 1 0,0 0 0,0-1 0,0 0 0,3-2 0,17-12-27,-21 15 33,0 1 1,0-1-1,0 1 0,0-1 1,0 1-1,0 0 0,0-1 0,0 1 1,0 0-1,1 0 0,-1-1 0,0 1 1,0 0-1,0 0 0,0 0 0,0 1 1,0-1-1,2 0 0,-3 0 0,0 0-1,0 1 0,0-1 1,0 0-1,1 0 1,-1 0-1,0 0 1,0 0-1,0 0 0,0 0 1,0 1-1,0-1 1,0 0-1,1 0 0,-1 0 1,0 0-1,0 0 1,0 1-1,0-1 0,0 0 1,0 0-1,0 0 1,0 0-1,0 1 1,0-1-1,0 0 0,0 0 1,0 0-1,0 0 1,0 1-1,0-1 0,0 0 1,0 0-1,0 0 1,0 0-1,0 1 0,0-1 1,0 0-1,-1 0 1,1 0-1,0 1 1,-1 4 9,0 1-6,0-2 16,1 1 0,-1-1 0,1 0 0,-1 0 0,0 0 1,-1 0-1,1 0 0,-1 0 0,0 0 0,0-1 0,0 1 0,0-1 1,-6 7-1,4-6 84,1 0 1,0 1 0,-1-1 0,1 0 0,1 1 0,-1 0-1,1 0 1,-3 7 0,0 2 547,-5 27 0,9-34-507,1 0 1,0 1-1,0-1 1,0 1-1,1-1 0,0 0 1,2 9-1,1-2-85,0 0 1,9 20-1,25-45-3821,-31 5 2839,-4 3 571,3-2-352,-4 2 352,1 0 0,2-6 0,5-5-877,16-25-3546,-23 37 4459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28.4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206 14 6297,'29'-13'7045,"-29"13"-7012,1 0 0,-1 0-1,1 0 1,-1 0-1,1 0 1,-1 0-1,1-1 1,-1 1-1,1 0 1,-1 0-1,1 1 1,-1-1 0,1 0-1,-1 0 1,1 0-1,-1 0 1,0 0-1,1 0 1,-1 1-1,1-1 1,-1 0 0,1 0-1,-1 1 1,0-1-1,1 0 1,-1 1-1,0-1 1,1 0-1,-1 1 1,0-1 0,1 1-1,-1-1 1,0 0-1,0 1 1,1-1-1,-1 1 1,0-1-1,0 1 1,0 0-1,1 2 82,0 0 0,-1 1-1,0-1 1,1 0-1,-1 0 1,0 0 0,-1 1-1,1-1 1,0 0-1,-1 0 1,0 0-1,0 0 1,-2 6 0,1-7-38,1 1 1,-1-1-1,0 0 1,0 1-1,0-1 1,0 0-1,-1 0 1,1-1-1,0 1 1,-1 0 0,1-1-1,-1 1 1,0-1-1,1 0 1,-1 0-1,-3 1 1,-14 3 70,0-1 1,0-1 0,0-1 0,-34 0-1,30-1-26,-1 1-6,24-1-110,0-1 0,0 0 0,0 0 0,-1 0 0,1 1 0,0-1 0,0 1 0,0-1 0,0 1 0,0-1 0,0 1 0,0-1 0,0 1 0,0 0 0,0 0 0,-1 0 0,0-6 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30.0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303 76 6153,'41'-3'10861,"-66"10"-10163,-4 2-653,-31 6 168,23-6 164,-43 6 0,70-14-308,0 0 0,0 1 0,0 0 0,1 0 0,-1 1 0,1 1 0,-1-1 0,1 2 0,-9 4-1,12-6-13,5-5-139,4-6-415,20-26-862,-3 0 0,20-46 0,-40 80 1334,0 0 0,0 0 0,0-1-1,0 1 1,1 0 0,-1 0 0,0-1 0,0 1 0,0 0 0,6-3-705,-6 3 705,1 0 0,8 9-367,4 17 362,-2 6 138,-9-25 261,1 0 0,-1 0 0,1 0 0,6 12 1,-5-14 108,-4-5-405,1 1 0,-1 0 0,0-1 1,0 1-1,0-1 0,0 1 0,1 0 0,-1-1 1,0 1-1,0 0 0,0-1 0,0 1 0,-1 0 1,1-1-1,0 1 0,0-1 0,0 1 0,0 0 1,-1-1-1,1 1 0,0-1 0,-1 2 0,-5 25 217,1 0 0,2 1 0,1-1 0,1 50-1,5-20-231,1 55 15,-5-101-26,0 1 1,1 0-1,0 0 0,1-1 1,0 1-1,1-1 0,5 14 1,-5-14 55,-3-11-95,0 1-1,0-1 0,0 0 1,0 0-1,0 0 0,0 1 1,0-1-1,0 0 0,0 0 0,0 1 1,0-1-1,0 0 0,0 0 1,-1 0-1,1 0 0,0 1 0,0-1 1,0 0-1,0 0 0,0 0 1,-1 0-1,1 0 0,0 1 1,0-1-1,0 0 0,0 0 0,-1 0 1,1 0-1,0 0 0,0 0 1,0 0-1,-1 0 0,1 0 0,0 0 1,0 0-1,0 0 0,-1 0 1,1 0-1,0 0 0,0 0 1,-1 0-1,1-13-1124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31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14851,'6'24'4481,"2"11"-4625,-4-3-328,-11 8-4289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31.7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1028 0 10354,'-43'38'5657,"-34"8"-4984,-18 8-177,-23 4-368,-9-3-72,-10-1 120,12-1 88,20-14 24,13-5-24,34-17-160,12-11-136,42-6-344,19-11-320,54-12 400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37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1 2953,'8'3'1081,"1"-1"0,0 1 0,0-2 0,0 1 0,0-1 0,0-1 0,16 0 0,-18 0 696,-8 0-1736,-1 0 1,1 1 0,-1-1 0,1 0-1,-1 1 1,1-1 0,0 1 0,-1 0-1,1-1 1,0 1 0,-1 0 0,0 1-1,-4 1 61,-18 7 238,-1-1 1,0-2-1,-46 9 0,48-12-98,5 3-84,16-6-146,1-1 0,-1 1 0,0 0-1,0 0 1,0-1 0,0 1 0,0-1 0,0 1-1,0-1 1,0 0 0,-3 0 0,3-1-3,2 1-63,0-1 1,0 1-1,0 0 1,0-1-1,0 1 1,0-1-1,0 1 0,0 0 1,0-1-1,0 1 1,0-1-1,0 1 1,0 0-1,1-1 0,-1 1 1,0-1-1,0 1 1,0 0-1,0-1 1,1 1-1,-1 0 0,1-1 1,1-4-103,-1 1 64,8-16-457,-8 19 508,-1 0 0,1-1 0,0 1 0,0 0 0,-1 0 0,1 0 0,0 0 0,0 0 0,0 0 0,0 0-1,0 1 1,0-1 0,1 0 0,-1 0 0,2 0 0,-3 1 24,0 0-1,1 0 1,-1-1-1,1 1 1,-1 0 0,1 0-1,-1 0 1,0 0-1,1 0 1,-1 0-1,1 0 1,-1 0 0,1 0-1,-1 0 1,1 0-1,-1 0 1,1 0 0,-1 0-1,1 0 1,-1 0-1,0 1 1,1-1-1,-1 0 1,1 0 0,-1 0-1,1 1 1,-1-1-1,0 0 1,1 1-1,-1-1 1,0 0 0,1 1-1,-1-1 1,0 0-1,0 1 1,1-1-1,-1 1 1,0-1 0,0 0-1,0 1 1,1-1-1,-1 1 1,0 0-1,8 11 397,-5-9-244,1 0-1,-1 1 1,0-1-1,0 1 1,0 0-1,-1 0 1,1 0-1,-1 0 1,0 0-1,0 0 1,-1 0-1,1 1 1,-1-1-1,0 1 1,0-1-1,0 1 1,-1 0-1,1-1 1,-1 1-1,0 0 1,-2 7-1,-15 110 241,13-89-308,1 52 50,0-5-73,2-76-42,1 0 0,-1 0 0,0-1 0,1 1 0,-2 0 1,1-1-1,0 1 0,-1-1 0,0 0 0,-3 6 0,3-9-318,2-6-599,6-28-3057,-1 4-2249,-2 11 4625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37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12 3073,'0'0'374,"0"-1"1,0 1 0,-1 0 0,1 0 0,0 0-1,0-1 1,-1 1 0,1 0 0,0 0 0,-1 0-1,1 0 1,0-1 0,-1 1 0,1 0 0,0 0-1,-1 0 1,1 0 0,0 0 0,-1 0 0,1 0-1,0 0 1,-1 0 0,1 0 0,0 0 0,-1 0-1,1 0 1,-1 1 0,-17 3 1768,-13 10-2640,28-12 535,1 0 1,-1 0-1,1 0 1,-1 0 0,1 0-1,0 1 1,-2 3 0,3-4-20,-1 0 1,1-1-1,0 1 1,-1-1-1,1 1 1,-1-1 0,1 1-1,-1-1 1,1 0-1,-1 0 1,0 0-1,0 0 1,-3 2-1,-27 4 254,28-7-217,0 1 0,0-1 0,0 1 0,0 0 0,0 0 0,0 1 0,0-1 1,0 1-1,0 0 0,1 0 0,-1 0 0,-4 4 0,8-6 44,0 0-12,8-2-17,74-23 23,-60 18-66,33-7-1,-34 10-16,0-2-1,20-7 0,25-14 119,-94 44 9,20-12-138,1 0 1,-1-1-1,0 0 0,0 0 0,0-1 1,-1 0-1,-9 2 0,-23-3-497,23-1 301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4:30:38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21 3025,'0'0'192,"1"-1"0,-1 1 0,1 0 0,-1-1 0,0 1 0,0-1 0,1 1 0,-1-1 0,0 1 0,0-1 0,1 1 0,-1-1 0,0 0 0,0 1 0,0-1 0,0 1 0,0-1 0,0 1 0,0-1 0,0 1-1,0-1 1,0 0 0,0 1 0,-1-1 0,1-6 951,0 7-1016,-1 0-33,1 0 1,0 0-1,-1 0 0,1 0 1,0 0-1,-1 0 0,1 0 1,0 0-1,-1 0 0,1 0 1,-1 1-1,1-1 0,0 0 1,0 0-1,-1 0 0,1 1 1,0-1-1,-1 0 0,1 0 0,0 0 1,0 1-1,-1-1 0,1 0 1,0 1-1,0-1 0,-1 1 1,-10 10 737,-10 3-542,19-13-229,0 1 0,0-1-1,0 0 1,-1 0 0,1 0 0,0 0 0,-4 0 0,-8 6 463,12-6-411,0 0 0,1-1 0,-1 1 1,0 0-1,0-1 0,0 1 0,0-1 1,-3 1-1,3-1-39,0 0-1,0 1 1,0-1 0,0 1-1,0-1 1,0 1-1,0 0 1,-2 1 0,3-2-65,1 1-1,-1-1 1,1 1 0,-1-1 0,1 1 0,-1 0-1,1-1 1,0 1 0,0 0 0,-1-1-1,1 1 1,0 0 0,0-1 0,-1 1 0,1 0-1,0-1 1,0 1 0,0 0 0,0 0 0,0-1-1,0 1 1,0 0 0,1-1 0,-1 1-1,0 0 1,0 0 0,0-1 0,1 1 0,0 0-1,-1 1 10,1 1 0,0-1 0,1 0 0,-1 0 0,0 0 0,0 0 0,1 0 0,0-1 0,-1 1 0,1 0 0,0-1 0,0 1 0,-1-1 0,1 0 0,0 1 0,4 1 0,4 0 53,-1 1 0,19 3-1,8 4-13,-24-7-22,10 3 33,-21-7-63,0 0-1,-1 1 1,1-1-1,0 0 1,-1 1-1,1-1 1,0 1-1,-1-1 0,1 0 1,-1 1-1,1-1 1,-1 1-1,1 0 1,-1-1-1,0 1 1,1-1-1,-1 1 1,0 0-1,1-1 1,-1 1-1,0 0 0,0-1 1,1 1-1,-1 1 1,-6 1 136,2 0-131,-2 2-1,0-1 0,0 0 0,-1-1 0,1 1 0,-10 3 0,-16 3 19,-58 30 0,47-20-13,38-17-13,-1-1 1,1 0-1,-1 0 1,0 0-1,1-1 0,-1 0 1,0 0-1,0 0 1,0-1-1,-6 0 1,7-4-580,4 3 345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42291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42291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42291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42291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42291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42291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601ED868-E9A5-4B0B-B533-F042F20633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1060" y="1276710"/>
            <a:ext cx="42291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C64C9A8-6FDC-40DD-8A1E-982FE616066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671060" y="2070496"/>
            <a:ext cx="42291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D5DE55E-ECFA-4AC1-B6B5-490956186EE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71060" y="2900944"/>
            <a:ext cx="42291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14F73A99-F289-4C14-B5DB-1A31E38A8401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671060" y="3755354"/>
            <a:ext cx="42291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1AD81D3C-24B9-470B-914F-5A28ED565C4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671060" y="4635164"/>
            <a:ext cx="42291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EA6E9789-3757-4B2A-802C-89E366F7711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71060" y="5514975"/>
            <a:ext cx="42291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6939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>
                <a:latin typeface="Times New Roman" panose="02020603050405020304" pitchFamily="18" charset="0"/>
              </a:defRPr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®</a:t>
            </a:r>
            <a:endParaRPr lang="en-US" sz="1600" spc="40" baseline="60000" dirty="0">
              <a:latin typeface="Times New Roman" panose="02020603050405020304" pitchFamily="18" charset="0"/>
            </a:endParaRPr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6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6" Type="http://schemas.openxmlformats.org/officeDocument/2006/relationships/image" Target="../media/image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10.wmf"/><Relationship Id="rId4" Type="http://schemas.openxmlformats.org/officeDocument/2006/relationships/oleObject" Target="../embeddings/oleObject4.bin"/><Relationship Id="rId5" Type="http://schemas.openxmlformats.org/officeDocument/2006/relationships/image" Target="../media/image11.wmf"/><Relationship Id="rId6" Type="http://schemas.openxmlformats.org/officeDocument/2006/relationships/image" Target="../media/image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5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6.bin"/><Relationship Id="rId5" Type="http://schemas.openxmlformats.org/officeDocument/2006/relationships/image" Target="../media/image13.w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7.bin"/><Relationship Id="rId3" Type="http://schemas.openxmlformats.org/officeDocument/2006/relationships/image" Target="../media/image14.wmf"/><Relationship Id="rId4" Type="http://schemas.openxmlformats.org/officeDocument/2006/relationships/oleObject" Target="../embeddings/oleObject8.bin"/><Relationship Id="rId5" Type="http://schemas.openxmlformats.org/officeDocument/2006/relationships/image" Target="../media/image15.wmf"/><Relationship Id="rId6" Type="http://schemas.openxmlformats.org/officeDocument/2006/relationships/oleObject" Target="../embeddings/oleObject9.bin"/><Relationship Id="rId7" Type="http://schemas.openxmlformats.org/officeDocument/2006/relationships/image" Target="../media/image16.wmf"/><Relationship Id="rId8" Type="http://schemas.openxmlformats.org/officeDocument/2006/relationships/oleObject" Target="../embeddings/oleObject10.bin"/><Relationship Id="rId9" Type="http://schemas.openxmlformats.org/officeDocument/2006/relationships/image" Target="../media/image17.wmf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1.bin"/><Relationship Id="rId3" Type="http://schemas.openxmlformats.org/officeDocument/2006/relationships/image" Target="../media/image22.wmf"/><Relationship Id="rId4" Type="http://schemas.openxmlformats.org/officeDocument/2006/relationships/oleObject" Target="../embeddings/oleObject12.bin"/><Relationship Id="rId5" Type="http://schemas.openxmlformats.org/officeDocument/2006/relationships/image" Target="../media/image23.wmf"/><Relationship Id="rId6" Type="http://schemas.openxmlformats.org/officeDocument/2006/relationships/image" Target="../media/image24.jpe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13.bin"/><Relationship Id="rId3" Type="http://schemas.openxmlformats.org/officeDocument/2006/relationships/image" Target="../media/image27.wmf"/><Relationship Id="rId4" Type="http://schemas.openxmlformats.org/officeDocument/2006/relationships/oleObject" Target="../embeddings/oleObject14.bin"/><Relationship Id="rId5" Type="http://schemas.openxmlformats.org/officeDocument/2006/relationships/image" Target="../media/image28.wmf"/><Relationship Id="rId6" Type="http://schemas.openxmlformats.org/officeDocument/2006/relationships/oleObject" Target="../embeddings/oleObject15.bin"/><Relationship Id="rId7" Type="http://schemas.openxmlformats.org/officeDocument/2006/relationships/image" Target="../media/image29.wmf"/><Relationship Id="rId8" Type="http://schemas.openxmlformats.org/officeDocument/2006/relationships/image" Target="../media/image30.jpe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oleObject" Target="../embeddings/oleObject16.bin"/><Relationship Id="rId3" Type="http://schemas.openxmlformats.org/officeDocument/2006/relationships/image" Target="../media/image33.wmf"/><Relationship Id="rId4" Type="http://schemas.openxmlformats.org/officeDocument/2006/relationships/oleObject" Target="../embeddings/oleObject17.bin"/><Relationship Id="rId5" Type="http://schemas.openxmlformats.org/officeDocument/2006/relationships/image" Target="../media/image34.emf"/><Relationship Id="rId6" Type="http://schemas.openxmlformats.org/officeDocument/2006/relationships/oleObject" Target="../embeddings/oleObject18.bin"/><Relationship Id="rId7" Type="http://schemas.openxmlformats.org/officeDocument/2006/relationships/image" Target="../media/image35.wmf"/><Relationship Id="rId8" Type="http://schemas.openxmlformats.org/officeDocument/2006/relationships/oleObject" Target="../embeddings/oleObject19.bin"/><Relationship Id="rId9" Type="http://schemas.openxmlformats.org/officeDocument/2006/relationships/image" Target="../media/image36.wmf"/><Relationship Id="rId10" Type="http://schemas.openxmlformats.org/officeDocument/2006/relationships/oleObject" Target="../embeddings/oleObject20.bin"/><Relationship Id="rId11" Type="http://schemas.openxmlformats.org/officeDocument/2006/relationships/image" Target="../media/image37.wmf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oleObject" Target="../embeddings/oleObject21.bin"/><Relationship Id="rId3" Type="http://schemas.openxmlformats.org/officeDocument/2006/relationships/image" Target="../media/image45.wmf"/><Relationship Id="rId4" Type="http://schemas.openxmlformats.org/officeDocument/2006/relationships/oleObject" Target="../embeddings/oleObject22.bin"/><Relationship Id="rId5" Type="http://schemas.openxmlformats.org/officeDocument/2006/relationships/image" Target="../media/image46.wmf"/><Relationship Id="rId6" Type="http://schemas.openxmlformats.org/officeDocument/2006/relationships/image" Target="../media/image47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48.wmf"/><Relationship Id="rId4" Type="http://schemas.openxmlformats.org/officeDocument/2006/relationships/oleObject" Target="../embeddings/oleObject24.bin"/><Relationship Id="rId5" Type="http://schemas.openxmlformats.org/officeDocument/2006/relationships/image" Target="../media/image49.wmf"/><Relationship Id="rId6" Type="http://schemas.openxmlformats.org/officeDocument/2006/relationships/oleObject" Target="../embeddings/oleObject25.bin"/><Relationship Id="rId7" Type="http://schemas.openxmlformats.org/officeDocument/2006/relationships/image" Target="../media/image50.wmf"/><Relationship Id="rId8" Type="http://schemas.openxmlformats.org/officeDocument/2006/relationships/image" Target="../media/image47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6.bin"/><Relationship Id="rId3" Type="http://schemas.openxmlformats.org/officeDocument/2006/relationships/image" Target="../media/image51.wmf"/><Relationship Id="rId4" Type="http://schemas.openxmlformats.org/officeDocument/2006/relationships/oleObject" Target="../embeddings/oleObject27.bin"/><Relationship Id="rId5" Type="http://schemas.openxmlformats.org/officeDocument/2006/relationships/image" Target="../media/image52.wmf"/><Relationship Id="rId6" Type="http://schemas.openxmlformats.org/officeDocument/2006/relationships/oleObject" Target="../embeddings/oleObject28.bin"/><Relationship Id="rId7" Type="http://schemas.openxmlformats.org/officeDocument/2006/relationships/image" Target="../media/image53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29.bin"/><Relationship Id="rId3" Type="http://schemas.openxmlformats.org/officeDocument/2006/relationships/image" Target="../media/image54.wmf"/><Relationship Id="rId4" Type="http://schemas.openxmlformats.org/officeDocument/2006/relationships/oleObject" Target="../embeddings/oleObject30.bin"/><Relationship Id="rId5" Type="http://schemas.openxmlformats.org/officeDocument/2006/relationships/image" Target="../media/image55.w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1.bin"/><Relationship Id="rId3" Type="http://schemas.openxmlformats.org/officeDocument/2006/relationships/image" Target="../media/image56.emf"/><Relationship Id="rId4" Type="http://schemas.openxmlformats.org/officeDocument/2006/relationships/oleObject" Target="../embeddings/oleObject32.bin"/><Relationship Id="rId5" Type="http://schemas.openxmlformats.org/officeDocument/2006/relationships/image" Target="../media/image57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61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62.wmf"/><Relationship Id="rId6" Type="http://schemas.openxmlformats.org/officeDocument/2006/relationships/image" Target="../media/image63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5.bin"/><Relationship Id="rId3" Type="http://schemas.openxmlformats.org/officeDocument/2006/relationships/image" Target="../media/image64.wmf"/><Relationship Id="rId4" Type="http://schemas.openxmlformats.org/officeDocument/2006/relationships/oleObject" Target="../embeddings/oleObject36.bin"/><Relationship Id="rId5" Type="http://schemas.openxmlformats.org/officeDocument/2006/relationships/image" Target="../media/image65.wmf"/><Relationship Id="rId6" Type="http://schemas.openxmlformats.org/officeDocument/2006/relationships/image" Target="../media/image63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oleObject" Target="../embeddings/oleObject37.bin"/><Relationship Id="rId3" Type="http://schemas.openxmlformats.org/officeDocument/2006/relationships/image" Target="../media/image66.wmf"/><Relationship Id="rId4" Type="http://schemas.openxmlformats.org/officeDocument/2006/relationships/oleObject" Target="../embeddings/oleObject38.bin"/><Relationship Id="rId5" Type="http://schemas.openxmlformats.org/officeDocument/2006/relationships/image" Target="../media/image67.wmf"/><Relationship Id="rId6" Type="http://schemas.openxmlformats.org/officeDocument/2006/relationships/oleObject" Target="../embeddings/oleObject39.bin"/><Relationship Id="rId7" Type="http://schemas.openxmlformats.org/officeDocument/2006/relationships/image" Target="../media/image68.wmf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customXml" Target="../ink/ink1.xml"/><Relationship Id="rId6" Type="http://schemas.openxmlformats.org/officeDocument/2006/relationships/image" Target="../media/image73.png"/><Relationship Id="rId7" Type="http://schemas.openxmlformats.org/officeDocument/2006/relationships/customXml" Target="../ink/ink2.xml"/><Relationship Id="rId8" Type="http://schemas.openxmlformats.org/officeDocument/2006/relationships/image" Target="../media/image74.png"/><Relationship Id="rId9" Type="http://schemas.openxmlformats.org/officeDocument/2006/relationships/customXml" Target="../ink/ink3.xml"/><Relationship Id="rId10" Type="http://schemas.openxmlformats.org/officeDocument/2006/relationships/image" Target="../media/image75.png"/><Relationship Id="rId11" Type="http://schemas.openxmlformats.org/officeDocument/2006/relationships/customXml" Target="../ink/ink4.xml"/><Relationship Id="rId12" Type="http://schemas.openxmlformats.org/officeDocument/2006/relationships/image" Target="../media/image76.png"/><Relationship Id="rId13" Type="http://schemas.openxmlformats.org/officeDocument/2006/relationships/customXml" Target="../ink/ink5.xml"/><Relationship Id="rId14" Type="http://schemas.openxmlformats.org/officeDocument/2006/relationships/image" Target="../media/image77.png"/><Relationship Id="rId15" Type="http://schemas.openxmlformats.org/officeDocument/2006/relationships/customXml" Target="../ink/ink6.xml"/><Relationship Id="rId16" Type="http://schemas.openxmlformats.org/officeDocument/2006/relationships/image" Target="../media/image78.png"/><Relationship Id="rId17" Type="http://schemas.openxmlformats.org/officeDocument/2006/relationships/customXml" Target="../ink/ink7.xml"/><Relationship Id="rId18" Type="http://schemas.openxmlformats.org/officeDocument/2006/relationships/image" Target="../media/image79.png"/><Relationship Id="rId19" Type="http://schemas.openxmlformats.org/officeDocument/2006/relationships/customXml" Target="../ink/ink8.xml"/><Relationship Id="rId20" Type="http://schemas.openxmlformats.org/officeDocument/2006/relationships/image" Target="../media/image8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1.png"/><Relationship Id="rId5" Type="http://schemas.openxmlformats.org/officeDocument/2006/relationships/image" Target="../media/image680.png"/><Relationship Id="rId6" Type="http://schemas.openxmlformats.org/officeDocument/2006/relationships/oleObject" Target="../embeddings/oleObject40.bin"/><Relationship Id="rId7" Type="http://schemas.openxmlformats.org/officeDocument/2006/relationships/image" Target="../media/image82.wm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Relationship Id="rId10" Type="http://schemas.openxmlformats.org/officeDocument/2006/relationships/image" Target="../media/image92.png"/><Relationship Id="rId11" Type="http://schemas.openxmlformats.org/officeDocument/2006/relationships/image" Target="../media/image93.png"/><Relationship Id="rId12" Type="http://schemas.openxmlformats.org/officeDocument/2006/relationships/image" Target="../media/image9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Overview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chapter introduced the concept of first order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will expand on that with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order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circuits: those that need a second order differential equation.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en-US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altLang="en-US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will be discussed in this context.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response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these circuits will be covered as well.</a:t>
            </a:r>
          </a:p>
        </p:txBody>
      </p:sp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Second Order Circuits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5356860" cy="5047890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chapter considered circuits which only required first order differential equations to solve.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when more than one “storage element”, that is, capacitor or inductor is present, the equations require second order differential equations.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is similar to what was done with first order circuits.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time, though we will only consider D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independent sources.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B59C5FD-27D0-4925-BAD4-4DAFC297D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877" y="522822"/>
            <a:ext cx="3321814" cy="588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870A4-32E7-4266-9A1D-404F4B13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Finding Initial and Final Values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924D51-E183-43C1-BE48-3CD9E04FC1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4420705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second order system is harder than first order in terms of finding initial and final conditions.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know the derivatives,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v/d</a:t>
            </a:r>
            <a:r>
              <a:rPr lang="en-US" altLang="en-US" sz="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</a:t>
            </a:r>
            <a:r>
              <a:rPr lang="en-US" altLang="en-US" sz="1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well.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the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polarity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of current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an </a:t>
            </a:r>
            <a:r>
              <a:rPr lang="en-US" alt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critical.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 voltage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 current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always continuous.</a:t>
            </a:r>
          </a:p>
        </p:txBody>
      </p:sp>
    </p:spTree>
    <p:extLst>
      <p:ext uri="{BB962C8B-B14F-4D97-AF65-F5344CB8AC3E}">
        <p14:creationId xmlns:p14="http://schemas.microsoft.com/office/powerpoint/2010/main" val="293139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F187D20-7AA1-4210-AD4D-F738483A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6" y="0"/>
            <a:ext cx="9144000" cy="244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0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B5473-0665-474B-BBA8-05FF92A02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296" y="547254"/>
            <a:ext cx="2924939" cy="19008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5E889B-6C6E-4B29-8377-031588FF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296" y="2920373"/>
            <a:ext cx="2792783" cy="174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6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17A2F1-3A28-310E-0E38-1F56950C84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B84B45-8C85-4BE8-C0CA-26FA262CFC0F}"/>
              </a:ext>
            </a:extLst>
          </p:cNvPr>
          <p:cNvSpPr txBox="1"/>
          <p:nvPr/>
        </p:nvSpPr>
        <p:spPr>
          <a:xfrm>
            <a:off x="378619" y="105834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en-US" noProof="0" dirty="0">
                <a:latin typeface="+mj-lt"/>
              </a:rPr>
              <a:t>Source Free Series R</a:t>
            </a:r>
            <a:r>
              <a:rPr lang="en-US" altLang="en-US" sz="100" noProof="0" dirty="0">
                <a:latin typeface="+mj-lt"/>
              </a:rPr>
              <a:t> </a:t>
            </a:r>
            <a:r>
              <a:rPr lang="en-US" altLang="en-US" noProof="0" dirty="0">
                <a:latin typeface="+mj-lt"/>
              </a:rPr>
              <a:t>L</a:t>
            </a:r>
            <a:r>
              <a:rPr lang="en-US" altLang="en-US" sz="100" noProof="0" dirty="0">
                <a:latin typeface="+mj-lt"/>
              </a:rPr>
              <a:t> </a:t>
            </a:r>
            <a:r>
              <a:rPr lang="en-US" altLang="en-US" noProof="0" dirty="0">
                <a:latin typeface="+mj-lt"/>
              </a:rPr>
              <a:t>C </a:t>
            </a:r>
          </a:p>
          <a:p>
            <a:endParaRPr lang="en-US" altLang="en-US" noProof="0" dirty="0">
              <a:latin typeface="+mj-lt"/>
            </a:endParaRPr>
          </a:p>
          <a:p>
            <a:r>
              <a:rPr lang="en-US" altLang="en-US" noProof="0" dirty="0">
                <a:latin typeface="+mj-lt"/>
              </a:rPr>
              <a:t>2. Source Free Parallel R</a:t>
            </a:r>
            <a:r>
              <a:rPr lang="en-US" altLang="en-US" sz="100" noProof="0" dirty="0">
                <a:latin typeface="+mj-lt"/>
              </a:rPr>
              <a:t> </a:t>
            </a:r>
            <a:r>
              <a:rPr lang="en-US" altLang="en-US" noProof="0" dirty="0">
                <a:latin typeface="+mj-lt"/>
              </a:rPr>
              <a:t>L</a:t>
            </a:r>
            <a:r>
              <a:rPr lang="en-US" altLang="en-US" sz="100" noProof="0" dirty="0">
                <a:latin typeface="+mj-lt"/>
              </a:rPr>
              <a:t> </a:t>
            </a:r>
            <a:r>
              <a:rPr lang="en-US" altLang="en-US" noProof="0" dirty="0">
                <a:latin typeface="+mj-lt"/>
              </a:rPr>
              <a:t>C </a:t>
            </a:r>
            <a:endParaRPr lang="en-CA" dirty="0">
              <a:latin typeface="+mj-lt"/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C233F-4B6A-14A5-E15F-0270D0F3E64A}"/>
              </a:ext>
            </a:extLst>
          </p:cNvPr>
          <p:cNvSpPr txBox="1"/>
          <p:nvPr/>
        </p:nvSpPr>
        <p:spPr>
          <a:xfrm>
            <a:off x="376083" y="3868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noProof="0" dirty="0">
                <a:latin typeface="+mj-lt"/>
              </a:rPr>
              <a:t>Source Free R L C Circuits </a:t>
            </a:r>
            <a:endParaRPr lang="en-CA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647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Series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</a:t>
            </a:r>
            <a:r>
              <a:rPr lang="en-US" altLang="en-US" sz="1000" b="0" noProof="0" dirty="0"/>
              <a:t>1</a:t>
            </a:r>
            <a:endParaRPr lang="en-US" sz="1000" b="0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899" y="1276710"/>
            <a:ext cx="4536939" cy="332577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circuit shown.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at t = 0 is stored in the capacitor, represented by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 the inductor, represented by </a:t>
            </a:r>
            <a:r>
              <a:rPr lang="en-US" alt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i="1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731947"/>
              </p:ext>
            </p:extLst>
          </p:nvPr>
        </p:nvGraphicFramePr>
        <p:xfrm>
          <a:off x="1037530" y="4178831"/>
          <a:ext cx="2729948" cy="84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393480" progId="Equation.DSMT4">
                  <p:embed/>
                </p:oleObj>
              </mc:Choice>
              <mc:Fallback>
                <p:oleObj name="Equation" r:id="rId2" imgW="1269720" imgH="39348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530" y="4178831"/>
                        <a:ext cx="2729948" cy="847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E1C8BD8-AFAE-441C-B8C5-E73E4DEBE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334374"/>
              </p:ext>
            </p:extLst>
          </p:nvPr>
        </p:nvGraphicFramePr>
        <p:xfrm>
          <a:off x="1397636" y="5195634"/>
          <a:ext cx="1213732" cy="520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228600" progId="Equation.DSMT4">
                  <p:embed/>
                </p:oleObj>
              </mc:Choice>
              <mc:Fallback>
                <p:oleObj name="Equation" r:id="rId4" imgW="533160" imgH="2286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E1C8BD8-AFAE-441C-B8C5-E73E4DEBEB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97636" y="5195634"/>
                        <a:ext cx="1213732" cy="520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35639E3-05EC-4207-B3F5-FF2E241A4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839" y="2082581"/>
            <a:ext cx="3824558" cy="2394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48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DDC09D9-2AE6-46D7-9A2A-EC4B0E25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Series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</a:t>
            </a:r>
            <a:r>
              <a:rPr lang="en-US" altLang="en-US" sz="1000" b="0" noProof="0" dirty="0"/>
              <a:t>2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0DB145-7E64-48F2-86C9-0AE9C65D099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around the loop:</a:t>
            </a: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002148"/>
              </p:ext>
            </p:extLst>
          </p:nvPr>
        </p:nvGraphicFramePr>
        <p:xfrm>
          <a:off x="996396" y="2013478"/>
          <a:ext cx="3944269" cy="892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900" imgH="393700" progId="Equation.DSMT4">
                  <p:embed/>
                </p:oleObj>
              </mc:Choice>
              <mc:Fallback>
                <p:oleObj name="Equation" r:id="rId2" imgW="1739900" imgH="39370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396" y="2013478"/>
                        <a:ext cx="3944269" cy="892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7DD9BD3-4527-4E8C-8642-58006789FE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239347"/>
            <a:ext cx="8458200" cy="536477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integral can be eliminated by differentiation: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9EAF9948-4DFC-4BB9-9D41-FB3E42182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270716"/>
              </p:ext>
            </p:extLst>
          </p:nvPr>
        </p:nvGraphicFramePr>
        <p:xfrm>
          <a:off x="1894190" y="3998289"/>
          <a:ext cx="2749581" cy="898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419040" progId="Equation.DSMT4">
                  <p:embed/>
                </p:oleObj>
              </mc:Choice>
              <mc:Fallback>
                <p:oleObj name="Equation" r:id="rId4" imgW="1282680" imgH="41904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9EAF9948-4DFC-4BB9-9D41-FB3E42182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94190" y="3998289"/>
                        <a:ext cx="2749581" cy="898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0FC2FDA-3DC5-43EE-9E61-9D82F65C114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5199136"/>
            <a:ext cx="8458200" cy="924296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you can see the second order equation that results.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82F680-640F-4492-9F9C-1975C6951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30" y="1385538"/>
            <a:ext cx="2546197" cy="1593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715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DDC09D9-2AE6-46D7-9A2A-EC4B0E25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Series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</a:t>
            </a:r>
            <a:r>
              <a:rPr lang="en-US" altLang="en-US" sz="1000" b="0" noProof="0" dirty="0"/>
              <a:t>3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0DB145-7E64-48F2-86C9-0AE9C65D09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2244397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initial conditions are needed for solving this problem.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current is given.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derivative of the current can also be: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9921E1D5-D5C6-45E6-B65D-543EF57CD3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602488"/>
              </p:ext>
            </p:extLst>
          </p:nvPr>
        </p:nvGraphicFramePr>
        <p:xfrm>
          <a:off x="1431925" y="3708400"/>
          <a:ext cx="310356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393480" progId="Equation.DSMT4">
                  <p:embed/>
                </p:oleObj>
              </mc:Choice>
              <mc:Fallback>
                <p:oleObj name="Equation" r:id="rId2" imgW="1447560" imgH="3934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9921E1D5-D5C6-45E6-B65D-543EF57CD3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31925" y="3708400"/>
                        <a:ext cx="3103563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7DD9BD3-4527-4E8C-8642-58006789FE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725835"/>
            <a:ext cx="1046988" cy="536477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Or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9EAF9948-4DFC-4BB9-9D41-FB3E42182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920418"/>
              </p:ext>
            </p:extLst>
          </p:nvPr>
        </p:nvGraphicFramePr>
        <p:xfrm>
          <a:off x="1811338" y="5396501"/>
          <a:ext cx="29146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393480" progId="Equation.DSMT4">
                  <p:embed/>
                </p:oleObj>
              </mc:Choice>
              <mc:Fallback>
                <p:oleObj name="Equation" r:id="rId4" imgW="1358640" imgH="3934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9EAF9948-4DFC-4BB9-9D41-FB3E42182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1338" y="5396501"/>
                        <a:ext cx="2914650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559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DDC09D9-2AE6-46D7-9A2A-EC4B0E25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Source Free Series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</a:t>
            </a:r>
            <a:r>
              <a:rPr lang="en-US" altLang="en-US" sz="1000" b="0" noProof="0" dirty="0"/>
              <a:t>4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0DB145-7E64-48F2-86C9-0AE9C65D09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151221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first order solutions, we can expect that the solution will be in exponential form.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equation will then be: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4E7A329D-CCB0-4601-B552-6C4D0445C1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313671"/>
              </p:ext>
            </p:extLst>
          </p:nvPr>
        </p:nvGraphicFramePr>
        <p:xfrm>
          <a:off x="1013931" y="2942884"/>
          <a:ext cx="3442155" cy="95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431640" progId="Equation.DSMT4">
                  <p:embed/>
                </p:oleObj>
              </mc:Choice>
              <mc:Fallback>
                <p:oleObj name="Equation" r:id="rId2" imgW="1549080" imgH="43164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4E7A329D-CCB0-4601-B552-6C4D0445C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931" y="2942884"/>
                        <a:ext cx="3442155" cy="95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7DD9BD3-4527-4E8C-8642-58006789FE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856877"/>
            <a:ext cx="8458200" cy="536477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which the solutions are:</a:t>
            </a:r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6A4052E2-2C4A-4B9D-80D8-EC8D51545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486628"/>
              </p:ext>
            </p:extLst>
          </p:nvPr>
        </p:nvGraphicFramePr>
        <p:xfrm>
          <a:off x="828030" y="4480959"/>
          <a:ext cx="5860415" cy="67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400" imgH="291960" progId="Equation.DSMT4">
                  <p:embed/>
                </p:oleObj>
              </mc:Choice>
              <mc:Fallback>
                <p:oleObj name="Equation" r:id="rId4" imgW="2552400" imgH="29196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6A4052E2-2C4A-4B9D-80D8-EC8D515450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30" y="4480959"/>
                        <a:ext cx="5860415" cy="670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FAEB514C-C841-42C4-8F57-7FC1C909F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265858"/>
              </p:ext>
            </p:extLst>
          </p:nvPr>
        </p:nvGraphicFramePr>
        <p:xfrm>
          <a:off x="486323" y="5265611"/>
          <a:ext cx="1055215" cy="839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393480" progId="Equation.DSMT4">
                  <p:embed/>
                </p:oleObj>
              </mc:Choice>
              <mc:Fallback>
                <p:oleObj name="Equation" r:id="rId6" imgW="495000" imgH="39348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FAEB514C-C841-42C4-8F57-7FC1C909FA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323" y="5265611"/>
                        <a:ext cx="1055215" cy="839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B61249B-8294-4578-A582-B2B625BBC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281981"/>
              </p:ext>
            </p:extLst>
          </p:nvPr>
        </p:nvGraphicFramePr>
        <p:xfrm>
          <a:off x="1597360" y="5217580"/>
          <a:ext cx="1497297" cy="898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400" imgH="419040" progId="Equation.DSMT4">
                  <p:embed/>
                </p:oleObj>
              </mc:Choice>
              <mc:Fallback>
                <p:oleObj name="Equation" r:id="rId8" imgW="698400" imgH="4190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B61249B-8294-4578-A582-B2B625BBCD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7360" y="5217580"/>
                        <a:ext cx="1497297" cy="898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5D9A4B-6B0B-44DA-80E5-7CFCB58D52B5}"/>
              </a:ext>
            </a:extLst>
          </p:cNvPr>
          <p:cNvSpPr/>
          <p:nvPr/>
        </p:nvSpPr>
        <p:spPr>
          <a:xfrm>
            <a:off x="671542" y="4303404"/>
            <a:ext cx="6173392" cy="962207"/>
          </a:xfrm>
          <a:prstGeom prst="roundRect">
            <a:avLst/>
          </a:prstGeom>
          <a:noFill/>
          <a:ln>
            <a:solidFill>
              <a:srgbClr val="C0000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4FF68-0E2C-AF29-043E-374E6D6CC6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1" y="2687392"/>
            <a:ext cx="2563230" cy="15065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E8D73B-5519-CE34-0822-C877E50644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5266" y="1656381"/>
            <a:ext cx="1688142" cy="9504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E6DFC0-5870-9596-A71B-2C6A07407C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035928"/>
            <a:ext cx="8979694" cy="6642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A57CC8-B911-6D75-201F-971BF78A7D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8213" y="3060290"/>
            <a:ext cx="2255214" cy="64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0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1E8D-326C-49DA-8004-7C6ACCD1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Overdamped (Alpha &gt; Omega</a:t>
            </a:r>
            <a:r>
              <a:rPr lang="en-US" altLang="en-US" baseline="-25000" noProof="0" dirty="0"/>
              <a:t>0</a:t>
            </a:r>
            <a:r>
              <a:rPr lang="en-US" altLang="en-US" noProof="0" dirty="0"/>
              <a:t>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4A160-66CF-4F85-A4CC-2F13E924FF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1461516" cy="612476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0995A6F8-0565-4204-92BE-A320A6FCA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577853"/>
              </p:ext>
            </p:extLst>
          </p:nvPr>
        </p:nvGraphicFramePr>
        <p:xfrm>
          <a:off x="1855171" y="1265567"/>
          <a:ext cx="1227466" cy="566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28600" progId="Equation.DSMT4">
                  <p:embed/>
                </p:oleObj>
              </mc:Choice>
              <mc:Fallback>
                <p:oleObj name="Equation" r:id="rId2" imgW="495000" imgH="2286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0995A6F8-0565-4204-92BE-A320A6FCAE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55171" y="1265567"/>
                        <a:ext cx="1227466" cy="566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68B7B6-B0BB-4CC9-AF17-DDFCD96836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03750" y="1276710"/>
            <a:ext cx="4774435" cy="61247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overdamped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F8B69-CB77-4524-AC0F-E7CBA3995EA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1932107"/>
            <a:ext cx="5097780" cy="1984574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i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both s</a:t>
            </a:r>
            <a:r>
              <a:rPr lang="en-US" altLang="en-US" i="1" u="sng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en-US" i="1" u="sng" baseline="-25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 u="sn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real and negative.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of the system is: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30C0CA2-B5B3-46E8-A11E-490998C5E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422682"/>
              </p:ext>
            </p:extLst>
          </p:nvPr>
        </p:nvGraphicFramePr>
        <p:xfrm>
          <a:off x="1020996" y="4060530"/>
          <a:ext cx="3109128" cy="66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53800" progId="Equation.DSMT4">
                  <p:embed/>
                </p:oleObj>
              </mc:Choice>
              <mc:Fallback>
                <p:oleObj name="Equation" r:id="rId4" imgW="1180800" imgH="2538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30C0CA2-B5B3-46E8-A11E-490998C5E5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0996" y="4060530"/>
                        <a:ext cx="3109128" cy="667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EBC0B-3ABB-468A-8217-394D385FF5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970912"/>
            <a:ext cx="5097780" cy="950403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this, we should not expect to see an oscillation.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4BC79AD8-2B56-418B-AE02-D70201073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90"/>
          <a:stretch>
            <a:fillRect/>
          </a:stretch>
        </p:blipFill>
        <p:spPr bwMode="auto">
          <a:xfrm>
            <a:off x="5548843" y="2691330"/>
            <a:ext cx="3129299" cy="2738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C86E98-C6E2-BD6C-CC8C-D141C9AB0E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989" y="3318225"/>
            <a:ext cx="4086540" cy="8408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60F63B-73B2-E042-A859-16A9D581C7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3172" y="1710990"/>
            <a:ext cx="2629267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46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1F6E-0DEC-4656-BF30-C5891CE5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Critically Damped </a:t>
            </a:r>
            <a:r>
              <a:rPr lang="en-US" altLang="en-US" dirty="0"/>
              <a:t>(Alpha = Omega</a:t>
            </a:r>
            <a:r>
              <a:rPr lang="en-US" altLang="en-US" baseline="-25000" dirty="0"/>
              <a:t>0</a:t>
            </a:r>
            <a:r>
              <a:rPr lang="en-US" altLang="en-US" dirty="0"/>
              <a:t>)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24A3-9E51-45AD-B88D-9170CCBCE5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1511300" cy="612476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9A23667-C6BB-44A4-9A6D-C3A0A79E46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153634"/>
              </p:ext>
            </p:extLst>
          </p:nvPr>
        </p:nvGraphicFramePr>
        <p:xfrm>
          <a:off x="1775715" y="1303699"/>
          <a:ext cx="1167891" cy="539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28600" progId="Equation.DSMT4">
                  <p:embed/>
                </p:oleObj>
              </mc:Choice>
              <mc:Fallback>
                <p:oleObj name="Equation" r:id="rId2" imgW="495000" imgH="2286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69A23667-C6BB-44A4-9A6D-C3A0A79E46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5715" y="1303699"/>
                        <a:ext cx="1167891" cy="539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3B68F-5075-41EB-9EF8-6278350A69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3606" y="1282108"/>
            <a:ext cx="5251877" cy="582694"/>
          </a:xfrm>
        </p:spPr>
        <p:txBody>
          <a:bodyPr/>
          <a:lstStyle/>
          <a:p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US" altLang="en-US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critically damped</a:t>
            </a: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299151-861F-46A5-B635-216CC2FE71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1910344"/>
            <a:ext cx="6164580" cy="528056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differential equation becomes:</a:t>
            </a: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AF44B14B-B7D8-406F-B0AA-946F8ABA6E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367401"/>
              </p:ext>
            </p:extLst>
          </p:nvPr>
        </p:nvGraphicFramePr>
        <p:xfrm>
          <a:off x="1151882" y="2534657"/>
          <a:ext cx="1802464" cy="859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393480" progId="Equation.DSMT4">
                  <p:embed/>
                </p:oleObj>
              </mc:Choice>
              <mc:Fallback>
                <p:oleObj name="Equation" r:id="rId4" imgW="825480" imgH="393480" progId="Equation.DSMT4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AF44B14B-B7D8-406F-B0AA-946F8ABA6E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882" y="2534657"/>
                        <a:ext cx="1802464" cy="859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D0DB7-D4FC-4027-955E-C830C5B7505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3465448"/>
            <a:ext cx="4503420" cy="577273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which the solution is:</a:t>
            </a:r>
          </a:p>
        </p:txBody>
      </p:sp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4798DDD4-7702-45FC-B52E-C0F69EA511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154456"/>
              </p:ext>
            </p:extLst>
          </p:nvPr>
        </p:nvGraphicFramePr>
        <p:xfrm>
          <a:off x="1151882" y="4092826"/>
          <a:ext cx="2710355" cy="55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520" imgH="253800" progId="Equation.DSMT4">
                  <p:embed/>
                </p:oleObj>
              </mc:Choice>
              <mc:Fallback>
                <p:oleObj name="Equation" r:id="rId6" imgW="1244520" imgH="253800" progId="Equation.DSMT4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4798DDD4-7702-45FC-B52E-C0F69EA511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882" y="4092826"/>
                        <a:ext cx="2710355" cy="55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751E67-D05E-4740-9BA7-660D3580168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42900" y="4741844"/>
            <a:ext cx="5716524" cy="1750396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components to the response, an exponential decay and an exponential decay multiplied by a linear term.</a:t>
            </a: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1BD28DC6-06CF-4928-A683-278C9C948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70" b="26299"/>
          <a:stretch>
            <a:fillRect/>
          </a:stretch>
        </p:blipFill>
        <p:spPr bwMode="auto">
          <a:xfrm>
            <a:off x="6039466" y="2578000"/>
            <a:ext cx="2860114" cy="2379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6A722A-752A-9314-1F8C-6DD9A3F0BA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8390" y="1964906"/>
            <a:ext cx="2995336" cy="4596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02A4FC-4BE2-B072-D699-5EE01906B9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0188" y="5213555"/>
            <a:ext cx="2372956" cy="103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78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65FFDD-C25A-4A6B-A794-B2853367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Underdamped </a:t>
            </a:r>
            <a:r>
              <a:rPr lang="en-US" altLang="en-US" dirty="0"/>
              <a:t>(Alpha &lt; Omega</a:t>
            </a:r>
            <a:r>
              <a:rPr lang="en-US" altLang="en-US" baseline="-25000" dirty="0"/>
              <a:t>0</a:t>
            </a:r>
            <a:r>
              <a:rPr lang="en-US" altLang="en-US" dirty="0"/>
              <a:t>)</a:t>
            </a:r>
            <a:endParaRPr lang="en-US" noProof="0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8D1DD7-FDEC-4B4C-B694-673BB78BD3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1408964" cy="47584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When</a:t>
            </a:r>
            <a:endParaRPr lang="en-US" noProof="0" dirty="0"/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A2AE2566-2BE0-4614-9930-A805FBC3EC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603160"/>
              </p:ext>
            </p:extLst>
          </p:nvPr>
        </p:nvGraphicFramePr>
        <p:xfrm>
          <a:off x="1788440" y="1264556"/>
          <a:ext cx="1284680" cy="592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28600" progId="Equation.DSMT4">
                  <p:embed/>
                </p:oleObj>
              </mc:Choice>
              <mc:Fallback>
                <p:oleObj name="Equation" r:id="rId2" imgW="495000" imgH="2286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A2AE2566-2BE0-4614-9930-A805FBC3EC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8440" y="1264556"/>
                        <a:ext cx="1284680" cy="592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7B402A9-695E-49A9-80E4-85ADBD5AE86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09696" y="1288903"/>
            <a:ext cx="5788940" cy="528550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/>
              <a:t>the system is considered to be</a:t>
            </a:r>
            <a:endParaRPr lang="en-US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30C3483-BA61-44E1-A2F0-68BD97F199B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1816034"/>
            <a:ext cx="2933700" cy="483449"/>
          </a:xfrm>
        </p:spPr>
        <p:txBody>
          <a:bodyPr>
            <a:noAutofit/>
          </a:bodyPr>
          <a:lstStyle/>
          <a:p>
            <a:pPr marL="291600"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>
                <a:solidFill>
                  <a:srgbClr val="FF0000"/>
                </a:solidFill>
              </a:rPr>
              <a:t>underdamped</a:t>
            </a:r>
            <a:r>
              <a:rPr lang="en-US" altLang="en-US" noProof="0" dirty="0"/>
              <a:t>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30AE966-7260-4321-A01B-AB9D2046F73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900" y="2557145"/>
            <a:ext cx="8458200" cy="51237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In this case, the solution will be:</a:t>
            </a:r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87662FC7-CF25-42B0-A100-CC03682F4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86802"/>
              </p:ext>
            </p:extLst>
          </p:nvPr>
        </p:nvGraphicFramePr>
        <p:xfrm>
          <a:off x="1016825" y="3242726"/>
          <a:ext cx="483012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90924" imgH="523951" progId="Equation.DSMT4">
                  <p:embed/>
                </p:oleObj>
              </mc:Choice>
              <mc:Fallback>
                <p:oleObj name="Equation" r:id="rId4" imgW="4390924" imgH="523951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87662FC7-CF25-42B0-A100-CC03682F4B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6825" y="3242726"/>
                        <a:ext cx="4830128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DECDDCA-CCBD-4A00-B5BC-C8E6EA40F83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42900" y="4155089"/>
            <a:ext cx="1592580" cy="524794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Where</a:t>
            </a:r>
            <a:endParaRPr lang="en-US" noProof="0" dirty="0"/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1ACCEC65-80AE-40B3-9364-2BC33E63FB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120329"/>
              </p:ext>
            </p:extLst>
          </p:nvPr>
        </p:nvGraphicFramePr>
        <p:xfrm>
          <a:off x="1881188" y="4059238"/>
          <a:ext cx="41878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291960" progId="Equation.DSMT4">
                  <p:embed/>
                </p:oleObj>
              </mc:Choice>
              <mc:Fallback>
                <p:oleObj name="Equation" r:id="rId6" imgW="1777680" imgH="29196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1ACCEC65-80AE-40B3-9364-2BC33E63FB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81188" y="4059238"/>
                        <a:ext cx="4187825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9CAA9F1-2863-4FF1-A083-7C23323D986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42900" y="4956695"/>
            <a:ext cx="449580" cy="50571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 </a:t>
            </a:r>
          </a:p>
        </p:txBody>
      </p:sp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D2646C48-53B1-4452-9F6F-AE5955333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631319"/>
              </p:ext>
            </p:extLst>
          </p:nvPr>
        </p:nvGraphicFramePr>
        <p:xfrm>
          <a:off x="716280" y="5209550"/>
          <a:ext cx="543519" cy="652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28600" progId="Equation.DSMT4">
                  <p:embed/>
                </p:oleObj>
              </mc:Choice>
              <mc:Fallback>
                <p:oleObj name="Equation" r:id="rId8" imgW="190440" imgH="22860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D2646C48-53B1-4452-9F6F-AE59553336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6280" y="5209550"/>
                        <a:ext cx="543519" cy="652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83782CE0-D169-4FE2-9D40-1C897ACB342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325118" y="5340589"/>
            <a:ext cx="7710465" cy="505710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/>
              <a:t>is often called the </a:t>
            </a:r>
            <a:r>
              <a:rPr lang="en-US" altLang="en-US" b="1" noProof="0" dirty="0"/>
              <a:t>undamped </a:t>
            </a:r>
            <a:r>
              <a:rPr lang="en-US" altLang="en-US" b="1" dirty="0"/>
              <a:t>natural frequency</a:t>
            </a:r>
            <a:r>
              <a:rPr lang="en-US" altLang="en-US" dirty="0"/>
              <a:t>.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456ECE3-FD2C-4712-95D7-99412BCA95B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42900" y="5671007"/>
            <a:ext cx="449580" cy="50571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 </a:t>
            </a:r>
          </a:p>
        </p:txBody>
      </p: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4ABDF17F-F21F-48A4-916C-73BD12D00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867927"/>
              </p:ext>
            </p:extLst>
          </p:nvPr>
        </p:nvGraphicFramePr>
        <p:xfrm>
          <a:off x="792480" y="5903942"/>
          <a:ext cx="579755" cy="649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28600" progId="Equation.DSMT4">
                  <p:embed/>
                </p:oleObj>
              </mc:Choice>
              <mc:Fallback>
                <p:oleObj name="Equation" r:id="rId10" imgW="203040" imgH="2286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4ABDF17F-F21F-48A4-916C-73BD12D00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2480" y="5903942"/>
                        <a:ext cx="579755" cy="649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EA5E4CB-BCFB-462B-B773-48C3DE31361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259799" y="5955905"/>
            <a:ext cx="7465101" cy="505710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</a:pPr>
            <a:r>
              <a:rPr lang="en-US" altLang="en-US" noProof="0" dirty="0"/>
              <a:t>is called the </a:t>
            </a:r>
            <a:r>
              <a:rPr lang="en-US" altLang="en-US" b="1" noProof="0" dirty="0"/>
              <a:t>damped natural frequency</a:t>
            </a:r>
            <a:r>
              <a:rPr lang="en-US" altLang="en-US" noProof="0" dirty="0"/>
              <a:t>.</a:t>
            </a:r>
            <a:endParaRPr lang="en-US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F38D9D-15E8-4564-8C13-6F042700C0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9412" y="2272895"/>
            <a:ext cx="2591688" cy="2475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6BCCB9-D512-3757-8794-41E07605BA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5560" y="1816034"/>
            <a:ext cx="1162212" cy="657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72F6B9-740C-9EAA-1B27-72CF27F717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9259" y="3989440"/>
            <a:ext cx="3174741" cy="7503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CA00BC-1556-6A9D-119A-BC434A7687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50974" y="4792721"/>
            <a:ext cx="2912807" cy="56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65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06691A-CE9B-AF85-27CA-EE5A1D5FE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E4B89F-1A18-F9C4-DFC4-102D94D5B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77" y="941639"/>
            <a:ext cx="8833362" cy="389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1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F21DDB-EED6-5A3A-850C-7828BB3B5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01"/>
            <a:ext cx="9144000" cy="137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47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72652-1D4A-4F88-8060-2820490C8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5"/>
            <a:ext cx="9144000" cy="342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78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795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674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17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8666682-1FE9-48E2-9D4C-CAC9FEF3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Source Free Parallel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Network </a:t>
            </a:r>
            <a:r>
              <a:rPr lang="en-US" altLang="en-US" sz="1100" b="0" noProof="0" dirty="0"/>
              <a:t>1</a:t>
            </a:r>
            <a:endParaRPr lang="en-US" sz="1100" b="0" noProof="0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3EC5F59-CE5C-43F5-A7F5-7600CCD7D0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4838700" cy="256377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Now let us look at parallel forms of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networks.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Consider the circuit shown.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Assume the initial current and voltage to be: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D90C4DA-F109-4151-A8A4-33CB34A25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175195"/>
              </p:ext>
            </p:extLst>
          </p:nvPr>
        </p:nvGraphicFramePr>
        <p:xfrm>
          <a:off x="909638" y="4095750"/>
          <a:ext cx="29940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393480" progId="Equation.DSMT4">
                  <p:embed/>
                </p:oleObj>
              </mc:Choice>
              <mc:Fallback>
                <p:oleObj name="Equation" r:id="rId2" imgW="1396800" imgH="393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D90C4DA-F109-4151-A8A4-33CB34A25B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9638" y="4095750"/>
                        <a:ext cx="2994025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8103484-5A7C-4D88-B589-873A12853F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064727"/>
              </p:ext>
            </p:extLst>
          </p:nvPr>
        </p:nvGraphicFramePr>
        <p:xfrm>
          <a:off x="910092" y="5198301"/>
          <a:ext cx="1279507" cy="544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53800" progId="Equation.DSMT4">
                  <p:embed/>
                </p:oleObj>
              </mc:Choice>
              <mc:Fallback>
                <p:oleObj name="Equation" r:id="rId4" imgW="596880" imgH="253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8103484-5A7C-4D88-B589-873A12853F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0092" y="5198301"/>
                        <a:ext cx="1279507" cy="5444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>
            <a:extLst>
              <a:ext uri="{FF2B5EF4-FFF2-40B4-BE49-F238E27FC236}">
                <a16:creationId xmlns:a16="http://schemas.microsoft.com/office/drawing/2014/main" id="{DC9806FA-0F2F-4252-B096-DA34073F3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055" y="2361569"/>
            <a:ext cx="3411474" cy="227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757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Source Free Parallel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Network </a:t>
            </a:r>
            <a:r>
              <a:rPr lang="en-US" altLang="en-US" sz="1100" b="0" noProof="0" dirty="0"/>
              <a:t>2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304550"/>
            <a:ext cx="8458200" cy="556796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Applying K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 to the top node we get:</a:t>
            </a: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E3BC8635-190D-47A7-90FA-99794F97C3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883147"/>
              </p:ext>
            </p:extLst>
          </p:nvPr>
        </p:nvGraphicFramePr>
        <p:xfrm>
          <a:off x="1083082" y="2025152"/>
          <a:ext cx="3910914" cy="870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393480" progId="Equation.DSMT4">
                  <p:embed/>
                </p:oleObj>
              </mc:Choice>
              <mc:Fallback>
                <p:oleObj name="Equation" r:id="rId2" imgW="1765080" imgH="393480" progId="Equation.DSMT4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E3BC8635-190D-47A7-90FA-99794F97C3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082" y="2025152"/>
                        <a:ext cx="3910914" cy="870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81435"/>
            <a:ext cx="8458200" cy="536477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Taking the derivative with respect to t gives:</a:t>
            </a:r>
          </a:p>
        </p:txBody>
      </p:sp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7873E454-C27A-4EDE-B332-CF3192F26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669684"/>
              </p:ext>
            </p:extLst>
          </p:nvPr>
        </p:nvGraphicFramePr>
        <p:xfrm>
          <a:off x="902598" y="3822486"/>
          <a:ext cx="3272556" cy="892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419040" progId="Equation.DSMT4">
                  <p:embed/>
                </p:oleObj>
              </mc:Choice>
              <mc:Fallback>
                <p:oleObj name="Equation" r:id="rId4" imgW="1536480" imgH="419040" progId="Equation.DSMT4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7873E454-C27A-4EDE-B332-CF3192F264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598" y="3822486"/>
                        <a:ext cx="3272556" cy="892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FF2EF3B-2F19-49E9-8261-0AE1601833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971034"/>
            <a:ext cx="8458200" cy="55628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characteristic equation for this is:</a:t>
            </a:r>
          </a:p>
        </p:txBody>
      </p:sp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9E6C40C8-783E-4744-A9F3-4678894919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294693"/>
              </p:ext>
            </p:extLst>
          </p:nvPr>
        </p:nvGraphicFramePr>
        <p:xfrm>
          <a:off x="902598" y="5600467"/>
          <a:ext cx="2512313" cy="811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393480" progId="Equation.DSMT4">
                  <p:embed/>
                </p:oleObj>
              </mc:Choice>
              <mc:Fallback>
                <p:oleObj name="Equation" r:id="rId6" imgW="1218960" imgH="393480" progId="Equation.DSMT4">
                  <p:embed/>
                  <p:pic>
                    <p:nvPicPr>
                      <p:cNvPr id="19" name="Object 7">
                        <a:extLst>
                          <a:ext uri="{FF2B5EF4-FFF2-40B4-BE49-F238E27FC236}">
                            <a16:creationId xmlns:a16="http://schemas.microsoft.com/office/drawing/2014/main" id="{9E6C40C8-783E-4744-A9F3-4678894919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598" y="5600467"/>
                        <a:ext cx="2512313" cy="811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5">
            <a:extLst>
              <a:ext uri="{FF2B5EF4-FFF2-40B4-BE49-F238E27FC236}">
                <a16:creationId xmlns:a16="http://schemas.microsoft.com/office/drawing/2014/main" id="{4206A39F-6844-49E2-AA1B-E2DA8C677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739" y="1528474"/>
            <a:ext cx="2391361" cy="1591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3111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noProof="0" dirty="0"/>
              <a:t>Source Free Parallel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Network </a:t>
            </a:r>
            <a:r>
              <a:rPr lang="en-US" altLang="en-US" sz="1100" b="0" noProof="0" dirty="0"/>
              <a:t>3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304549"/>
            <a:ext cx="8458200" cy="940245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From this, we can find the roots of the characteristic equation to be: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2991A01-078C-45DD-8939-B120ADF7B4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005452"/>
              </p:ext>
            </p:extLst>
          </p:nvPr>
        </p:nvGraphicFramePr>
        <p:xfrm>
          <a:off x="1337342" y="2501247"/>
          <a:ext cx="3115882" cy="70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91960" progId="Equation.DSMT4">
                  <p:embed/>
                </p:oleObj>
              </mc:Choice>
              <mc:Fallback>
                <p:oleObj name="Equation" r:id="rId2" imgW="1295280" imgH="2919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2991A01-078C-45DD-8939-B120ADF7B4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7342" y="2501247"/>
                        <a:ext cx="3115882" cy="70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60268FF-F7D8-49EC-9F7B-AD9ACB042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702460"/>
              </p:ext>
            </p:extLst>
          </p:nvPr>
        </p:nvGraphicFramePr>
        <p:xfrm>
          <a:off x="1493748" y="3378666"/>
          <a:ext cx="1332999" cy="860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393480" progId="Equation.DSMT4">
                  <p:embed/>
                </p:oleObj>
              </mc:Choice>
              <mc:Fallback>
                <p:oleObj name="Equation" r:id="rId4" imgW="609480" imgH="393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60268FF-F7D8-49EC-9F7B-AD9ACB042B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93748" y="3378666"/>
                        <a:ext cx="1332999" cy="8608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8CCC18F-CFF6-46F8-802C-8FA45D3DD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692223"/>
              </p:ext>
            </p:extLst>
          </p:nvPr>
        </p:nvGraphicFramePr>
        <p:xfrm>
          <a:off x="3059655" y="3350896"/>
          <a:ext cx="1527393" cy="916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419040" progId="Equation.DSMT4">
                  <p:embed/>
                </p:oleObj>
              </mc:Choice>
              <mc:Fallback>
                <p:oleObj name="Equation" r:id="rId6" imgW="69840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8CCC18F-CFF6-46F8-802C-8FA45D3DD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59655" y="3350896"/>
                        <a:ext cx="1527393" cy="916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782913"/>
            <a:ext cx="8458200" cy="952144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As in last time, there are three scenarios to consider.</a:t>
            </a:r>
          </a:p>
        </p:txBody>
      </p:sp>
    </p:spTree>
    <p:extLst>
      <p:ext uri="{BB962C8B-B14F-4D97-AF65-F5344CB8AC3E}">
        <p14:creationId xmlns:p14="http://schemas.microsoft.com/office/powerpoint/2010/main" val="964340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Damping</a:t>
            </a:r>
            <a:endParaRPr lang="en-US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304549"/>
            <a:ext cx="8458200" cy="940245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For the overdamped case, the roots are real and negative, so the response is:</a:t>
            </a: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1704B362-985E-46F8-B5D5-4290EBEE3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485600"/>
              </p:ext>
            </p:extLst>
          </p:nvPr>
        </p:nvGraphicFramePr>
        <p:xfrm>
          <a:off x="1371600" y="245364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253800" progId="Equation.DSMT4">
                  <p:embed/>
                </p:oleObj>
              </mc:Choice>
              <mc:Fallback>
                <p:oleObj name="Equation" r:id="rId2" imgW="1206360" imgH="253800" progId="Equation.DSMT4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1704B362-985E-46F8-B5D5-4290EBEE3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45364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333046"/>
            <a:ext cx="8458200" cy="905933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For critically damped, the roots are real and equal, so the response is: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902F7A8D-00B8-4D07-BF72-77930FD96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93814"/>
              </p:ext>
            </p:extLst>
          </p:nvPr>
        </p:nvGraphicFramePr>
        <p:xfrm>
          <a:off x="1371600" y="4447825"/>
          <a:ext cx="30464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253800" progId="Equation.DSMT4">
                  <p:embed/>
                </p:oleObj>
              </mc:Choice>
              <mc:Fallback>
                <p:oleObj name="Equation" r:id="rId4" imgW="1269720" imgH="2538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902F7A8D-00B8-4D07-BF72-77930FD96B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47825"/>
                        <a:ext cx="30464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4149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/>
          <a:lstStyle/>
          <a:p>
            <a:r>
              <a:rPr lang="en-US" altLang="en-US" noProof="0" dirty="0"/>
              <a:t>Underdamped </a:t>
            </a:r>
            <a:endParaRPr lang="en-US" sz="1000" b="0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304549"/>
            <a:ext cx="8458200" cy="940245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In the underdamped case, the roots are complex and so the response will be: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DBE980C-A9CF-4EC5-95A1-4B6BA44394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91719"/>
              </p:ext>
            </p:extLst>
          </p:nvPr>
        </p:nvGraphicFramePr>
        <p:xfrm>
          <a:off x="1393984" y="2424589"/>
          <a:ext cx="489299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8170" imgH="523951" progId="Equation.DSMT4">
                  <p:embed/>
                </p:oleObj>
              </mc:Choice>
              <mc:Fallback>
                <p:oleObj name="Equation" r:id="rId2" imgW="4448170" imgH="523951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DBE980C-A9CF-4EC5-95A1-4B6BA44394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3984" y="2424589"/>
                        <a:ext cx="4892993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80647"/>
            <a:ext cx="8458200" cy="1513274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To get the values for the constants, we need to know </a:t>
            </a:r>
            <a:r>
              <a:rPr lang="en-US" altLang="en-US" i="1" noProof="0" dirty="0"/>
              <a:t>v(0)</a:t>
            </a:r>
            <a:r>
              <a:rPr lang="en-US" altLang="en-US" noProof="0" dirty="0"/>
              <a:t> and </a:t>
            </a:r>
            <a:r>
              <a:rPr lang="en-US" altLang="en-US" i="1" noProof="0" dirty="0"/>
              <a:t>d</a:t>
            </a:r>
            <a:r>
              <a:rPr lang="en-US" altLang="en-US" sz="100" i="1" noProof="0" dirty="0"/>
              <a:t> </a:t>
            </a:r>
            <a:r>
              <a:rPr lang="en-US" altLang="en-US" i="1" noProof="0" dirty="0"/>
              <a:t>v(0)/d</a:t>
            </a:r>
            <a:r>
              <a:rPr lang="en-US" altLang="en-US" sz="100" i="1" noProof="0" dirty="0"/>
              <a:t> </a:t>
            </a:r>
            <a:r>
              <a:rPr lang="en-US" altLang="en-US" i="1" noProof="0" dirty="0"/>
              <a:t>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To find the second term, we use: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71485D7-A85B-4D81-94B5-E1AECF79D2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96022"/>
              </p:ext>
            </p:extLst>
          </p:nvPr>
        </p:nvGraphicFramePr>
        <p:xfrm>
          <a:off x="1393984" y="4934676"/>
          <a:ext cx="2858374" cy="897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419040" progId="Equation.DSMT4">
                  <p:embed/>
                </p:oleObj>
              </mc:Choice>
              <mc:Fallback>
                <p:oleObj name="Equation" r:id="rId4" imgW="1333440" imgH="419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71485D7-A85B-4D81-94B5-E1AECF79D2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93984" y="4934676"/>
                        <a:ext cx="2858374" cy="897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7606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A060C75-D3B7-4AB4-89B2-110D287360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5737" y="162284"/>
            <a:ext cx="8458200" cy="4971691"/>
          </a:xfrm>
        </p:spPr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voltage waveforms will be similar to those shown for the series network.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Note that in the series network, we first found the inductor current and then solved for the rest from that.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Here we start with the capacitor voltage and similarly, solve for the other variables from that.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A1F86-E571-549A-299A-C1FDAC70A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9" y="3217068"/>
            <a:ext cx="4922044" cy="328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94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729680-6D27-4AF6-8733-4C846B458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680" y="1029154"/>
            <a:ext cx="3206810" cy="25709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EA0FF5-FB07-A079-E4CB-026341555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34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762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465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602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noProof="0" dirty="0"/>
              <a:t>Step Response of a Series R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C Circuit </a:t>
            </a:r>
            <a:endParaRPr lang="en-US" sz="1000" b="0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304549"/>
            <a:ext cx="8458200" cy="183489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Now let us consider what happens when a </a:t>
            </a:r>
            <a:r>
              <a:rPr lang="en-US" altLang="en-US" sz="2400" i="1" noProof="0" dirty="0"/>
              <a:t>D</a:t>
            </a:r>
            <a:r>
              <a:rPr lang="en-US" altLang="en-US" sz="100" i="1" noProof="0" dirty="0"/>
              <a:t> </a:t>
            </a:r>
            <a:r>
              <a:rPr lang="en-US" altLang="en-US" sz="2400" i="1" noProof="0" dirty="0"/>
              <a:t>C voltage </a:t>
            </a:r>
            <a:r>
              <a:rPr lang="en-US" altLang="en-US" sz="2400" noProof="0" dirty="0"/>
              <a:t>is suddenly applied to a second order circuit.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Consider the circuit shown. The switch closes at t = 0.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Applying K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V</a:t>
            </a:r>
            <a:r>
              <a:rPr lang="en-US" altLang="en-US" sz="100" noProof="0" dirty="0"/>
              <a:t> </a:t>
            </a:r>
            <a:r>
              <a:rPr lang="en-US" altLang="en-US" sz="2400" noProof="0" dirty="0"/>
              <a:t>L around the loop for t &gt; 0: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A9107F9-4C17-4C75-A78C-F4A3B62FCC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527181"/>
              </p:ext>
            </p:extLst>
          </p:nvPr>
        </p:nvGraphicFramePr>
        <p:xfrm>
          <a:off x="1143000" y="3327425"/>
          <a:ext cx="22717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393480" progId="Equation.DSMT4">
                  <p:embed/>
                </p:oleObj>
              </mc:Choice>
              <mc:Fallback>
                <p:oleObj name="Equation" r:id="rId2" imgW="1066680" imgH="393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A9107F9-4C17-4C75-A78C-F4A3B62FCC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27425"/>
                        <a:ext cx="22717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448890"/>
            <a:ext cx="1198626" cy="45800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noProof="0" dirty="0"/>
              <a:t>but</a:t>
            </a: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D72A7CD2-696A-46CA-9C45-20B70F92E9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253216"/>
              </p:ext>
            </p:extLst>
          </p:nvPr>
        </p:nvGraphicFramePr>
        <p:xfrm>
          <a:off x="1143000" y="5038004"/>
          <a:ext cx="1198626" cy="864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393480" progId="Equation.DSMT4">
                  <p:embed/>
                </p:oleObj>
              </mc:Choice>
              <mc:Fallback>
                <p:oleObj name="Equation" r:id="rId4" imgW="545760" imgH="393480" progId="Equation.DSMT4">
                  <p:embed/>
                  <p:pic>
                    <p:nvPicPr>
                      <p:cNvPr id="13" name="Object 7">
                        <a:extLst>
                          <a:ext uri="{FF2B5EF4-FFF2-40B4-BE49-F238E27FC236}">
                            <a16:creationId xmlns:a16="http://schemas.microsoft.com/office/drawing/2014/main" id="{D72A7CD2-696A-46CA-9C45-20B70F92E9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38004"/>
                        <a:ext cx="1198626" cy="864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5">
            <a:extLst>
              <a:ext uri="{FF2B5EF4-FFF2-40B4-BE49-F238E27FC236}">
                <a16:creationId xmlns:a16="http://schemas.microsoft.com/office/drawing/2014/main" id="{9D6987D5-8E42-4863-90E0-DE16D39EE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59960"/>
            <a:ext cx="3781425" cy="169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704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noProof="0" dirty="0"/>
              <a:t>Step Response of a Series R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C Circuit </a:t>
            </a:r>
            <a:r>
              <a:rPr lang="en-US" altLang="en-US" sz="1000" b="0" noProof="0" dirty="0"/>
              <a:t>2</a:t>
            </a:r>
            <a:endParaRPr lang="en-US" sz="3400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304549"/>
            <a:ext cx="8458200" cy="55124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Substituting for </a:t>
            </a:r>
            <a:r>
              <a:rPr lang="en-US" altLang="en-US" i="1" noProof="0" dirty="0" err="1"/>
              <a:t>i</a:t>
            </a:r>
            <a:r>
              <a:rPr lang="en-US" altLang="en-US" i="1" noProof="0" dirty="0"/>
              <a:t> </a:t>
            </a:r>
            <a:r>
              <a:rPr lang="en-US" altLang="en-US" noProof="0" dirty="0"/>
              <a:t>gives:</a:t>
            </a: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498B3625-16F7-4696-A1FE-5DAE269E98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304522"/>
              </p:ext>
            </p:extLst>
          </p:nvPr>
        </p:nvGraphicFramePr>
        <p:xfrm>
          <a:off x="988837" y="2005685"/>
          <a:ext cx="3163317" cy="892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720" imgH="419040" progId="Equation.DSMT4">
                  <p:embed/>
                </p:oleObj>
              </mc:Choice>
              <mc:Fallback>
                <p:oleObj name="Equation" r:id="rId2" imgW="1485720" imgH="419040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498B3625-16F7-4696-A1FE-5DAE269E9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837" y="2005685"/>
                        <a:ext cx="3163317" cy="892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91256"/>
            <a:ext cx="8458200" cy="233172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This is similar to the response for the source free version of the series circuit, except the variable is different.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solution to this equation is a combination of transient response and steady state.</a:t>
            </a: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DB05672C-3188-409B-B3FF-72B5B5EFD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879559"/>
              </p:ext>
            </p:extLst>
          </p:nvPr>
        </p:nvGraphicFramePr>
        <p:xfrm>
          <a:off x="988837" y="5749290"/>
          <a:ext cx="2654650" cy="55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253800" progId="Equation.DSMT4">
                  <p:embed/>
                </p:oleObj>
              </mc:Choice>
              <mc:Fallback>
                <p:oleObj name="Equation" r:id="rId4" imgW="1218960" imgH="253800" progId="Equation.DSMT4">
                  <p:embed/>
                  <p:pic>
                    <p:nvPicPr>
                      <p:cNvPr id="11" name="Object 7">
                        <a:extLst>
                          <a:ext uri="{FF2B5EF4-FFF2-40B4-BE49-F238E27FC236}">
                            <a16:creationId xmlns:a16="http://schemas.microsoft.com/office/drawing/2014/main" id="{DB05672C-3188-409B-B3FF-72B5B5EFD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837" y="5749290"/>
                        <a:ext cx="2654650" cy="55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">
            <a:extLst>
              <a:ext uri="{FF2B5EF4-FFF2-40B4-BE49-F238E27FC236}">
                <a16:creationId xmlns:a16="http://schemas.microsoft.com/office/drawing/2014/main" id="{43AC4D6B-F906-429E-9A12-B108D3A69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255" y="1204338"/>
            <a:ext cx="3781425" cy="169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79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B13969B-C2D4-4543-8A4E-EA2A67F8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noProof="0" dirty="0"/>
              <a:t>Step Response of a Series R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C Circuit </a:t>
            </a:r>
            <a:endParaRPr lang="en-US" sz="3400" noProof="0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73A33CF-DA31-4608-8FAB-4303559E389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transient response is in the same form as the solutions for the source free version.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steady state response is the final value of </a:t>
            </a:r>
            <a:r>
              <a:rPr lang="en-US" altLang="en-US" i="1" noProof="0" dirty="0"/>
              <a:t>v(t)</a:t>
            </a:r>
            <a:r>
              <a:rPr lang="en-US" altLang="en-US" noProof="0" dirty="0"/>
              <a:t>. In this case, the capacitor voltage will equal the source voltage.</a:t>
            </a:r>
          </a:p>
        </p:txBody>
      </p:sp>
    </p:spTree>
    <p:extLst>
      <p:ext uri="{BB962C8B-B14F-4D97-AF65-F5344CB8AC3E}">
        <p14:creationId xmlns:p14="http://schemas.microsoft.com/office/powerpoint/2010/main" val="762791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noProof="0" dirty="0"/>
              <a:t>Step Response of a Series R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C Circuit </a:t>
            </a:r>
            <a:r>
              <a:rPr lang="en-US" altLang="en-US" sz="1000" b="0" noProof="0" dirty="0"/>
              <a:t>4</a:t>
            </a:r>
            <a:endParaRPr lang="en-US" sz="3400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304549"/>
            <a:ext cx="8458200" cy="99669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complete solutions for the three conditions of damping are: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BAD59BD-92AB-428A-8417-C63B8ED28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630791"/>
              </p:ext>
            </p:extLst>
          </p:nvPr>
        </p:nvGraphicFramePr>
        <p:xfrm>
          <a:off x="1366090" y="2485473"/>
          <a:ext cx="5284060" cy="533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253800" progId="Equation.DSMT4">
                  <p:embed/>
                </p:oleObj>
              </mc:Choice>
              <mc:Fallback>
                <p:oleObj name="Equation" r:id="rId2" imgW="2514600" imgH="2538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BAD59BD-92AB-428A-8417-C63B8ED284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6090" y="2485473"/>
                        <a:ext cx="5284060" cy="533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B654C72-E39D-4645-A6AF-4681821D10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436883"/>
              </p:ext>
            </p:extLst>
          </p:nvPr>
        </p:nvGraphicFramePr>
        <p:xfrm>
          <a:off x="1339922" y="3150967"/>
          <a:ext cx="6004613" cy="533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320" imgH="253800" progId="Equation.DSMT4">
                  <p:embed/>
                </p:oleObj>
              </mc:Choice>
              <mc:Fallback>
                <p:oleObj name="Equation" r:id="rId4" imgW="2857320" imgH="253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B654C72-E39D-4645-A6AF-4681821D10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39922" y="3150967"/>
                        <a:ext cx="6004613" cy="533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60DDE19-E3CE-42DA-BCB7-FB63293579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768511"/>
              </p:ext>
            </p:extLst>
          </p:nvPr>
        </p:nvGraphicFramePr>
        <p:xfrm>
          <a:off x="1310844" y="3804269"/>
          <a:ext cx="6805228" cy="533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8200" imgH="253800" progId="Equation.DSMT4">
                  <p:embed/>
                </p:oleObj>
              </mc:Choice>
              <mc:Fallback>
                <p:oleObj name="Equation" r:id="rId6" imgW="3238200" imgH="2538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60DDE19-E3CE-42DA-BCB7-FB63293579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0844" y="3804269"/>
                        <a:ext cx="6805228" cy="533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724400"/>
            <a:ext cx="8458200" cy="99669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variables </a:t>
            </a:r>
            <a:r>
              <a:rPr lang="en-US" altLang="en-US" b="1" i="1" noProof="0" dirty="0"/>
              <a:t>A</a:t>
            </a:r>
            <a:r>
              <a:rPr lang="en-US" altLang="en-US" b="1" i="1" baseline="-25000" noProof="0" dirty="0"/>
              <a:t>1</a:t>
            </a:r>
            <a:r>
              <a:rPr lang="en-US" altLang="en-US" b="1" noProof="0" dirty="0"/>
              <a:t> </a:t>
            </a:r>
            <a:r>
              <a:rPr lang="en-US" altLang="en-US" noProof="0" dirty="0"/>
              <a:t>and </a:t>
            </a:r>
            <a:r>
              <a:rPr lang="en-US" altLang="en-US" b="1" i="1" noProof="0" dirty="0"/>
              <a:t>A</a:t>
            </a:r>
            <a:r>
              <a:rPr lang="en-US" altLang="en-US" b="1" i="1" baseline="-25000" noProof="0" dirty="0"/>
              <a:t>2</a:t>
            </a:r>
            <a:r>
              <a:rPr lang="en-US" altLang="en-US" noProof="0" dirty="0"/>
              <a:t> are obtained from the initial conditions, </a:t>
            </a:r>
            <a:r>
              <a:rPr lang="en-US" altLang="en-US" i="1" noProof="0" dirty="0"/>
              <a:t>v(0)</a:t>
            </a:r>
            <a:r>
              <a:rPr lang="en-US" altLang="en-US" noProof="0" dirty="0"/>
              <a:t> and </a:t>
            </a:r>
            <a:r>
              <a:rPr lang="en-US" altLang="en-US" i="1" noProof="0" dirty="0"/>
              <a:t>d</a:t>
            </a:r>
            <a:r>
              <a:rPr lang="en-US" altLang="en-US" sz="100" i="1" noProof="0" dirty="0"/>
              <a:t> </a:t>
            </a:r>
            <a:r>
              <a:rPr lang="en-US" altLang="en-US" i="1" noProof="0" dirty="0"/>
              <a:t>v(0)/d</a:t>
            </a:r>
            <a:r>
              <a:rPr lang="en-US" altLang="en-US" sz="100" i="1" noProof="0" dirty="0"/>
              <a:t> </a:t>
            </a:r>
            <a:r>
              <a:rPr lang="en-US" altLang="en-US" i="1" noProof="0" dirty="0"/>
              <a:t>t</a:t>
            </a:r>
            <a:r>
              <a:rPr lang="en-US" alt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3268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D1001E-C2BA-098B-EA51-C4E9C1F136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9D2A5-C09A-B20B-E3ED-0DAA82872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38" y="1007269"/>
            <a:ext cx="5998714" cy="381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22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D1001E-C2BA-098B-EA51-C4E9C1F136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A6C58-B940-0D87-551D-5F42B4D9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88" y="2304906"/>
            <a:ext cx="4467849" cy="2048161"/>
          </a:xfrm>
          <a:prstGeom prst="rect">
            <a:avLst/>
          </a:prstGeom>
        </p:spPr>
      </p:pic>
      <p:sp>
        <p:nvSpPr>
          <p:cNvPr id="3" name="Title 7">
            <a:extLst>
              <a:ext uri="{FF2B5EF4-FFF2-40B4-BE49-F238E27FC236}">
                <a16:creationId xmlns:a16="http://schemas.microsoft.com/office/drawing/2014/main" id="{E6E91B4B-6BD9-5AD7-1EDE-3A3AC19B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>
            <a:normAutofit/>
          </a:bodyPr>
          <a:lstStyle/>
          <a:p>
            <a:r>
              <a:rPr lang="en-US" altLang="en-US" sz="3400" noProof="0" dirty="0"/>
              <a:t>Step Response of a Parallel R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C Circuit </a:t>
            </a:r>
            <a:endParaRPr lang="en-US" sz="1000" b="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86DB8-ACB3-2152-7F40-5D2F08C62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789" y="3128639"/>
            <a:ext cx="3029373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7EA605-31F6-AF9C-FD1A-23CD696FA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377" y="4142134"/>
            <a:ext cx="2857785" cy="19451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D1DB58-1FA6-07EB-0932-86327DDA79BE}"/>
              </a:ext>
            </a:extLst>
          </p:cNvPr>
          <p:cNvSpPr txBox="1"/>
          <p:nvPr/>
        </p:nvSpPr>
        <p:spPr>
          <a:xfrm>
            <a:off x="907257" y="1483978"/>
            <a:ext cx="7743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same treatment given to the parallel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circuit yields the same result.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DFFFEB-820B-2623-B2A6-57DFD25C28DC}"/>
              </a:ext>
            </a:extLst>
          </p:cNvPr>
          <p:cNvGrpSpPr/>
          <p:nvPr/>
        </p:nvGrpSpPr>
        <p:grpSpPr>
          <a:xfrm>
            <a:off x="4017305" y="3299214"/>
            <a:ext cx="124200" cy="231120"/>
            <a:chOff x="4017305" y="3299214"/>
            <a:chExt cx="12420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1B4ABE1-2717-A35B-CE1C-9F79586581A2}"/>
                    </a:ext>
                  </a:extLst>
                </p14:cNvPr>
                <p14:cNvContentPartPr/>
                <p14:nvPr/>
              </p14:nvContentPartPr>
              <p14:xfrm>
                <a:off x="4024505" y="3313974"/>
                <a:ext cx="81360" cy="119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1B4ABE1-2717-A35B-CE1C-9F79586581A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61505" y="3250974"/>
                  <a:ext cx="207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0E28A9-4560-8B06-2C1F-47602E16FCBC}"/>
                    </a:ext>
                  </a:extLst>
                </p14:cNvPr>
                <p14:cNvContentPartPr/>
                <p14:nvPr/>
              </p14:nvContentPartPr>
              <p14:xfrm>
                <a:off x="4038185" y="3299214"/>
                <a:ext cx="91440" cy="4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0E28A9-4560-8B06-2C1F-47602E16FCB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75185" y="3236214"/>
                  <a:ext cx="217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D8CD60-2FA8-7608-1951-FDA32B31EA3C}"/>
                    </a:ext>
                  </a:extLst>
                </p14:cNvPr>
                <p14:cNvContentPartPr/>
                <p14:nvPr/>
              </p14:nvContentPartPr>
              <p14:xfrm>
                <a:off x="4017305" y="3310014"/>
                <a:ext cx="124200" cy="220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D8CD60-2FA8-7608-1951-FDA32B31EA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54665" y="3247014"/>
                  <a:ext cx="249840" cy="34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83DBD3-D84F-607A-3A4E-BD88B714BC7B}"/>
                  </a:ext>
                </a:extLst>
              </p14:cNvPr>
              <p14:cNvContentPartPr/>
              <p14:nvPr/>
            </p14:nvContentPartPr>
            <p14:xfrm>
              <a:off x="9083945" y="2267094"/>
              <a:ext cx="6840" cy="47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83DBD3-D84F-607A-3A4E-BD88B714BC7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20945" y="2204454"/>
                <a:ext cx="1324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CC8564E-77B3-6B04-5C04-4BCF689E0633}"/>
                  </a:ext>
                </a:extLst>
              </p14:cNvPr>
              <p14:cNvContentPartPr/>
              <p14:nvPr/>
            </p14:nvContentPartPr>
            <p14:xfrm>
              <a:off x="8551145" y="1720614"/>
              <a:ext cx="370080" cy="163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CC8564E-77B3-6B04-5C04-4BCF689E063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88505" y="1657614"/>
                <a:ext cx="49572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B7D14E3-FF6E-A31E-7C95-91F18BCCCDEB}"/>
              </a:ext>
            </a:extLst>
          </p:cNvPr>
          <p:cNvGrpSpPr/>
          <p:nvPr/>
        </p:nvGrpSpPr>
        <p:grpSpPr>
          <a:xfrm>
            <a:off x="3971225" y="3319374"/>
            <a:ext cx="240840" cy="252000"/>
            <a:chOff x="3971225" y="3319374"/>
            <a:chExt cx="24084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885FED-6809-EF7B-E972-531BAA8D981B}"/>
                    </a:ext>
                  </a:extLst>
                </p14:cNvPr>
                <p14:cNvContentPartPr/>
                <p14:nvPr/>
              </p14:nvContentPartPr>
              <p14:xfrm>
                <a:off x="4005425" y="3319374"/>
                <a:ext cx="86400" cy="184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885FED-6809-EF7B-E972-531BAA8D981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01105" y="3315054"/>
                  <a:ext cx="95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DD1DD2-9F8E-62AC-6C0C-660AA5CDF258}"/>
                    </a:ext>
                  </a:extLst>
                </p14:cNvPr>
                <p14:cNvContentPartPr/>
                <p14:nvPr/>
              </p14:nvContentPartPr>
              <p14:xfrm>
                <a:off x="3971225" y="3476694"/>
                <a:ext cx="114120" cy="35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DDD1DD2-9F8E-62AC-6C0C-660AA5CDF25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66905" y="3472374"/>
                  <a:ext cx="122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960C01-660F-06F0-A053-55D6A63ACEFC}"/>
                    </a:ext>
                  </a:extLst>
                </p14:cNvPr>
                <p14:cNvContentPartPr/>
                <p14:nvPr/>
              </p14:nvContentPartPr>
              <p14:xfrm>
                <a:off x="4104785" y="3470934"/>
                <a:ext cx="107280" cy="100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960C01-660F-06F0-A053-55D6A63ACE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00465" y="3466614"/>
                  <a:ext cx="115920" cy="10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2675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676E20-CF0E-4739-AE13-76F4F81D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400" noProof="0" dirty="0"/>
              <a:t>Step Response of a Parallel R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sz="3400" noProof="0" dirty="0"/>
              <a:t>C Circuit </a:t>
            </a:r>
            <a:endParaRPr lang="en-US" sz="1000" b="0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D7D5F7-646F-4EBD-830E-3C95ACAA89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913" y="1994794"/>
            <a:ext cx="8458200" cy="200253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The response is a combination of transient and steady state responses: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A7617759-8B00-4061-B3EE-683032FEBF14}"/>
                  </a:ext>
                </a:extLst>
              </p:cNvPr>
              <p:cNvSpPr txBox="1"/>
              <p:nvPr/>
            </p:nvSpPr>
            <p:spPr>
              <a:xfrm>
                <a:off x="1762125" y="3429000"/>
                <a:ext cx="48260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C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  <m:e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CA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Overdamped</m:t>
                            </m:r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A7617759-8B00-4061-B3EE-683032FEB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125" y="3429000"/>
                <a:ext cx="48260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9B00952B-6CB9-42CB-A81A-9E1608925F1B}"/>
                  </a:ext>
                </a:extLst>
              </p:cNvPr>
              <p:cNvSpPr txBox="1"/>
              <p:nvPr/>
            </p:nvSpPr>
            <p:spPr>
              <a:xfrm>
                <a:off x="1758950" y="3997325"/>
                <a:ext cx="5395913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  <m:e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CA" i="0">
                                <a:solidFill>
                                  <a:srgbClr val="000000"/>
                                </a:solidFill>
                                <a:latin typeface="+mj-lt"/>
                              </a:rPr>
                              <m:t>Crit</m:t>
                            </m:r>
                            <m:r>
                              <m:rPr>
                                <m:nor/>
                              </m:rPr>
                              <a:rPr lang="en-CA" b="0" i="0" smtClean="0">
                                <a:solidFill>
                                  <a:srgbClr val="000000"/>
                                </a:solidFill>
                                <a:latin typeface="+mj-lt"/>
                              </a:rPr>
                              <m:t>ic</m:t>
                            </m:r>
                            <m:r>
                              <m:rPr>
                                <m:nor/>
                              </m:rPr>
                              <a:rPr lang="en-CA" i="0">
                                <a:solidFill>
                                  <a:srgbClr val="000000"/>
                                </a:solidFill>
                                <a:latin typeface="+mj-lt"/>
                              </a:rPr>
                              <m:t>ally</m:t>
                            </m:r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</m:t>
                            </m:r>
                            <m:r>
                              <m:rPr>
                                <m:nor/>
                              </m:rPr>
                              <a:rPr lang="en-CA" i="0">
                                <a:solidFill>
                                  <a:srgbClr val="000000"/>
                                </a:solidFill>
                                <a:latin typeface="+mj-lt"/>
                              </a:rPr>
                              <m:t>Damped</m:t>
                            </m:r>
                            <m:r>
                              <a:rPr lang="en-CA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en-CA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9B00952B-6CB9-42CB-A81A-9E1608925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950" y="3997325"/>
                <a:ext cx="5395913" cy="495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702BB31-4B6C-43C1-936B-A301FB98CA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476398"/>
              </p:ext>
            </p:extLst>
          </p:nvPr>
        </p:nvGraphicFramePr>
        <p:xfrm>
          <a:off x="1759571" y="4595499"/>
          <a:ext cx="6706899" cy="49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41600" imgH="253800" progId="Equation.DSMT4">
                  <p:embed/>
                </p:oleObj>
              </mc:Choice>
              <mc:Fallback>
                <p:oleObj name="Equation" r:id="rId6" imgW="3441600" imgH="2538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702BB31-4B6C-43C1-936B-A301FB98CA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59571" y="4595499"/>
                        <a:ext cx="6706899" cy="494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48BC91-97DE-413C-BC96-19D88C82B1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257800"/>
            <a:ext cx="8458200" cy="99669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Here the variables </a:t>
            </a:r>
            <a:r>
              <a:rPr lang="en-US" altLang="en-US" i="1" noProof="0" dirty="0"/>
              <a:t>A</a:t>
            </a:r>
            <a:r>
              <a:rPr lang="en-US" altLang="en-US" i="1" baseline="-25000" noProof="0" dirty="0"/>
              <a:t>1</a:t>
            </a:r>
            <a:r>
              <a:rPr lang="en-US" altLang="en-US" noProof="0" dirty="0"/>
              <a:t> and </a:t>
            </a:r>
            <a:r>
              <a:rPr lang="en-US" altLang="en-US" i="1" noProof="0" dirty="0"/>
              <a:t>A</a:t>
            </a:r>
            <a:r>
              <a:rPr lang="en-US" altLang="en-US" i="1" baseline="-25000" noProof="0" dirty="0"/>
              <a:t>2</a:t>
            </a:r>
            <a:r>
              <a:rPr lang="en-US" altLang="en-US" noProof="0" dirty="0"/>
              <a:t> are obtained from the initial conditions, </a:t>
            </a:r>
            <a:r>
              <a:rPr lang="en-US" altLang="en-US" i="1" noProof="0" dirty="0" err="1"/>
              <a:t>i</a:t>
            </a:r>
            <a:r>
              <a:rPr lang="en-US" altLang="en-US" i="1" noProof="0" dirty="0"/>
              <a:t>(0)</a:t>
            </a:r>
            <a:r>
              <a:rPr lang="en-US" altLang="en-US" noProof="0" dirty="0"/>
              <a:t> and </a:t>
            </a:r>
            <a:r>
              <a:rPr lang="en-US" altLang="en-US" i="1" noProof="0" dirty="0"/>
              <a:t>d</a:t>
            </a:r>
            <a:r>
              <a:rPr lang="en-US" altLang="en-US" sz="100" i="1" noProof="0" dirty="0"/>
              <a:t> </a:t>
            </a:r>
            <a:r>
              <a:rPr lang="en-US" altLang="en-US" i="1" noProof="0" dirty="0" err="1"/>
              <a:t>i</a:t>
            </a:r>
            <a:r>
              <a:rPr lang="en-US" altLang="en-US" i="1" noProof="0" dirty="0"/>
              <a:t>(0)/d</a:t>
            </a:r>
            <a:r>
              <a:rPr lang="en-US" altLang="en-US" sz="100" i="1" noProof="0" dirty="0"/>
              <a:t> </a:t>
            </a:r>
            <a:r>
              <a:rPr lang="en-US" altLang="en-US" i="1" noProof="0" dirty="0"/>
              <a:t>t</a:t>
            </a:r>
            <a:r>
              <a:rPr lang="en-US" alt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9018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C177DE-EF9B-5002-85BA-5BE685A53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83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443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192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803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8666682-1FE9-48E2-9D4C-CAC9FEF3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noProof="0" dirty="0"/>
              <a:t>Damping and 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networks</a:t>
            </a:r>
            <a:endParaRPr lang="en-US" noProof="0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3EC5F59-CE5C-43F5-A7F5-7600CCD7D05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noProof="0" dirty="0"/>
              <a:t>R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L</a:t>
            </a:r>
            <a:r>
              <a:rPr lang="en-US" altLang="en-US" sz="100" noProof="0" dirty="0"/>
              <a:t> </a:t>
            </a:r>
            <a:r>
              <a:rPr lang="en-US" altLang="en-US" noProof="0" dirty="0"/>
              <a:t>C networks can be characterized by the following:</a:t>
            </a:r>
          </a:p>
          <a:p>
            <a:pPr marL="403200" indent="-403200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noProof="0" dirty="0"/>
              <a:t>The behavior of these networks is captured by the idea of damping.</a:t>
            </a:r>
          </a:p>
          <a:p>
            <a:pPr marL="403200" indent="-403200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noProof="0" dirty="0"/>
              <a:t>Oscillatory response is possible due to the presence of two types of energy storage elements.</a:t>
            </a:r>
          </a:p>
          <a:p>
            <a:pPr marL="403200" indent="-403200"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en-US" noProof="0" dirty="0"/>
              <a:t>It is typically difficult to tell the difference between damped and critically damped responses.</a:t>
            </a:r>
          </a:p>
        </p:txBody>
      </p:sp>
    </p:spTree>
    <p:extLst>
      <p:ext uri="{BB962C8B-B14F-4D97-AF65-F5344CB8AC3E}">
        <p14:creationId xmlns:p14="http://schemas.microsoft.com/office/powerpoint/2010/main" val="2442199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BEF48-B885-4A72-B107-670612137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Summery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B871AF2-CE47-4C2E-9F89-27FCAFB90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79027C-8E46-4958-A5A9-093C01559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522" y="697647"/>
            <a:ext cx="4250161" cy="23988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4A0D3C-CCDB-4BBF-9FB6-9C2070F59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3" y="3262605"/>
            <a:ext cx="5545401" cy="32905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F85885-FBD7-4E07-B7B4-D6D2BA956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14" y="1288571"/>
            <a:ext cx="3876618" cy="18334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144CD2-A70F-466C-A4A3-E01B679EB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847" y="1620960"/>
            <a:ext cx="2044903" cy="4450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FC76CF-300C-4462-B1D3-38484D1C0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490880"/>
            <a:ext cx="1405476" cy="2151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509378C-65BC-4E43-9D51-017D4AFF0E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116" y="5859376"/>
            <a:ext cx="1288053" cy="2814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E32575-9002-4454-BF9C-63BDAA3CFE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522" y="5128879"/>
            <a:ext cx="1443954" cy="2576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254E10-BF02-42DD-A68B-E7A5CF2050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3949" y="5070946"/>
            <a:ext cx="2512463" cy="2824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D9B46BF-014D-4EFF-8E94-C0E5DC48A7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3948" y="5403320"/>
            <a:ext cx="2512463" cy="2572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3FAE9D-2C0C-4C9D-A555-B3994D5B77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3948" y="5821156"/>
            <a:ext cx="2512463" cy="2305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D984FD9-E457-487D-8D2A-A6C7032845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6551" y="3606492"/>
            <a:ext cx="2225620" cy="4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66144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0"/>
            <a:ext cx="54864" cy="68580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971800"/>
            <a:ext cx="822960" cy="36576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965960"/>
            <a:ext cx="543153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0984" y="2880360"/>
            <a:ext cx="1920240" cy="27432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3108960"/>
            <a:ext cx="5724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3B3B3B"/>
                </a:solidFill>
                <a:latin typeface="Times New Roman"/>
              </a:rPr>
              <a:t>Week 7  |  Chapter 8: Second-Order Circuits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5989320"/>
            <a:ext cx="5431536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>
                <a:solidFill>
                  <a:srgbClr val="3B3B3B"/>
                </a:solidFill>
                <a:latin typeface="Times New Roman"/>
              </a:rPr>
              <a:t>Mozhgan Bacon, PhD, 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6473952"/>
            <a:ext cx="5431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53527" y="0"/>
            <a:ext cx="1481328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0"/>
            <a:ext cx="1481328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640080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6437376"/>
            <a:ext cx="1252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058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3794760"/>
            <a:ext cx="42611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533095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1829</TotalTime>
  <Words>1158</Words>
  <Application>Microsoft Office PowerPoint</Application>
  <PresentationFormat>On-screen Show (4:3)</PresentationFormat>
  <Paragraphs>115</Paragraphs>
  <Slides>43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Cambria Math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Fundamentals of Electric Circuits</vt:lpstr>
      <vt:lpstr>Overview</vt:lpstr>
      <vt:lpstr>Second Order Circuits</vt:lpstr>
      <vt:lpstr>Finding Initial and Final Values</vt:lpstr>
      <vt:lpstr>PowerPoint Presentation</vt:lpstr>
      <vt:lpstr>PowerPoint Presentation</vt:lpstr>
      <vt:lpstr>PowerPoint Presentation</vt:lpstr>
      <vt:lpstr>Source Free Series R L C 1</vt:lpstr>
      <vt:lpstr>Source Free Series R L C 2</vt:lpstr>
      <vt:lpstr>Source Free Series R L C 3</vt:lpstr>
      <vt:lpstr>Source Free Series R L C 4</vt:lpstr>
      <vt:lpstr>Overdamped (Alpha &gt; Omega0)</vt:lpstr>
      <vt:lpstr>Critically Damped (Alpha = Omega0)</vt:lpstr>
      <vt:lpstr>Underdamped (Alpha &lt; Omega0)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Source Free Parallel R L C Network 1</vt:lpstr>
      <vt:lpstr>Source Free Parallel R L C Network 2</vt:lpstr>
      <vt:lpstr>Source Free Parallel R L C Network 3</vt:lpstr>
      <vt:lpstr>Damping</vt:lpstr>
      <vt:lpstr>Underdamped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Response of a Series R L C Circuit </vt:lpstr>
      <vt:lpstr>Step Response of a Series R L C Circuit 2</vt:lpstr>
      <vt:lpstr>Step Response of a Series R L C Circuit </vt:lpstr>
      <vt:lpstr>Step Response of a Series R L C Circuit 4</vt:lpstr>
      <vt:lpstr>PowerPoint Presentation</vt:lpstr>
      <vt:lpstr>Step Response of a Parallel R L C Circuit </vt:lpstr>
      <vt:lpstr>Step Response of a Parallel R L C Circuit </vt:lpstr>
      <vt:lpstr>PowerPoint Presentation</vt:lpstr>
      <vt:lpstr>PowerPoint Presentation</vt:lpstr>
      <vt:lpstr>PowerPoint Presentation</vt:lpstr>
      <vt:lpstr>Damping and R L C networks</vt:lpstr>
      <vt:lpstr>Summery</vt:lpstr>
      <vt:lpstr>End of Main Content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169</cp:revision>
  <cp:lastPrinted>2023-10-16T16:47:49Z</cp:lastPrinted>
  <dcterms:created xsi:type="dcterms:W3CDTF">2019-12-14T02:10:23Z</dcterms:created>
  <dcterms:modified xsi:type="dcterms:W3CDTF">2025-12-06T04:30:39Z</dcterms:modified>
</cp:coreProperties>
</file>