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46"/>
  </p:notesMasterIdLst>
  <p:sldIdLst>
    <p:sldId id="411" r:id="rId53"/>
    <p:sldId id="296" r:id="rId7"/>
    <p:sldId id="297" r:id="rId8"/>
    <p:sldId id="344" r:id="rId9"/>
    <p:sldId id="374" r:id="rId10"/>
    <p:sldId id="353" r:id="rId11"/>
    <p:sldId id="375" r:id="rId12"/>
    <p:sldId id="376" r:id="rId13"/>
    <p:sldId id="301" r:id="rId14"/>
    <p:sldId id="377" r:id="rId15"/>
    <p:sldId id="379" r:id="rId16"/>
    <p:sldId id="393" r:id="rId17"/>
    <p:sldId id="394" r:id="rId18"/>
    <p:sldId id="395" r:id="rId19"/>
    <p:sldId id="396" r:id="rId20"/>
    <p:sldId id="380" r:id="rId21"/>
    <p:sldId id="378" r:id="rId22"/>
    <p:sldId id="382" r:id="rId23"/>
    <p:sldId id="405" r:id="rId24"/>
    <p:sldId id="407" r:id="rId25"/>
    <p:sldId id="381" r:id="rId26"/>
    <p:sldId id="345" r:id="rId27"/>
    <p:sldId id="383" r:id="rId28"/>
    <p:sldId id="298" r:id="rId29"/>
    <p:sldId id="266" r:id="rId30"/>
    <p:sldId id="384" r:id="rId31"/>
    <p:sldId id="385" r:id="rId32"/>
    <p:sldId id="363" r:id="rId33"/>
    <p:sldId id="386" r:id="rId34"/>
    <p:sldId id="390" r:id="rId35"/>
    <p:sldId id="388" r:id="rId36"/>
    <p:sldId id="408" r:id="rId37"/>
    <p:sldId id="409" r:id="rId38"/>
    <p:sldId id="410" r:id="rId39"/>
    <p:sldId id="387" r:id="rId40"/>
    <p:sldId id="389" r:id="rId41"/>
    <p:sldId id="392" r:id="rId42"/>
    <p:sldId id="397" r:id="rId43"/>
    <p:sldId id="399" r:id="rId44"/>
    <p:sldId id="412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256"/>
            <p14:sldId id="296"/>
            <p14:sldId id="297"/>
            <p14:sldId id="344"/>
            <p14:sldId id="374"/>
            <p14:sldId id="353"/>
            <p14:sldId id="375"/>
            <p14:sldId id="376"/>
            <p14:sldId id="301"/>
            <p14:sldId id="377"/>
            <p14:sldId id="379"/>
            <p14:sldId id="393"/>
            <p14:sldId id="394"/>
            <p14:sldId id="395"/>
            <p14:sldId id="396"/>
            <p14:sldId id="380"/>
            <p14:sldId id="378"/>
            <p14:sldId id="382"/>
            <p14:sldId id="405"/>
            <p14:sldId id="407"/>
            <p14:sldId id="381"/>
            <p14:sldId id="345"/>
            <p14:sldId id="383"/>
            <p14:sldId id="298"/>
            <p14:sldId id="266"/>
            <p14:sldId id="384"/>
            <p14:sldId id="385"/>
            <p14:sldId id="363"/>
            <p14:sldId id="386"/>
            <p14:sldId id="390"/>
            <p14:sldId id="388"/>
            <p14:sldId id="408"/>
            <p14:sldId id="409"/>
            <p14:sldId id="410"/>
            <p14:sldId id="387"/>
            <p14:sldId id="389"/>
            <p14:sldId id="392"/>
            <p14:sldId id="397"/>
            <p14:sldId id="39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74" autoAdjust="0"/>
  </p:normalViewPr>
  <p:slideViewPr>
    <p:cSldViewPr snapToGrid="0" showGuides="1">
      <p:cViewPr varScale="1">
        <p:scale>
          <a:sx n="69" d="100"/>
          <a:sy n="69" d="100"/>
        </p:scale>
        <p:origin x="981" y="33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2256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6" Type="http://schemas.openxmlformats.org/officeDocument/2006/relationships/notesMaster" Target="notesMasters/notesMaster1.xml"/><Relationship Id="rId47" Type="http://schemas.openxmlformats.org/officeDocument/2006/relationships/commentAuthors" Target="commentAuthors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openxmlformats.org/officeDocument/2006/relationships/slide" Target="slides/slide41.xml"/><Relationship Id="rId54" Type="http://schemas.openxmlformats.org/officeDocument/2006/relationships/slide" Target="slides/slide4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Bacon" userId="87017a61-33d9-4952-aa6c-e009fac81f23" providerId="ADAL" clId="{8B4E63CD-3246-4506-A587-528F6AE766BA}"/>
    <pc:docChg chg="undo custSel addSld delSld modSld modSection">
      <pc:chgData name="Mozhgan Bacon" userId="87017a61-33d9-4952-aa6c-e009fac81f23" providerId="ADAL" clId="{8B4E63CD-3246-4506-A587-528F6AE766BA}" dt="2021-10-11T17:53:38.291" v="499" actId="14100"/>
      <pc:docMkLst>
        <pc:docMk/>
      </pc:docMkLst>
      <pc:sldChg chg="addSp modSp">
        <pc:chgData name="Mozhgan Bacon" userId="87017a61-33d9-4952-aa6c-e009fac81f23" providerId="ADAL" clId="{8B4E63CD-3246-4506-A587-528F6AE766BA}" dt="2021-10-06T00:52:13.412" v="362" actId="1076"/>
        <pc:sldMkLst>
          <pc:docMk/>
          <pc:sldMk cId="323279760" sldId="266"/>
        </pc:sldMkLst>
      </pc:sldChg>
      <pc:sldChg chg="modSp">
        <pc:chgData name="Mozhgan Bacon" userId="87017a61-33d9-4952-aa6c-e009fac81f23" providerId="ADAL" clId="{8B4E63CD-3246-4506-A587-528F6AE766BA}" dt="2021-10-07T23:21:30.351" v="488" actId="13926"/>
        <pc:sldMkLst>
          <pc:docMk/>
          <pc:sldMk cId="2668224351" sldId="296"/>
        </pc:sldMkLst>
      </pc:sldChg>
      <pc:sldChg chg="modSp">
        <pc:chgData name="Mozhgan Bacon" userId="87017a61-33d9-4952-aa6c-e009fac81f23" providerId="ADAL" clId="{8B4E63CD-3246-4506-A587-528F6AE766BA}" dt="2021-10-07T23:21:35.343" v="489" actId="13926"/>
        <pc:sldMkLst>
          <pc:docMk/>
          <pc:sldMk cId="1741424844" sldId="297"/>
        </pc:sldMkLst>
      </pc:sldChg>
      <pc:sldChg chg="modSp">
        <pc:chgData name="Mozhgan Bacon" userId="87017a61-33d9-4952-aa6c-e009fac81f23" providerId="ADAL" clId="{8B4E63CD-3246-4506-A587-528F6AE766BA}" dt="2021-10-01T18:43:16.247" v="65" actId="14100"/>
        <pc:sldMkLst>
          <pc:docMk/>
          <pc:sldMk cId="2682521671" sldId="298"/>
        </pc:sldMkLst>
      </pc:sldChg>
      <pc:sldChg chg="addSp modSp">
        <pc:chgData name="Mozhgan Bacon" userId="87017a61-33d9-4952-aa6c-e009fac81f23" providerId="ADAL" clId="{8B4E63CD-3246-4506-A587-528F6AE766BA}" dt="2021-10-07T22:48:12.901" v="484" actId="1076"/>
        <pc:sldMkLst>
          <pc:docMk/>
          <pc:sldMk cId="1534402307" sldId="301"/>
        </pc:sldMkLst>
      </pc:sldChg>
      <pc:sldChg chg="modSp">
        <pc:chgData name="Mozhgan Bacon" userId="87017a61-33d9-4952-aa6c-e009fac81f23" providerId="ADAL" clId="{8B4E63CD-3246-4506-A587-528F6AE766BA}" dt="2021-10-07T22:33:43.321" v="397" actId="20577"/>
        <pc:sldMkLst>
          <pc:docMk/>
          <pc:sldMk cId="2729681702" sldId="344"/>
        </pc:sldMkLst>
      </pc:sldChg>
      <pc:sldChg chg="modSp">
        <pc:chgData name="Mozhgan Bacon" userId="87017a61-33d9-4952-aa6c-e009fac81f23" providerId="ADAL" clId="{8B4E63CD-3246-4506-A587-528F6AE766BA}" dt="2021-10-01T18:42:51.207" v="58" actId="14100"/>
        <pc:sldMkLst>
          <pc:docMk/>
          <pc:sldMk cId="2510438104" sldId="345"/>
        </pc:sldMkLst>
      </pc:sldChg>
      <pc:sldChg chg="modSp">
        <pc:chgData name="Mozhgan Bacon" userId="87017a61-33d9-4952-aa6c-e009fac81f23" providerId="ADAL" clId="{8B4E63CD-3246-4506-A587-528F6AE766BA}" dt="2021-10-07T22:36:20.385" v="426" actId="20577"/>
        <pc:sldMkLst>
          <pc:docMk/>
          <pc:sldMk cId="1212883874" sldId="353"/>
        </pc:sldMkLst>
      </pc:sldChg>
      <pc:sldChg chg="modSp">
        <pc:chgData name="Mozhgan Bacon" userId="87017a61-33d9-4952-aa6c-e009fac81f23" providerId="ADAL" clId="{8B4E63CD-3246-4506-A587-528F6AE766BA}" dt="2021-10-07T22:33:49.185" v="398" actId="20577"/>
        <pc:sldMkLst>
          <pc:docMk/>
          <pc:sldMk cId="2910467137" sldId="374"/>
        </pc:sldMkLst>
      </pc:sldChg>
      <pc:sldChg chg="modSp">
        <pc:chgData name="Mozhgan Bacon" userId="87017a61-33d9-4952-aa6c-e009fac81f23" providerId="ADAL" clId="{8B4E63CD-3246-4506-A587-528F6AE766BA}" dt="2021-10-07T22:37:49.047" v="427" actId="113"/>
        <pc:sldMkLst>
          <pc:docMk/>
          <pc:sldMk cId="2385748351" sldId="375"/>
        </pc:sldMkLst>
      </pc:sldChg>
      <pc:sldChg chg="addSp delSp modSp">
        <pc:chgData name="Mozhgan Bacon" userId="87017a61-33d9-4952-aa6c-e009fac81f23" providerId="ADAL" clId="{8B4E63CD-3246-4506-A587-528F6AE766BA}" dt="2021-10-11T17:32:01.735" v="490" actId="1076"/>
        <pc:sldMkLst>
          <pc:docMk/>
          <pc:sldMk cId="1674083631" sldId="376"/>
        </pc:sldMkLst>
      </pc:sldChg>
      <pc:sldChg chg="modSp">
        <pc:chgData name="Mozhgan Bacon" userId="87017a61-33d9-4952-aa6c-e009fac81f23" providerId="ADAL" clId="{8B4E63CD-3246-4506-A587-528F6AE766BA}" dt="2021-10-01T18:41:47.589" v="40" actId="2711"/>
        <pc:sldMkLst>
          <pc:docMk/>
          <pc:sldMk cId="3541519898" sldId="377"/>
        </pc:sldMkLst>
      </pc:sldChg>
      <pc:sldChg chg="modSp">
        <pc:chgData name="Mozhgan Bacon" userId="87017a61-33d9-4952-aa6c-e009fac81f23" providerId="ADAL" clId="{8B4E63CD-3246-4506-A587-528F6AE766BA}" dt="2021-10-01T18:42:19.846" v="49" actId="2711"/>
        <pc:sldMkLst>
          <pc:docMk/>
          <pc:sldMk cId="627197253" sldId="378"/>
        </pc:sldMkLst>
      </pc:sldChg>
      <pc:sldChg chg="modSp">
        <pc:chgData name="Mozhgan Bacon" userId="87017a61-33d9-4952-aa6c-e009fac81f23" providerId="ADAL" clId="{8B4E63CD-3246-4506-A587-528F6AE766BA}" dt="2021-10-01T18:41:53.966" v="42" actId="2711"/>
        <pc:sldMkLst>
          <pc:docMk/>
          <pc:sldMk cId="1452821980" sldId="379"/>
        </pc:sldMkLst>
      </pc:sldChg>
      <pc:sldChg chg="modSp">
        <pc:chgData name="Mozhgan Bacon" userId="87017a61-33d9-4952-aa6c-e009fac81f23" providerId="ADAL" clId="{8B4E63CD-3246-4506-A587-528F6AE766BA}" dt="2021-10-01T18:42:02.562" v="44" actId="2711"/>
        <pc:sldMkLst>
          <pc:docMk/>
          <pc:sldMk cId="1568575850" sldId="380"/>
        </pc:sldMkLst>
      </pc:sldChg>
      <pc:sldChg chg="modSp">
        <pc:chgData name="Mozhgan Bacon" userId="87017a61-33d9-4952-aa6c-e009fac81f23" providerId="ADAL" clId="{8B4E63CD-3246-4506-A587-528F6AE766BA}" dt="2021-10-01T18:42:41.895" v="55" actId="2711"/>
        <pc:sldMkLst>
          <pc:docMk/>
          <pc:sldMk cId="3006409162" sldId="381"/>
        </pc:sldMkLst>
      </pc:sldChg>
      <pc:sldChg chg="modSp">
        <pc:chgData name="Mozhgan Bacon" userId="87017a61-33d9-4952-aa6c-e009fac81f23" providerId="ADAL" clId="{8B4E63CD-3246-4506-A587-528F6AE766BA}" dt="2021-10-01T18:42:35.268" v="53" actId="2711"/>
        <pc:sldMkLst>
          <pc:docMk/>
          <pc:sldMk cId="2399751946" sldId="382"/>
        </pc:sldMkLst>
      </pc:sldChg>
      <pc:sldChg chg="addSp modSp">
        <pc:chgData name="Mozhgan Bacon" userId="87017a61-33d9-4952-aa6c-e009fac81f23" providerId="ADAL" clId="{8B4E63CD-3246-4506-A587-528F6AE766BA}" dt="2021-10-06T00:57:45.441" v="368" actId="1076"/>
        <pc:sldMkLst>
          <pc:docMk/>
          <pc:sldMk cId="3083724284" sldId="383"/>
        </pc:sldMkLst>
      </pc:sldChg>
      <pc:sldChg chg="addSp modSp">
        <pc:chgData name="Mozhgan Bacon" userId="87017a61-33d9-4952-aa6c-e009fac81f23" providerId="ADAL" clId="{8B4E63CD-3246-4506-A587-528F6AE766BA}" dt="2021-10-06T00:57:09.459" v="366" actId="1076"/>
        <pc:sldMkLst>
          <pc:docMk/>
          <pc:sldMk cId="2170347699" sldId="384"/>
        </pc:sldMkLst>
      </pc:sldChg>
      <pc:sldChg chg="modSp">
        <pc:chgData name="Mozhgan Bacon" userId="87017a61-33d9-4952-aa6c-e009fac81f23" providerId="ADAL" clId="{8B4E63CD-3246-4506-A587-528F6AE766BA}" dt="2021-10-01T18:43:47.519" v="75" actId="123"/>
        <pc:sldMkLst>
          <pc:docMk/>
          <pc:sldMk cId="3548005112" sldId="385"/>
        </pc:sldMkLst>
      </pc:sldChg>
      <pc:sldChg chg="modSp">
        <pc:chgData name="Mozhgan Bacon" userId="87017a61-33d9-4952-aa6c-e009fac81f23" providerId="ADAL" clId="{8B4E63CD-3246-4506-A587-528F6AE766BA}" dt="2021-10-01T18:44:04.583" v="78" actId="14100"/>
        <pc:sldMkLst>
          <pc:docMk/>
          <pc:sldMk cId="1387160807" sldId="386"/>
        </pc:sldMkLst>
      </pc:sldChg>
      <pc:sldChg chg="modSp">
        <pc:chgData name="Mozhgan Bacon" userId="87017a61-33d9-4952-aa6c-e009fac81f23" providerId="ADAL" clId="{8B4E63CD-3246-4506-A587-528F6AE766BA}" dt="2021-10-01T18:44:50.061" v="90" actId="123"/>
        <pc:sldMkLst>
          <pc:docMk/>
          <pc:sldMk cId="2271815891" sldId="387"/>
        </pc:sldMkLst>
      </pc:sldChg>
      <pc:sldChg chg="modSp">
        <pc:chgData name="Mozhgan Bacon" userId="87017a61-33d9-4952-aa6c-e009fac81f23" providerId="ADAL" clId="{8B4E63CD-3246-4506-A587-528F6AE766BA}" dt="2021-10-01T18:44:42.657" v="88" actId="2711"/>
        <pc:sldMkLst>
          <pc:docMk/>
          <pc:sldMk cId="1086622586" sldId="388"/>
        </pc:sldMkLst>
      </pc:sldChg>
      <pc:sldChg chg="modSp">
        <pc:chgData name="Mozhgan Bacon" userId="87017a61-33d9-4952-aa6c-e009fac81f23" providerId="ADAL" clId="{8B4E63CD-3246-4506-A587-528F6AE766BA}" dt="2021-10-01T18:45:05.082" v="95" actId="123"/>
        <pc:sldMkLst>
          <pc:docMk/>
          <pc:sldMk cId="999148113" sldId="389"/>
        </pc:sldMkLst>
      </pc:sldChg>
      <pc:sldChg chg="modSp">
        <pc:chgData name="Mozhgan Bacon" userId="87017a61-33d9-4952-aa6c-e009fac81f23" providerId="ADAL" clId="{8B4E63CD-3246-4506-A587-528F6AE766BA}" dt="2021-10-01T18:44:27.581" v="84" actId="123"/>
        <pc:sldMkLst>
          <pc:docMk/>
          <pc:sldMk cId="324149813" sldId="390"/>
        </pc:sldMkLst>
      </pc:sldChg>
      <pc:sldChg chg="modSp">
        <pc:chgData name="Mozhgan Bacon" userId="87017a61-33d9-4952-aa6c-e009fac81f23" providerId="ADAL" clId="{8B4E63CD-3246-4506-A587-528F6AE766BA}" dt="2021-10-01T18:45:18.985" v="99" actId="123"/>
        <pc:sldMkLst>
          <pc:docMk/>
          <pc:sldMk cId="1690531953" sldId="392"/>
        </pc:sldMkLst>
      </pc:sldChg>
      <pc:sldChg chg="addSp delSp modSp add">
        <pc:chgData name="Mozhgan Bacon" userId="87017a61-33d9-4952-aa6c-e009fac81f23" providerId="ADAL" clId="{8B4E63CD-3246-4506-A587-528F6AE766BA}" dt="2021-10-06T23:39:25.168" v="392" actId="14100"/>
        <pc:sldMkLst>
          <pc:docMk/>
          <pc:sldMk cId="1739151165" sldId="393"/>
        </pc:sldMkLst>
      </pc:sldChg>
      <pc:sldChg chg="addSp delSp modSp add">
        <pc:chgData name="Mozhgan Bacon" userId="87017a61-33d9-4952-aa6c-e009fac81f23" providerId="ADAL" clId="{8B4E63CD-3246-4506-A587-528F6AE766BA}" dt="2021-10-05T23:38:21.245" v="169" actId="1076"/>
        <pc:sldMkLst>
          <pc:docMk/>
          <pc:sldMk cId="3305467255" sldId="394"/>
        </pc:sldMkLst>
      </pc:sldChg>
      <pc:sldChg chg="addSp delSp modSp add">
        <pc:chgData name="Mozhgan Bacon" userId="87017a61-33d9-4952-aa6c-e009fac81f23" providerId="ADAL" clId="{8B4E63CD-3246-4506-A587-528F6AE766BA}" dt="2021-10-11T17:40:32.664" v="494" actId="1076"/>
        <pc:sldMkLst>
          <pc:docMk/>
          <pc:sldMk cId="243455803" sldId="395"/>
        </pc:sldMkLst>
      </pc:sldChg>
      <pc:sldChg chg="addSp delSp modSp add">
        <pc:chgData name="Mozhgan Bacon" userId="87017a61-33d9-4952-aa6c-e009fac81f23" providerId="ADAL" clId="{8B4E63CD-3246-4506-A587-528F6AE766BA}" dt="2021-10-05T23:43:03.744" v="206"/>
        <pc:sldMkLst>
          <pc:docMk/>
          <pc:sldMk cId="2565286205" sldId="396"/>
        </pc:sldMkLst>
      </pc:sldChg>
      <pc:sldChg chg="addSp modSp add">
        <pc:chgData name="Mozhgan Bacon" userId="87017a61-33d9-4952-aa6c-e009fac81f23" providerId="ADAL" clId="{8B4E63CD-3246-4506-A587-528F6AE766BA}" dt="2021-10-06T01:06:32.985" v="387" actId="14100"/>
        <pc:sldMkLst>
          <pc:docMk/>
          <pc:sldMk cId="2899096523" sldId="397"/>
        </pc:sldMkLst>
      </pc:sldChg>
      <pc:sldChg chg="addSp modSp add">
        <pc:chgData name="Mozhgan Bacon" userId="87017a61-33d9-4952-aa6c-e009fac81f23" providerId="ADAL" clId="{8B4E63CD-3246-4506-A587-528F6AE766BA}" dt="2021-10-06T01:07:12.170" v="390" actId="1076"/>
        <pc:sldMkLst>
          <pc:docMk/>
          <pc:sldMk cId="791206168" sldId="399"/>
        </pc:sldMkLst>
      </pc:sldChg>
      <pc:sldChg chg="addSp delSp modSp add">
        <pc:chgData name="Mozhgan Bacon" userId="87017a61-33d9-4952-aa6c-e009fac81f23" providerId="ADAL" clId="{8B4E63CD-3246-4506-A587-528F6AE766BA}" dt="2021-10-05T23:55:57.150" v="255" actId="1076"/>
        <pc:sldMkLst>
          <pc:docMk/>
          <pc:sldMk cId="589583163" sldId="402"/>
        </pc:sldMkLst>
      </pc:sldChg>
      <pc:sldChg chg="addSp delSp modSp add">
        <pc:chgData name="Mozhgan Bacon" userId="87017a61-33d9-4952-aa6c-e009fac81f23" providerId="ADAL" clId="{8B4E63CD-3246-4506-A587-528F6AE766BA}" dt="2021-10-05T23:57:55.353" v="268" actId="1076"/>
        <pc:sldMkLst>
          <pc:docMk/>
          <pc:sldMk cId="1180666478" sldId="403"/>
        </pc:sldMkLst>
      </pc:sldChg>
      <pc:sldChg chg="addSp modSp add">
        <pc:chgData name="Mozhgan Bacon" userId="87017a61-33d9-4952-aa6c-e009fac81f23" providerId="ADAL" clId="{8B4E63CD-3246-4506-A587-528F6AE766BA}" dt="2021-10-05T23:59:17.757" v="275" actId="11529"/>
        <pc:sldMkLst>
          <pc:docMk/>
          <pc:sldMk cId="1859618861" sldId="404"/>
        </pc:sldMkLst>
      </pc:sldChg>
      <pc:sldChg chg="addSp modSp add">
        <pc:chgData name="Mozhgan Bacon" userId="87017a61-33d9-4952-aa6c-e009fac81f23" providerId="ADAL" clId="{8B4E63CD-3246-4506-A587-528F6AE766BA}" dt="2021-10-06T00:03:40.081" v="315" actId="1076"/>
        <pc:sldMkLst>
          <pc:docMk/>
          <pc:sldMk cId="939894788" sldId="405"/>
        </pc:sldMkLst>
      </pc:sldChg>
      <pc:sldChg chg="addSp delSp modSp add">
        <pc:chgData name="Mozhgan Bacon" userId="87017a61-33d9-4952-aa6c-e009fac81f23" providerId="ADAL" clId="{8B4E63CD-3246-4506-A587-528F6AE766BA}" dt="2021-10-06T00:06:03.073" v="348" actId="1076"/>
        <pc:sldMkLst>
          <pc:docMk/>
          <pc:sldMk cId="2025566542" sldId="407"/>
        </pc:sldMkLst>
      </pc:sldChg>
      <pc:sldChg chg="addSp delSp modSp add">
        <pc:chgData name="Mozhgan Bacon" userId="87017a61-33d9-4952-aa6c-e009fac81f23" providerId="ADAL" clId="{8B4E63CD-3246-4506-A587-528F6AE766BA}" dt="2021-10-07T20:12:16.167" v="396" actId="14100"/>
        <pc:sldMkLst>
          <pc:docMk/>
          <pc:sldMk cId="1897657482" sldId="408"/>
        </pc:sldMkLst>
      </pc:sldChg>
      <pc:sldChg chg="addSp delSp modSp add">
        <pc:chgData name="Mozhgan Bacon" userId="87017a61-33d9-4952-aa6c-e009fac81f23" providerId="ADAL" clId="{8B4E63CD-3246-4506-A587-528F6AE766BA}" dt="2021-10-11T17:52:21.547" v="497" actId="14100"/>
        <pc:sldMkLst>
          <pc:docMk/>
          <pc:sldMk cId="2219549575" sldId="409"/>
        </pc:sldMkLst>
      </pc:sldChg>
      <pc:sldChg chg="addSp delSp modSp add">
        <pc:chgData name="Mozhgan Bacon" userId="87017a61-33d9-4952-aa6c-e009fac81f23" providerId="ADAL" clId="{8B4E63CD-3246-4506-A587-528F6AE766BA}" dt="2021-10-11T17:53:38.291" v="499" actId="14100"/>
        <pc:sldMkLst>
          <pc:docMk/>
          <pc:sldMk cId="2985770702" sldId="410"/>
        </pc:sldMkLst>
      </pc:sldChg>
    </pc:docChg>
  </pc:docChgLst>
  <pc:docChgLst>
    <pc:chgData name="Mozhgan Moazzen Zadeh-Bacon" userId="87017a61-33d9-4952-aa6c-e009fac81f23" providerId="ADAL" clId="{A390D8AC-0881-4A45-827E-35D352BC7877}"/>
    <pc:docChg chg="delSld modSection">
      <pc:chgData name="Mozhgan Moazzen Zadeh-Bacon" userId="87017a61-33d9-4952-aa6c-e009fac81f23" providerId="ADAL" clId="{A390D8AC-0881-4A45-827E-35D352BC7877}" dt="2025-10-07T02:48:48.956" v="2" actId="47"/>
      <pc:docMkLst>
        <pc:docMk/>
      </pc:docMkLst>
      <pc:sldChg chg="del">
        <pc:chgData name="Mozhgan Moazzen Zadeh-Bacon" userId="87017a61-33d9-4952-aa6c-e009fac81f23" providerId="ADAL" clId="{A390D8AC-0881-4A45-827E-35D352BC7877}" dt="2025-10-07T02:48:46.378" v="0" actId="47"/>
        <pc:sldMkLst>
          <pc:docMk/>
          <pc:sldMk cId="589583163" sldId="402"/>
        </pc:sldMkLst>
      </pc:sldChg>
      <pc:sldChg chg="del">
        <pc:chgData name="Mozhgan Moazzen Zadeh-Bacon" userId="87017a61-33d9-4952-aa6c-e009fac81f23" providerId="ADAL" clId="{A390D8AC-0881-4A45-827E-35D352BC7877}" dt="2025-10-07T02:48:47.793" v="1" actId="47"/>
        <pc:sldMkLst>
          <pc:docMk/>
          <pc:sldMk cId="1180666478" sldId="403"/>
        </pc:sldMkLst>
      </pc:sldChg>
      <pc:sldChg chg="del">
        <pc:chgData name="Mozhgan Moazzen Zadeh-Bacon" userId="87017a61-33d9-4952-aa6c-e009fac81f23" providerId="ADAL" clId="{A390D8AC-0881-4A45-827E-35D352BC7877}" dt="2025-10-07T02:48:48.956" v="2" actId="47"/>
        <pc:sldMkLst>
          <pc:docMk/>
          <pc:sldMk cId="1859618861" sldId="404"/>
        </pc:sldMkLst>
      </pc:sldChg>
    </pc:docChg>
  </pc:docChgLst>
  <pc:docChgLst>
    <pc:chgData name="Mozhgan Moazzen Zadeh-Bacon" userId="87017a61-33d9-4952-aa6c-e009fac81f23" providerId="ADAL" clId="{7168E9A1-4454-4FFE-8C39-12D5EA6E6EE0}"/>
    <pc:docChg chg="undo custSel modSld">
      <pc:chgData name="Mozhgan Moazzen Zadeh-Bacon" userId="87017a61-33d9-4952-aa6c-e009fac81f23" providerId="ADAL" clId="{7168E9A1-4454-4FFE-8C39-12D5EA6E6EE0}" dt="2024-10-02T21:22:42.724" v="41" actId="478"/>
      <pc:docMkLst>
        <pc:docMk/>
      </pc:docMkLst>
      <pc:sldChg chg="delSp modSp mod">
        <pc:chgData name="Mozhgan Moazzen Zadeh-Bacon" userId="87017a61-33d9-4952-aa6c-e009fac81f23" providerId="ADAL" clId="{7168E9A1-4454-4FFE-8C39-12D5EA6E6EE0}" dt="2024-10-02T21:20:07.674" v="4" actId="478"/>
        <pc:sldMkLst>
          <pc:docMk/>
          <pc:sldMk cId="1739151165" sldId="393"/>
        </pc:sldMkLst>
      </pc:sldChg>
      <pc:sldChg chg="delSp mod">
        <pc:chgData name="Mozhgan Moazzen Zadeh-Bacon" userId="87017a61-33d9-4952-aa6c-e009fac81f23" providerId="ADAL" clId="{7168E9A1-4454-4FFE-8C39-12D5EA6E6EE0}" dt="2024-10-02T21:20:09.313" v="5" actId="478"/>
        <pc:sldMkLst>
          <pc:docMk/>
          <pc:sldMk cId="3305467255" sldId="394"/>
        </pc:sldMkLst>
      </pc:sldChg>
      <pc:sldChg chg="delSp mod">
        <pc:chgData name="Mozhgan Moazzen Zadeh-Bacon" userId="87017a61-33d9-4952-aa6c-e009fac81f23" providerId="ADAL" clId="{7168E9A1-4454-4FFE-8C39-12D5EA6E6EE0}" dt="2024-10-02T21:20:12.475" v="7" actId="478"/>
        <pc:sldMkLst>
          <pc:docMk/>
          <pc:sldMk cId="243455803" sldId="395"/>
        </pc:sldMkLst>
      </pc:sldChg>
      <pc:sldChg chg="delSp mod">
        <pc:chgData name="Mozhgan Moazzen Zadeh-Bacon" userId="87017a61-33d9-4952-aa6c-e009fac81f23" providerId="ADAL" clId="{7168E9A1-4454-4FFE-8C39-12D5EA6E6EE0}" dt="2024-10-02T21:20:14.033" v="8" actId="478"/>
        <pc:sldMkLst>
          <pc:docMk/>
          <pc:sldMk cId="2565286205" sldId="396"/>
        </pc:sldMkLst>
      </pc:sldChg>
      <pc:sldChg chg="addSp delSp modSp mod">
        <pc:chgData name="Mozhgan Moazzen Zadeh-Bacon" userId="87017a61-33d9-4952-aa6c-e009fac81f23" providerId="ADAL" clId="{7168E9A1-4454-4FFE-8C39-12D5EA6E6EE0}" dt="2024-10-02T21:22:40.088" v="40" actId="14100"/>
        <pc:sldMkLst>
          <pc:docMk/>
          <pc:sldMk cId="2899096523" sldId="397"/>
        </pc:sldMkLst>
      </pc:sldChg>
      <pc:sldChg chg="delSp mod">
        <pc:chgData name="Mozhgan Moazzen Zadeh-Bacon" userId="87017a61-33d9-4952-aa6c-e009fac81f23" providerId="ADAL" clId="{7168E9A1-4454-4FFE-8C39-12D5EA6E6EE0}" dt="2024-10-02T21:22:42.724" v="41" actId="478"/>
        <pc:sldMkLst>
          <pc:docMk/>
          <pc:sldMk cId="791206168" sldId="399"/>
        </pc:sldMkLst>
      </pc:sldChg>
      <pc:sldChg chg="delSp modSp mod">
        <pc:chgData name="Mozhgan Moazzen Zadeh-Bacon" userId="87017a61-33d9-4952-aa6c-e009fac81f23" providerId="ADAL" clId="{7168E9A1-4454-4FFE-8C39-12D5EA6E6EE0}" dt="2024-10-02T21:20:19.913" v="11" actId="478"/>
        <pc:sldMkLst>
          <pc:docMk/>
          <pc:sldMk cId="589583163" sldId="402"/>
        </pc:sldMkLst>
      </pc:sldChg>
      <pc:sldChg chg="delSp mod">
        <pc:chgData name="Mozhgan Moazzen Zadeh-Bacon" userId="87017a61-33d9-4952-aa6c-e009fac81f23" providerId="ADAL" clId="{7168E9A1-4454-4FFE-8C39-12D5EA6E6EE0}" dt="2024-10-02T21:20:22.245" v="13" actId="478"/>
        <pc:sldMkLst>
          <pc:docMk/>
          <pc:sldMk cId="1180666478" sldId="403"/>
        </pc:sldMkLst>
      </pc:sldChg>
      <pc:sldChg chg="delSp mod">
        <pc:chgData name="Mozhgan Moazzen Zadeh-Bacon" userId="87017a61-33d9-4952-aa6c-e009fac81f23" providerId="ADAL" clId="{7168E9A1-4454-4FFE-8C39-12D5EA6E6EE0}" dt="2024-10-02T21:20:25.809" v="16" actId="478"/>
        <pc:sldMkLst>
          <pc:docMk/>
          <pc:sldMk cId="1859618861" sldId="404"/>
        </pc:sldMkLst>
      </pc:sldChg>
      <pc:sldChg chg="addSp delSp modSp mod">
        <pc:chgData name="Mozhgan Moazzen Zadeh-Bacon" userId="87017a61-33d9-4952-aa6c-e009fac81f23" providerId="ADAL" clId="{7168E9A1-4454-4FFE-8C39-12D5EA6E6EE0}" dt="2024-10-02T21:21:53.072" v="25" actId="1076"/>
        <pc:sldMkLst>
          <pc:docMk/>
          <pc:sldMk cId="939894788" sldId="405"/>
        </pc:sldMkLst>
      </pc:sldChg>
      <pc:sldChg chg="delSp mod">
        <pc:chgData name="Mozhgan Moazzen Zadeh-Bacon" userId="87017a61-33d9-4952-aa6c-e009fac81f23" providerId="ADAL" clId="{7168E9A1-4454-4FFE-8C39-12D5EA6E6EE0}" dt="2024-10-02T21:21:24.157" v="18" actId="478"/>
        <pc:sldMkLst>
          <pc:docMk/>
          <pc:sldMk cId="2025566542" sldId="407"/>
        </pc:sldMkLst>
      </pc:sldChg>
      <pc:sldChg chg="modSp mod">
        <pc:chgData name="Mozhgan Moazzen Zadeh-Bacon" userId="87017a61-33d9-4952-aa6c-e009fac81f23" providerId="ADAL" clId="{7168E9A1-4454-4FFE-8C39-12D5EA6E6EE0}" dt="2024-10-02T21:22:17.182" v="36" actId="1076"/>
        <pc:sldMkLst>
          <pc:docMk/>
          <pc:sldMk cId="1897657482" sldId="40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32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31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628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49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939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AB87C2-2E1F-4FBC-8E57-AE04414B961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42900" y="6324600"/>
            <a:ext cx="8458200" cy="349250"/>
          </a:xfrm>
        </p:spPr>
        <p:txBody>
          <a:bodyPr/>
          <a:lstStyle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60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>
                <a:latin typeface="Times New Roman" panose="02020603050405020304" pitchFamily="18" charset="0"/>
              </a:defRPr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®</a:t>
            </a:r>
            <a:endParaRPr lang="en-US" sz="1600" spc="40" baseline="60000" dirty="0">
              <a:latin typeface="Times New Roman" panose="02020603050405020304" pitchFamily="18" charset="0"/>
            </a:endParaRPr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6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883F8-FE81-4D17-BFF9-4A8EF5974662}"/>
              </a:ext>
            </a:extLst>
          </p:cNvPr>
          <p:cNvSpPr txBox="1"/>
          <p:nvPr userDrawn="1"/>
        </p:nvSpPr>
        <p:spPr>
          <a:xfrm>
            <a:off x="8631382" y="6528808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5.e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6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4.bin"/><Relationship Id="rId3" Type="http://schemas.openxmlformats.org/officeDocument/2006/relationships/image" Target="../media/image7.emf"/><Relationship Id="rId4" Type="http://schemas.openxmlformats.org/officeDocument/2006/relationships/oleObject" Target="../embeddings/oleObject5.bin"/><Relationship Id="rId5" Type="http://schemas.openxmlformats.org/officeDocument/2006/relationships/image" Target="../media/image8.emf"/><Relationship Id="rId6" Type="http://schemas.openxmlformats.org/officeDocument/2006/relationships/oleObject" Target="../embeddings/oleObject6.bin"/><Relationship Id="rId7" Type="http://schemas.openxmlformats.org/officeDocument/2006/relationships/image" Target="../media/image9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oleObject" Target="../embeddings/oleObject7.bin"/><Relationship Id="rId3" Type="http://schemas.openxmlformats.org/officeDocument/2006/relationships/image" Target="../media/image11.wmf"/><Relationship Id="rId4" Type="http://schemas.openxmlformats.org/officeDocument/2006/relationships/oleObject" Target="../embeddings/oleObject8.bin"/><Relationship Id="rId5" Type="http://schemas.openxmlformats.org/officeDocument/2006/relationships/image" Target="../media/image12.wmf"/><Relationship Id="rId6" Type="http://schemas.openxmlformats.org/officeDocument/2006/relationships/oleObject" Target="../embeddings/oleObject9.bin"/><Relationship Id="rId7" Type="http://schemas.openxmlformats.org/officeDocument/2006/relationships/image" Target="../media/image13.emf"/><Relationship Id="rId8" Type="http://schemas.openxmlformats.org/officeDocument/2006/relationships/oleObject" Target="../embeddings/oleObject10.bin"/><Relationship Id="rId9" Type="http://schemas.openxmlformats.org/officeDocument/2006/relationships/image" Target="../media/image14.emf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1.bin"/><Relationship Id="rId3" Type="http://schemas.openxmlformats.org/officeDocument/2006/relationships/image" Target="../media/image19.emf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0.emf"/><Relationship Id="rId6" Type="http://schemas.openxmlformats.org/officeDocument/2006/relationships/oleObject" Target="../embeddings/oleObject13.bin"/><Relationship Id="rId7" Type="http://schemas.openxmlformats.org/officeDocument/2006/relationships/image" Target="../media/image21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4.bin"/><Relationship Id="rId3" Type="http://schemas.openxmlformats.org/officeDocument/2006/relationships/image" Target="../media/image27.emf"/><Relationship Id="rId4" Type="http://schemas.openxmlformats.org/officeDocument/2006/relationships/oleObject" Target="../embeddings/oleObject15.bin"/><Relationship Id="rId5" Type="http://schemas.openxmlformats.org/officeDocument/2006/relationships/image" Target="../media/image28.emf"/><Relationship Id="rId6" Type="http://schemas.openxmlformats.org/officeDocument/2006/relationships/oleObject" Target="../embeddings/oleObject16.bin"/><Relationship Id="rId7" Type="http://schemas.openxmlformats.org/officeDocument/2006/relationships/image" Target="../media/image29.emf"/><Relationship Id="rId8" Type="http://schemas.openxmlformats.org/officeDocument/2006/relationships/image" Target="../media/image30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7.bin"/><Relationship Id="rId3" Type="http://schemas.openxmlformats.org/officeDocument/2006/relationships/image" Target="../media/image31.emf"/><Relationship Id="rId4" Type="http://schemas.openxmlformats.org/officeDocument/2006/relationships/oleObject" Target="../embeddings/oleObject18.bin"/><Relationship Id="rId5" Type="http://schemas.openxmlformats.org/officeDocument/2006/relationships/image" Target="../media/image32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9.bin"/><Relationship Id="rId3" Type="http://schemas.openxmlformats.org/officeDocument/2006/relationships/image" Target="../media/image37.emf"/><Relationship Id="rId4" Type="http://schemas.openxmlformats.org/officeDocument/2006/relationships/oleObject" Target="../embeddings/oleObject20.bin"/><Relationship Id="rId5" Type="http://schemas.openxmlformats.org/officeDocument/2006/relationships/image" Target="../media/image38.emf"/><Relationship Id="rId6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eg"/><Relationship Id="rId3" Type="http://schemas.openxmlformats.org/officeDocument/2006/relationships/image" Target="../media/image4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42.emf"/><Relationship Id="rId5" Type="http://schemas.openxmlformats.org/officeDocument/2006/relationships/image" Target="../media/image43.jpeg"/><Relationship Id="rId6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45.emf"/><Relationship Id="rId5" Type="http://schemas.openxmlformats.org/officeDocument/2006/relationships/image" Target="../media/image46.jpeg"/><Relationship Id="rId6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49.emf"/><Relationship Id="rId4" Type="http://schemas.openxmlformats.org/officeDocument/2006/relationships/oleObject" Target="../embeddings/oleObject24.bin"/><Relationship Id="rId5" Type="http://schemas.openxmlformats.org/officeDocument/2006/relationships/image" Target="../media/image50.emf"/><Relationship Id="rId6" Type="http://schemas.openxmlformats.org/officeDocument/2006/relationships/oleObject" Target="../embeddings/oleObject25.bin"/><Relationship Id="rId7" Type="http://schemas.openxmlformats.org/officeDocument/2006/relationships/image" Target="../media/image51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6.bin"/><Relationship Id="rId3" Type="http://schemas.openxmlformats.org/officeDocument/2006/relationships/image" Target="../media/image53.emf"/><Relationship Id="rId4" Type="http://schemas.openxmlformats.org/officeDocument/2006/relationships/oleObject" Target="../embeddings/oleObject27.bin"/><Relationship Id="rId5" Type="http://schemas.openxmlformats.org/officeDocument/2006/relationships/image" Target="../media/image54.emf"/><Relationship Id="rId6" Type="http://schemas.openxmlformats.org/officeDocument/2006/relationships/oleObject" Target="../embeddings/oleObject28.bin"/><Relationship Id="rId7" Type="http://schemas.openxmlformats.org/officeDocument/2006/relationships/image" Target="../media/image55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9.bin"/><Relationship Id="rId3" Type="http://schemas.openxmlformats.org/officeDocument/2006/relationships/image" Target="../media/image56.emf"/><Relationship Id="rId4" Type="http://schemas.openxmlformats.org/officeDocument/2006/relationships/oleObject" Target="../embeddings/oleObject30.bin"/><Relationship Id="rId5" Type="http://schemas.openxmlformats.org/officeDocument/2006/relationships/image" Target="../media/image57.emf"/><Relationship Id="rId6" Type="http://schemas.openxmlformats.org/officeDocument/2006/relationships/oleObject" Target="../embeddings/oleObject31.bin"/><Relationship Id="rId7" Type="http://schemas.openxmlformats.org/officeDocument/2006/relationships/image" Target="../media/image58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62.emf"/><Relationship Id="rId5" Type="http://schemas.openxmlformats.org/officeDocument/2006/relationships/image" Target="../media/image63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64.e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65.emf"/><Relationship Id="rId6" Type="http://schemas.openxmlformats.org/officeDocument/2006/relationships/oleObject" Target="../embeddings/oleObject35.bin"/><Relationship Id="rId7" Type="http://schemas.openxmlformats.org/officeDocument/2006/relationships/image" Target="../media/image66.em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6.bin"/><Relationship Id="rId3" Type="http://schemas.openxmlformats.org/officeDocument/2006/relationships/image" Target="../media/image67.wmf"/><Relationship Id="rId4" Type="http://schemas.openxmlformats.org/officeDocument/2006/relationships/oleObject" Target="../embeddings/oleObject37.bin"/><Relationship Id="rId5" Type="http://schemas.openxmlformats.org/officeDocument/2006/relationships/image" Target="../media/image68.wmf"/><Relationship Id="rId6" Type="http://schemas.openxmlformats.org/officeDocument/2006/relationships/image" Target="../media/image69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Overview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examines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circuits’ reaction to switched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circuits are referred to as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order circuits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special functions, the unit step, unit impulse, and unit ramp function are also introduced.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source free and switched sources are examined.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First Order Circuits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A883F-C03A-4BC6-97D5-127BFA7612C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first order circuit is characterized by a first order differential equation.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first order circuits: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Resistive capacitive, called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Resistive inductive, called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 two ways to excite the circuits: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conditions.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sources.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441371" cy="409378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source free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circuit occurs when its d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source is suddenly disconnected.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stored in the capacitor is released to the resistors.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series combination of a resistor and a initially charged capacitor as shown: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A5A87-FA9D-4B6A-AB95-E56A63040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614" y="2098081"/>
            <a:ext cx="4105486" cy="24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968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1D4-C52C-46A1-9D5E-3823AD1F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0EE3-1E96-4876-8F35-B177C9EBF8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89982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capacitor was initially charged, we can assume at t=0 the initial voltages is: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365DC88-666F-46F9-A421-0A54EA0CA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190590"/>
              </p:ext>
            </p:extLst>
          </p:nvPr>
        </p:nvGraphicFramePr>
        <p:xfrm>
          <a:off x="1093234" y="2280574"/>
          <a:ext cx="1290828" cy="54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800" imgH="447556" progId="Equation.DSMT4">
                  <p:embed/>
                </p:oleObj>
              </mc:Choice>
              <mc:Fallback>
                <p:oleObj name="Equation" r:id="rId3" imgW="1066800" imgH="44755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365DC88-666F-46F9-A421-0A54EA0CA3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3234" y="2280574"/>
                        <a:ext cx="1290828" cy="54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66F83-7732-4C58-A5E4-E75CB810CB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894746"/>
            <a:ext cx="8458200" cy="479522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at the top node: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877A2BC4-2247-442E-983B-7267836DB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095039"/>
              </p:ext>
            </p:extLst>
          </p:nvPr>
        </p:nvGraphicFramePr>
        <p:xfrm>
          <a:off x="1093234" y="3523308"/>
          <a:ext cx="1687413" cy="59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7750" imgH="371475" progId="Equation.DSMT4">
                  <p:embed/>
                </p:oleObj>
              </mc:Choice>
              <mc:Fallback>
                <p:oleObj name="Equation" r:id="rId5" imgW="1047750" imgH="371475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877A2BC4-2247-442E-983B-7267836DBD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3234" y="3523308"/>
                        <a:ext cx="1687413" cy="59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544129-026A-473A-9A60-E4CC1D5377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266105"/>
            <a:ext cx="8458200" cy="479522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F70A370B-40AD-4DE3-AE8D-FCC71F753E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584407"/>
              </p:ext>
            </p:extLst>
          </p:nvPr>
        </p:nvGraphicFramePr>
        <p:xfrm>
          <a:off x="1093234" y="4846985"/>
          <a:ext cx="1660789" cy="7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7775" imgH="600075" progId="Equation.DSMT4">
                  <p:embed/>
                </p:oleObj>
              </mc:Choice>
              <mc:Fallback>
                <p:oleObj name="Equation" r:id="rId7" imgW="1247775" imgH="600075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70A370B-40AD-4DE3-AE8D-FCC71F753E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3234" y="4846985"/>
                        <a:ext cx="1660789" cy="79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16A37-9D88-4E73-9254-053049B5F6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5790217"/>
            <a:ext cx="8458200" cy="479522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first order differential equation.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46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 </a:t>
            </a:r>
            <a:r>
              <a:rPr lang="en-US" altLang="en-US" sz="1000" b="0" noProof="0" dirty="0"/>
              <a:t>3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977093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Rearranging the equation and solving both sides yields(integrating both sides):</a:t>
            </a:r>
            <a:endParaRPr lang="en-US" noProof="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FCA0CFF-AE66-4DD4-A770-D60EA1633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556474"/>
              </p:ext>
            </p:extLst>
          </p:nvPr>
        </p:nvGraphicFramePr>
        <p:xfrm>
          <a:off x="1015493" y="2346553"/>
          <a:ext cx="2399348" cy="82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1225" imgH="752594" progId="Equation.DSMT4">
                  <p:embed/>
                </p:oleObj>
              </mc:Choice>
              <mc:Fallback>
                <p:oleObj name="Equation" r:id="rId2" imgW="2181225" imgH="752594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FCA0CFF-AE66-4DD4-A770-D60EA16331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5493" y="2346553"/>
                        <a:ext cx="2399348" cy="827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67026"/>
            <a:ext cx="8458200" cy="1375453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 </a:t>
            </a:r>
            <a:r>
              <a:rPr lang="en-US" altLang="en-US" i="1" noProof="0" dirty="0"/>
              <a:t>A</a:t>
            </a:r>
            <a:r>
              <a:rPr lang="en-US" altLang="en-US" noProof="0" dirty="0"/>
              <a:t> is the integration constant.</a:t>
            </a:r>
          </a:p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Taking powers of </a:t>
            </a:r>
            <a:r>
              <a:rPr lang="en-US" altLang="en-US" i="1" noProof="0" dirty="0"/>
              <a:t>e</a:t>
            </a:r>
            <a:r>
              <a:rPr lang="en-US" altLang="en-US" noProof="0" dirty="0"/>
              <a:t> produces Taking powers of </a:t>
            </a:r>
            <a:r>
              <a:rPr lang="en-US" altLang="en-US" i="1" noProof="0" dirty="0"/>
              <a:t>e</a:t>
            </a:r>
            <a:r>
              <a:rPr lang="en-US" altLang="en-US" noProof="0" dirty="0"/>
              <a:t> produces.</a:t>
            </a:r>
            <a:endParaRPr lang="en-US" noProof="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8C33410-E629-4739-881A-2DC7AB23E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019147"/>
              </p:ext>
            </p:extLst>
          </p:nvPr>
        </p:nvGraphicFramePr>
        <p:xfrm>
          <a:off x="1015493" y="4754529"/>
          <a:ext cx="1828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523994" progId="Equation.DSMT4">
                  <p:embed/>
                </p:oleObj>
              </mc:Choice>
              <mc:Fallback>
                <p:oleObj name="Equation" r:id="rId4" imgW="1828800" imgH="523994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8C33410-E629-4739-881A-2DC7AB23EF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5493" y="4754529"/>
                        <a:ext cx="182880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364698"/>
            <a:ext cx="8458200" cy="48090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With the initial conditions: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D9A3112-DC7A-4A0E-AECF-21681CC72D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269875"/>
              </p:ext>
            </p:extLst>
          </p:nvPr>
        </p:nvGraphicFramePr>
        <p:xfrm>
          <a:off x="1015493" y="5960722"/>
          <a:ext cx="18573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7375" imgH="523994" progId="Equation.DSMT4">
                  <p:embed/>
                </p:oleObj>
              </mc:Choice>
              <mc:Fallback>
                <p:oleObj name="Equation" r:id="rId6" imgW="1857375" imgH="523994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D9A3112-DC7A-4A0E-AECF-21681CC72D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5493" y="5960722"/>
                        <a:ext cx="18573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88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4419-7FBD-4E16-B66B-DAD510AF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Natural Response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7630-EE74-41EB-89A5-270910B644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813334" cy="49716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shows that the voltage response of the R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circuit is an exponential decay of the initial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this is the response of the circuit without any external applied voltage or current, the response is called the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response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98914BE8-7BC6-4557-A7FB-217D8EFE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34" y="2460879"/>
            <a:ext cx="3544015" cy="193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74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C92AF1C-D64B-49DE-AE62-EA698648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Time Constant </a:t>
            </a:r>
            <a:endParaRPr lang="en-US" sz="1000" b="0" noProof="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5625C4C-D2FA-4E84-A5B9-F4BED460F0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9582" y="1017033"/>
            <a:ext cx="8458200" cy="977093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at which the voltage decays can be characterized by how long it takes the voltage to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C15EAE7-C822-4BCB-A452-E7C4B7BB04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218" y="1905696"/>
            <a:ext cx="2284390" cy="487706"/>
          </a:xfrm>
        </p:spPr>
        <p:txBody>
          <a:bodyPr>
            <a:noAutofit/>
          </a:bodyPr>
          <a:lstStyle/>
          <a:p>
            <a:pPr marL="269875" algn="just"/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to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E6ED9883-9DF0-4EB0-B8FD-F58220713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972178"/>
              </p:ext>
            </p:extLst>
          </p:nvPr>
        </p:nvGraphicFramePr>
        <p:xfrm>
          <a:off x="1992276" y="2012272"/>
          <a:ext cx="571696" cy="38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77480" progId="Equation.DSMT4">
                  <p:embed/>
                </p:oleObj>
              </mc:Choice>
              <mc:Fallback>
                <p:oleObj name="Equation" r:id="rId2" imgW="266400" imgH="1774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E6ED9883-9DF0-4EB0-B8FD-F58220713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2276" y="2012272"/>
                        <a:ext cx="571696" cy="381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085ACD3-02FA-4574-B129-07D6D7AEE0F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627290" y="1990654"/>
            <a:ext cx="6173810" cy="524837"/>
          </a:xfrm>
        </p:spPr>
        <p:txBody>
          <a:bodyPr/>
          <a:lstStyle/>
          <a:p>
            <a:pPr algn="just"/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initial voltage.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D9CBFD0-ED0D-4547-B605-2BF1AF91B2E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384274"/>
            <a:ext cx="8458200" cy="93255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the time constant and is represented by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4D18DCB-DC2F-4E6B-8D79-8FC3CC2AC6E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42900" y="2978727"/>
            <a:ext cx="3033518" cy="480545"/>
          </a:xfrm>
        </p:spPr>
        <p:txBody>
          <a:bodyPr>
            <a:normAutofit lnSpcReduction="10000"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By selecting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30AC7FD0-C9C5-40D2-9E6C-288BC65FF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833260"/>
              </p:ext>
            </p:extLst>
          </p:nvPr>
        </p:nvGraphicFramePr>
        <p:xfrm>
          <a:off x="2627290" y="3107982"/>
          <a:ext cx="571696" cy="38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00" imgH="177480" progId="Equation.DSMT4">
                  <p:embed/>
                </p:oleObj>
              </mc:Choice>
              <mc:Fallback>
                <p:oleObj name="Equation" r:id="rId4" imgW="266400" imgH="1774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30AC7FD0-C9C5-40D2-9E6C-288BC65FFC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27290" y="3107982"/>
                        <a:ext cx="571696" cy="381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6A5B928E-2D6D-4FB3-B9D3-8AD5CC83E26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76418" y="3042189"/>
            <a:ext cx="5298046" cy="480545"/>
          </a:xfrm>
        </p:spPr>
        <p:txBody>
          <a:bodyPr>
            <a:normAutofit lnSpcReduction="10000"/>
          </a:bodyPr>
          <a:lstStyle/>
          <a:p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 the reference voltage: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AEBF0921-C347-4DA4-A139-F8493B238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02470"/>
              </p:ext>
            </p:extLst>
          </p:nvPr>
        </p:nvGraphicFramePr>
        <p:xfrm>
          <a:off x="7022726" y="3005953"/>
          <a:ext cx="1244727" cy="44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700" imgH="371475" progId="Equation.DSMT4">
                  <p:embed/>
                </p:oleObj>
              </mc:Choice>
              <mc:Fallback>
                <p:oleObj name="Equation" r:id="rId6" imgW="1028700" imgH="371475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AEBF0921-C347-4DA4-A139-F8493B2384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22726" y="3005953"/>
                        <a:ext cx="1244727" cy="449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5252167-2D74-4D05-8F54-8272E7AFD4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79582" y="4021312"/>
            <a:ext cx="8458200" cy="513038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can thus be expressed as: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EE196EA1-5DD2-45E6-9A21-642E8E6F2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883359"/>
              </p:ext>
            </p:extLst>
          </p:nvPr>
        </p:nvGraphicFramePr>
        <p:xfrm>
          <a:off x="6051176" y="4021312"/>
          <a:ext cx="19431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600075" progId="Equation.DSMT4">
                  <p:embed/>
                </p:oleObj>
              </mc:Choice>
              <mc:Fallback>
                <p:oleObj name="Equation" r:id="rId8" imgW="1943100" imgH="600075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EE196EA1-5DD2-45E6-9A21-642E8E6F2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51176" y="4021312"/>
                        <a:ext cx="1943100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5D6113F-9946-49A7-B26A-E64E9BDC65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506133"/>
            <a:ext cx="9144000" cy="4435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EEB41F-4EE1-4E23-B1D9-D6854A3077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4276" y="3945900"/>
            <a:ext cx="1164566" cy="2639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3783F3-A8A6-467D-9079-FA34D03E06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841" y="4490380"/>
            <a:ext cx="2933351" cy="19471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B4B51E-D851-496E-902E-21ECA369B729}"/>
              </a:ext>
            </a:extLst>
          </p:cNvPr>
          <p:cNvSpPr/>
          <p:nvPr/>
        </p:nvSpPr>
        <p:spPr>
          <a:xfrm>
            <a:off x="194066" y="6409404"/>
            <a:ext cx="565007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900" dirty="0">
                <a:solidFill>
                  <a:srgbClr val="000000"/>
                </a:solidFill>
                <a:latin typeface="Times New Roman"/>
              </a:rPr>
              <a:t>Graphical determination of the time constant </a:t>
            </a:r>
            <a:r>
              <a:rPr lang="en-CA" sz="900" i="1" dirty="0">
                <a:solidFill>
                  <a:srgbClr val="000000"/>
                </a:solidFill>
                <a:latin typeface="Times New Roman"/>
              </a:rPr>
              <a:t>τ</a:t>
            </a:r>
            <a:r>
              <a:rPr lang="en-CA" sz="900" dirty="0">
                <a:solidFill>
                  <a:srgbClr val="000000"/>
                </a:solidFill>
                <a:latin typeface="Times New Roman"/>
              </a:rPr>
              <a:t> from the response curve.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167408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Time Constant </a:t>
            </a:r>
            <a:r>
              <a:rPr lang="en-US" altLang="en-US" sz="1000" b="0" noProof="0" dirty="0"/>
              <a:t>2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B1FD-4095-4AE3-A72C-59F9E23762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759974" cy="512409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five time constants the voltage on the capacitor is less than one percent.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five time constants a capacitor is considered to be either fully discharged or charged.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 with a small time constant has a fast response and vice versa.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F1A467-65CC-4670-9D12-9179EA6EE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874" y="2874825"/>
            <a:ext cx="3597275" cy="192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C9534E-1290-4DD9-95EB-5E7766A0D902}"/>
              </a:ext>
            </a:extLst>
          </p:cNvPr>
          <p:cNvSpPr/>
          <p:nvPr/>
        </p:nvSpPr>
        <p:spPr>
          <a:xfrm>
            <a:off x="5336691" y="4907612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900" dirty="0">
                <a:solidFill>
                  <a:srgbClr val="000000"/>
                </a:solidFill>
                <a:latin typeface="Times New Roman"/>
              </a:rPr>
              <a:t>Plot of v/V0=e^(−t/τ) for various values of the time constant.</a:t>
            </a:r>
            <a:endParaRPr lang="en-CA" sz="900" dirty="0"/>
          </a:p>
        </p:txBody>
      </p:sp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Discharge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564969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voltage known, we can find the current: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5DBBE99-3364-4BB8-934D-747238CD0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913941"/>
              </p:ext>
            </p:extLst>
          </p:nvPr>
        </p:nvGraphicFramePr>
        <p:xfrm>
          <a:off x="1112149" y="1970878"/>
          <a:ext cx="1913192" cy="81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1150" imgH="676156" progId="Equation.DSMT4">
                  <p:embed/>
                </p:oleObj>
              </mc:Choice>
              <mc:Fallback>
                <p:oleObj name="Equation" r:id="rId2" imgW="1581150" imgH="676156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5DBBE99-3364-4BB8-934D-747238CD00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2149" y="1970878"/>
                        <a:ext cx="1913192" cy="81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945052"/>
            <a:ext cx="8458200" cy="480908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dissipated in the resistor is: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D013380-A8D7-462C-8338-37105A17AD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44612"/>
              </p:ext>
            </p:extLst>
          </p:nvPr>
        </p:nvGraphicFramePr>
        <p:xfrm>
          <a:off x="1112149" y="3581841"/>
          <a:ext cx="2051495" cy="875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95450" imgH="724019" progId="Equation.DSMT4">
                  <p:embed/>
                </p:oleObj>
              </mc:Choice>
              <mc:Fallback>
                <p:oleObj name="Equation" r:id="rId4" imgW="1695450" imgH="724019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4D013380-A8D7-462C-8338-37105A17A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2149" y="3581841"/>
                        <a:ext cx="2051495" cy="875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643485"/>
            <a:ext cx="8458200" cy="48090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absorbed by the resistor is: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5AE9BBA-9ED1-44F4-9613-3E43901B7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731556"/>
              </p:ext>
            </p:extLst>
          </p:nvPr>
        </p:nvGraphicFramePr>
        <p:xfrm>
          <a:off x="1112149" y="5310118"/>
          <a:ext cx="3284697" cy="81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14625" imgH="676156" progId="Equation.DSMT4">
                  <p:embed/>
                </p:oleObj>
              </mc:Choice>
              <mc:Fallback>
                <p:oleObj name="Equation" r:id="rId6" imgW="2714625" imgH="67615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5AE9BBA-9ED1-44F4-9613-3E43901B72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2149" y="5310118"/>
                        <a:ext cx="3284697" cy="81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151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BD5F-7190-4BA0-A16F-E23EBF7B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 Summary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E439-004C-473A-B6F9-EC8F4184EC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699088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to working with this type of situation is: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initial voltage across the capacitor and the time constant.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these two items, the voltage as a function of time can be known.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voltage, the current can be known by using the resistance and Ohm’s law.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of the circuit is often the Thevenin equivalent resistance.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82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01BA01F-97B6-4EDB-8B51-60864D241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27" y="1166328"/>
            <a:ext cx="4101073" cy="191344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411C263-075E-4B8F-A71F-E119EE64A043}"/>
              </a:ext>
            </a:extLst>
          </p:cNvPr>
          <p:cNvGrpSpPr/>
          <p:nvPr/>
        </p:nvGrpSpPr>
        <p:grpSpPr>
          <a:xfrm>
            <a:off x="0" y="89593"/>
            <a:ext cx="9059539" cy="921625"/>
            <a:chOff x="0" y="89593"/>
            <a:chExt cx="9059539" cy="9216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2A57600-015E-432E-9FAA-0CEF9D67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9593"/>
              <a:ext cx="9059539" cy="9216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0167959-0C34-4874-80FD-9C962355C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61" y="592060"/>
              <a:ext cx="4982270" cy="419158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1CFA93-7325-4129-AB27-B27984A9C788}"/>
              </a:ext>
            </a:extLst>
          </p:cNvPr>
          <p:cNvSpPr/>
          <p:nvPr/>
        </p:nvSpPr>
        <p:spPr>
          <a:xfrm>
            <a:off x="1851799" y="2741219"/>
            <a:ext cx="591132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rgbClr val="009E70"/>
                </a:solidFill>
                <a:latin typeface="Times New Roman"/>
              </a:rPr>
              <a:t>Figure 7.5</a:t>
            </a:r>
          </a:p>
          <a:p>
            <a:r>
              <a:rPr lang="en-CA" dirty="0">
                <a:solidFill>
                  <a:srgbClr val="000000"/>
                </a:solidFill>
                <a:latin typeface="Times New Roman"/>
              </a:rPr>
              <a:t>For Example 7.1.</a:t>
            </a:r>
            <a:endParaRPr lang="en-CA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51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467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1856D1-50DE-4357-AA25-532B58A82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26"/>
            <a:ext cx="9078592" cy="533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11281A-24F9-4B6C-8D81-4B75769DB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655" y="1290015"/>
            <a:ext cx="4922240" cy="19188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23156B-1A69-4C70-8886-89348B470F92}"/>
              </a:ext>
            </a:extLst>
          </p:cNvPr>
          <p:cNvSpPr/>
          <p:nvPr/>
        </p:nvSpPr>
        <p:spPr>
          <a:xfrm>
            <a:off x="65408" y="459493"/>
            <a:ext cx="9013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latin typeface="Times New Roman"/>
              </a:rPr>
              <a:t>The switch in the circuit in Fig. 7.8 has been closed for a long time, and it is opened at </a:t>
            </a:r>
            <a:r>
              <a:rPr lang="en-CA" i="1" dirty="0">
                <a:latin typeface="Times New Roman"/>
              </a:rPr>
              <a:t>t </a:t>
            </a:r>
            <a:r>
              <a:rPr lang="en-CA" dirty="0">
                <a:latin typeface="Times New Roman"/>
              </a:rPr>
              <a:t>= </a:t>
            </a:r>
            <a:r>
              <a:rPr lang="en-CA" dirty="0">
                <a:latin typeface="Times New Roman"/>
              </a:rPr>
              <a:t>0. Find </a:t>
            </a:r>
            <a:r>
              <a:rPr lang="en-CA" i="1" dirty="0">
                <a:latin typeface="Times New Roman"/>
              </a:rPr>
              <a:t>v</a:t>
            </a:r>
            <a:r>
              <a:rPr lang="en-CA" dirty="0">
                <a:latin typeface="Times New Roman"/>
              </a:rPr>
              <a:t>(</a:t>
            </a:r>
            <a:r>
              <a:rPr lang="en-CA" i="1" dirty="0">
                <a:latin typeface="Times New Roman"/>
              </a:rPr>
              <a:t>t</a:t>
            </a:r>
            <a:r>
              <a:rPr lang="en-CA" dirty="0">
                <a:latin typeface="Times New Roman"/>
              </a:rPr>
              <a:t>) for </a:t>
            </a:r>
            <a:r>
              <a:rPr lang="en-CA" i="1" dirty="0">
                <a:latin typeface="Times New Roman"/>
              </a:rPr>
              <a:t>t </a:t>
            </a:r>
            <a:r>
              <a:rPr lang="en-CA" dirty="0">
                <a:latin typeface="Times New Roman"/>
              </a:rPr>
              <a:t>≥ </a:t>
            </a:r>
            <a:r>
              <a:rPr lang="en-CA" dirty="0">
                <a:latin typeface="Times New Roman"/>
              </a:rPr>
              <a:t>0. Calculate the initial energy stored in the capacitor.</a:t>
            </a:r>
            <a:endParaRPr lang="en-CA" dirty="0">
              <a:latin typeface="Times New Roman" panose="02020603050405020304" pitchFamily="18" charset="0"/>
            </a:endParaRPr>
          </a:p>
          <a:p>
            <a:endParaRPr lang="en-CA" dirty="0">
              <a:latin typeface="Times New Roman"/>
            </a:endParaRPr>
          </a:p>
          <a:p>
            <a:endParaRPr lang="en-CA" dirty="0">
              <a:latin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4A53B-D3B3-4C5B-9151-A449227C680F}"/>
              </a:ext>
            </a:extLst>
          </p:cNvPr>
          <p:cNvSpPr/>
          <p:nvPr/>
        </p:nvSpPr>
        <p:spPr>
          <a:xfrm>
            <a:off x="2253296" y="3208854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2000" b="1" dirty="0">
                <a:solidFill>
                  <a:srgbClr val="009E70"/>
                </a:solidFill>
                <a:latin typeface="Times New Roman"/>
              </a:rPr>
              <a:t>Figure 7.8</a:t>
            </a:r>
          </a:p>
          <a:p>
            <a:r>
              <a:rPr lang="en-CA" dirty="0">
                <a:solidFill>
                  <a:srgbClr val="000000"/>
                </a:solidFill>
                <a:latin typeface="Times New Roman"/>
              </a:rPr>
              <a:t>For Example 7.2.</a:t>
            </a:r>
            <a:endParaRPr lang="en-CA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5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286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BD5F-7190-4BA0-A16F-E23EBF7B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Circuit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E439-004C-473A-B6F9-EC8F4184EC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699088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lets consider the series connection of a resistor and inductor.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the value of interest is the current through the inductor.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current cannot change instantaneously, we can determine its value as a function of time.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again, we will start with an initial current passing through the inductor.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575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Circuit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1"/>
            <a:ext cx="4229100" cy="912698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take the initial current to be: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8362509-DF51-4B30-9E96-A2BF54A61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786546"/>
              </p:ext>
            </p:extLst>
          </p:nvPr>
        </p:nvGraphicFramePr>
        <p:xfrm>
          <a:off x="1035032" y="2359758"/>
          <a:ext cx="1407233" cy="633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7275" imgH="476131" progId="Equation.DSMT4">
                  <p:embed/>
                </p:oleObj>
              </mc:Choice>
              <mc:Fallback>
                <p:oleObj name="Equation" r:id="rId2" imgW="1057275" imgH="476131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8362509-DF51-4B30-9E96-A2BF54A618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5032" y="2359758"/>
                        <a:ext cx="1407233" cy="633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51118"/>
            <a:ext cx="4229100" cy="101572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around the loop: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88A1DCF-F8E2-45F3-9555-C73313B2FB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417848"/>
              </p:ext>
            </p:extLst>
          </p:nvPr>
        </p:nvGraphicFramePr>
        <p:xfrm>
          <a:off x="1035032" y="4324318"/>
          <a:ext cx="15906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90675" imgH="523994" progId="Equation.DSMT4">
                  <p:embed/>
                </p:oleObj>
              </mc:Choice>
              <mc:Fallback>
                <p:oleObj name="Equation" r:id="rId4" imgW="1590675" imgH="523994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88A1DCF-F8E2-45F3-9555-C73313B2F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5032" y="4324318"/>
                        <a:ext cx="15906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1" y="5005664"/>
            <a:ext cx="4229100" cy="48090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FC55DD3-662C-46B7-BC1B-65A01C224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772944"/>
              </p:ext>
            </p:extLst>
          </p:nvPr>
        </p:nvGraphicFramePr>
        <p:xfrm>
          <a:off x="1035032" y="5644043"/>
          <a:ext cx="17526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600" imgH="828675" progId="Equation.DSMT4">
                  <p:embed/>
                </p:oleObj>
              </mc:Choice>
              <mc:Fallback>
                <p:oleObj name="Equation" r:id="rId6" imgW="1752600" imgH="828675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6FC55DD3-662C-46B7-BC1B-65A01C224A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35032" y="5644043"/>
                        <a:ext cx="17526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5">
            <a:extLst>
              <a:ext uri="{FF2B5EF4-FFF2-40B4-BE49-F238E27FC236}">
                <a16:creationId xmlns:a16="http://schemas.microsoft.com/office/drawing/2014/main" id="{DBF605E4-8C07-4D5F-A3FE-247195797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075" y="2290358"/>
            <a:ext cx="4005025" cy="273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19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Circuit </a:t>
            </a:r>
            <a:r>
              <a:rPr lang="en-US" altLang="en-US" sz="1000" b="0" noProof="0" dirty="0"/>
              <a:t>3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11"/>
            <a:ext cx="8458199" cy="54551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integration: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A0A34FB-AEF6-47FD-B836-A7545BC5A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738268"/>
              </p:ext>
            </p:extLst>
          </p:nvPr>
        </p:nvGraphicFramePr>
        <p:xfrm>
          <a:off x="1136550" y="1947215"/>
          <a:ext cx="2028444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447556" progId="Equation.DSMT4">
                  <p:embed/>
                </p:oleObj>
              </mc:Choice>
              <mc:Fallback>
                <p:oleObj name="Equation" r:id="rId2" imgW="1524000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A0A34FB-AEF6-47FD-B836-A7545BC5A7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6550" y="1947215"/>
                        <a:ext cx="2028444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899" y="2668058"/>
            <a:ext cx="8458199" cy="1390918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again, the natural response is an exponentially decaying current.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constant in this case is: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B076E8-61D8-4EE2-A87D-A8C8A746C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927350"/>
              </p:ext>
            </p:extLst>
          </p:nvPr>
        </p:nvGraphicFramePr>
        <p:xfrm>
          <a:off x="1136550" y="4216302"/>
          <a:ext cx="841344" cy="81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5325" imgH="676156" progId="Equation.DSMT4">
                  <p:embed/>
                </p:oleObj>
              </mc:Choice>
              <mc:Fallback>
                <p:oleObj name="Equation" r:id="rId4" imgW="695325" imgH="676156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2B076E8-61D8-4EE2-A87D-A8C8A746C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6550" y="4216302"/>
                        <a:ext cx="841344" cy="81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1" y="5198844"/>
            <a:ext cx="8458198" cy="48090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principles as the R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circuit apply here.</a:t>
            </a:r>
          </a:p>
        </p:txBody>
      </p:sp>
    </p:spTree>
    <p:extLst>
      <p:ext uri="{BB962C8B-B14F-4D97-AF65-F5344CB8AC3E}">
        <p14:creationId xmlns:p14="http://schemas.microsoft.com/office/powerpoint/2010/main" val="2399751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CBE64C-103B-42D5-9677-9F2140772133}"/>
              </a:ext>
            </a:extLst>
          </p:cNvPr>
          <p:cNvSpPr/>
          <p:nvPr/>
        </p:nvSpPr>
        <p:spPr>
          <a:xfrm>
            <a:off x="3034720" y="3244334"/>
            <a:ext cx="3141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00707B"/>
                </a:solidFill>
                <a:latin typeface="Times New Roman"/>
              </a:rPr>
              <a:t>Figure 7.16 </a:t>
            </a:r>
            <a:r>
              <a:rPr lang="en-CA" dirty="0">
                <a:solidFill>
                  <a:srgbClr val="000000"/>
                </a:solidFill>
                <a:latin typeface="Times New Roman"/>
              </a:rPr>
              <a:t>For </a:t>
            </a:r>
            <a:r>
              <a:rPr lang="en-CA" b="1" dirty="0">
                <a:solidFill>
                  <a:srgbClr val="003E79"/>
                </a:solidFill>
                <a:latin typeface="Times New Roman"/>
              </a:rPr>
              <a:t>Example 7.4</a:t>
            </a:r>
            <a:r>
              <a:rPr lang="en-CA" dirty="0">
                <a:solidFill>
                  <a:srgbClr val="000000"/>
                </a:solidFill>
                <a:latin typeface="Times New Roman"/>
              </a:rPr>
              <a:t>.</a:t>
            </a:r>
            <a:endParaRPr lang="en-CA" dirty="0">
              <a:latin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259C4-1A86-7139-B6CE-F94D8A49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94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90B35-B259-4140-A872-9631378D1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258" y="288988"/>
            <a:ext cx="3974679" cy="1640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FA02A-9560-48D1-9484-7DA4260B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259" y="2315282"/>
            <a:ext cx="3974678" cy="16402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8DF25-4C8B-436E-9D36-2052AB82EF2C}"/>
              </a:ext>
            </a:extLst>
          </p:cNvPr>
          <p:cNvSpPr/>
          <p:nvPr/>
        </p:nvSpPr>
        <p:spPr>
          <a:xfrm>
            <a:off x="6798185" y="1957504"/>
            <a:ext cx="482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0000"/>
                </a:solidFill>
                <a:latin typeface="Times New Roman"/>
              </a:rPr>
              <a:t>(a)</a:t>
            </a:r>
            <a:endParaRPr lang="en-CA" dirty="0">
              <a:latin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8B148-D2AD-45C4-9040-EE2C051C097A}"/>
              </a:ext>
            </a:extLst>
          </p:cNvPr>
          <p:cNvSpPr/>
          <p:nvPr/>
        </p:nvSpPr>
        <p:spPr>
          <a:xfrm>
            <a:off x="6869255" y="4023532"/>
            <a:ext cx="489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0000"/>
                </a:solidFill>
                <a:latin typeface="Times New Roman"/>
              </a:rPr>
              <a:t>(b)</a:t>
            </a:r>
            <a:endParaRPr lang="en-CA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56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BD5F-7190-4BA0-A16F-E23EBF7B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Singularity Functions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E439-004C-473A-B6F9-EC8F4184EC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699088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consider the response of a circuit to an external voltage, we need to cover some important mathematical functions.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Singularity functions serve as good approximations to switching on or off a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most common singularity functions are the unit step, unit impulse, and unit ramp.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409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The Unit Step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637314" cy="504681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 function is one that maintains a constant value before a certain time and then changes to another constant afterwards.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prototypical form is zero before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one afterwards.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the graph for an illustration.</a:t>
            </a:r>
            <a:endParaRPr lang="en-US" alt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E1A07-524A-4873-8600-7E15E6AD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600" y="2420352"/>
            <a:ext cx="3627957" cy="275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0438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The Unit Step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11"/>
            <a:ext cx="8458199" cy="54551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 the unit step is expressed as: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0A67B51-8ABF-42B2-8405-DA38A158D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900516"/>
              </p:ext>
            </p:extLst>
          </p:nvPr>
        </p:nvGraphicFramePr>
        <p:xfrm>
          <a:off x="1017673" y="2030901"/>
          <a:ext cx="2137410" cy="911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828675" progId="Equation.DSMT4">
                  <p:embed/>
                </p:oleObj>
              </mc:Choice>
              <mc:Fallback>
                <p:oleObj name="Equation" r:id="rId2" imgW="1943100" imgH="828675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0A67B51-8ABF-42B2-8405-DA38A158D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7673" y="2030901"/>
                        <a:ext cx="2137410" cy="911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899" y="3151119"/>
            <a:ext cx="8458199" cy="545518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switching time may be shifted to t=t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E3397BE-3EB4-4C1E-8D52-E45174C79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020203"/>
              </p:ext>
            </p:extLst>
          </p:nvPr>
        </p:nvGraphicFramePr>
        <p:xfrm>
          <a:off x="1017673" y="3869185"/>
          <a:ext cx="2650808" cy="963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9825" imgH="876181" progId="Equation.DSMT4">
                  <p:embed/>
                </p:oleObj>
              </mc:Choice>
              <mc:Fallback>
                <p:oleObj name="Equation" r:id="rId4" imgW="2409825" imgH="876181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E3397BE-3EB4-4C1E-8D52-E45174C79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7673" y="3869185"/>
                        <a:ext cx="2650808" cy="963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005663"/>
            <a:ext cx="8458199" cy="113755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this results in a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switch.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step function is written as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u(t)</a:t>
            </a:r>
            <a:endParaRPr lang="en-US" alt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066F4-56D6-49D4-B802-020E52FE7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14" y="2926713"/>
            <a:ext cx="4972744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24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Equivalent Circuit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5354F-7586-448B-9C39-85072FCA87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114880" cy="4596057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step function has an equivalent circuit to represent when it is used to switch on a source.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circuits for a voltage and current source are shown.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CE10774-78F6-4F63-84CA-B106DC69E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80" y="1554834"/>
            <a:ext cx="42179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DD2E2A35-1BC3-4D80-A4BB-BCE8679F0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447" y="3609197"/>
            <a:ext cx="4468653" cy="1844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The Unit Impulse Function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4229100" cy="202028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derivative of the unit step function is the unit impulse function.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expressed as: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B484A3-E8BC-4366-BFBB-60306CA48A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103752"/>
              </p:ext>
            </p:extLst>
          </p:nvPr>
        </p:nvGraphicFramePr>
        <p:xfrm>
          <a:off x="1069993" y="3347753"/>
          <a:ext cx="2581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81275" imgH="1133356" progId="Equation.DSMT4">
                  <p:embed/>
                </p:oleObj>
              </mc:Choice>
              <mc:Fallback>
                <p:oleObj name="Equation" r:id="rId3" imgW="2581275" imgH="1133356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4B484A3-E8BC-4366-BFBB-60306CA48A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9993" y="3347753"/>
                        <a:ext cx="2581275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007977"/>
            <a:ext cx="4229100" cy="139078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Voltages of this form can occur during switching operations.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AC33C0BD-2065-4C9D-A8AD-6B159975A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67" y="2729163"/>
            <a:ext cx="4132533" cy="2024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8B34E1-2337-437B-8D9D-1229B0E08855}"/>
              </a:ext>
            </a:extLst>
          </p:cNvPr>
          <p:cNvSpPr/>
          <p:nvPr/>
        </p:nvSpPr>
        <p:spPr>
          <a:xfrm>
            <a:off x="5546113" y="5906869"/>
            <a:ext cx="34687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000000"/>
                </a:solidFill>
                <a:latin typeface="Times New Roman"/>
              </a:rPr>
              <a:t>The unit impulse function—also known as the </a:t>
            </a:r>
            <a:r>
              <a:rPr lang="en-CA" i="1" dirty="0">
                <a:solidFill>
                  <a:srgbClr val="000000"/>
                </a:solidFill>
                <a:latin typeface="Times New Roman"/>
              </a:rPr>
              <a:t>delta</a:t>
            </a:r>
            <a:r>
              <a:rPr lang="en-CA" dirty="0">
                <a:solidFill>
                  <a:srgbClr val="000000"/>
                </a:solidFill>
                <a:latin typeface="Times New Roman"/>
              </a:rPr>
              <a:t> function</a:t>
            </a:r>
            <a:endParaRPr lang="en-CA" dirty="0"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2149D-D6A1-41E9-85EF-B489BB2F8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567828"/>
            <a:ext cx="5315692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The Unit Ramp Function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4229100" cy="145245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the unit step function results in the unit ramp function: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AF4F4FE-D7A6-48F5-AE16-81B9BA8F8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698497"/>
              </p:ext>
            </p:extLst>
          </p:nvPr>
        </p:nvGraphicFramePr>
        <p:xfrm>
          <a:off x="1293399" y="2927651"/>
          <a:ext cx="2328101" cy="100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24050" imgH="828675" progId="Equation.DSMT4">
                  <p:embed/>
                </p:oleObj>
              </mc:Choice>
              <mc:Fallback>
                <p:oleObj name="Equation" r:id="rId3" imgW="1924050" imgH="828675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AF4F4FE-D7A6-48F5-AE16-81B9BA8F8A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3399" y="2927651"/>
                        <a:ext cx="2328101" cy="1002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100" y="4839824"/>
            <a:ext cx="4229100" cy="176685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like the other functions, the onset of the ramp may be adjusted.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30DB420A-C2D0-4CF2-ADC2-B9ADC409F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584" y="1406250"/>
            <a:ext cx="3795516" cy="2821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A607D1-551A-436F-B544-E85CB7669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314" y="4227901"/>
            <a:ext cx="5696745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47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Step Response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07"/>
            <a:ext cx="5088396" cy="507257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source is suddenly applied to a R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circuit, the source can be modeled as a step function.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response is known as the step response.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consider the circuit shown here.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find the voltage on the capacitor as a function of time.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7F566E18-F7C5-4C6E-B6C4-05AE45903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462" y="1878150"/>
            <a:ext cx="3195638" cy="386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8005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Step Response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104148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We assume an initial voltage of </a:t>
            </a:r>
            <a:r>
              <a:rPr lang="en-US" altLang="en-US" sz="2600" i="1" noProof="0" dirty="0"/>
              <a:t>V</a:t>
            </a:r>
            <a:r>
              <a:rPr lang="en-US" altLang="en-US" sz="2600" i="1" baseline="-25000" noProof="0" dirty="0"/>
              <a:t>0</a:t>
            </a:r>
            <a:r>
              <a:rPr lang="en-US" altLang="en-US" sz="2600" noProof="0" dirty="0"/>
              <a:t> on the capacitor.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Applying K</a:t>
            </a:r>
            <a:r>
              <a:rPr lang="en-US" altLang="en-US" sz="100" noProof="0" dirty="0"/>
              <a:t> </a:t>
            </a:r>
            <a:r>
              <a:rPr lang="en-US" altLang="en-US" sz="2600" noProof="0" dirty="0"/>
              <a:t>C</a:t>
            </a:r>
            <a:r>
              <a:rPr lang="en-US" altLang="en-US" sz="100" noProof="0" dirty="0"/>
              <a:t> </a:t>
            </a:r>
            <a:r>
              <a:rPr lang="en-US" altLang="en-US" sz="2600" noProof="0" dirty="0"/>
              <a:t>L:</a:t>
            </a:r>
            <a:endParaRPr lang="en-US" sz="2600" noProof="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8EA37D0-FA0A-4A8E-B2A6-90231731D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584972"/>
              </p:ext>
            </p:extLst>
          </p:nvPr>
        </p:nvGraphicFramePr>
        <p:xfrm>
          <a:off x="1068029" y="2455624"/>
          <a:ext cx="2320033" cy="722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43075" imgH="542925" progId="Equation.DSMT4">
                  <p:embed/>
                </p:oleObj>
              </mc:Choice>
              <mc:Fallback>
                <p:oleObj name="Equation" r:id="rId2" imgW="1743075" imgH="542925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8EA37D0-FA0A-4A8E-B2A6-90231731D5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8029" y="2455624"/>
                        <a:ext cx="2320033" cy="722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315685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For </a:t>
            </a:r>
            <a:r>
              <a:rPr lang="en-US" altLang="en-US" sz="2600" i="1" noProof="0" dirty="0"/>
              <a:t>t&gt;0</a:t>
            </a:r>
            <a:r>
              <a:rPr lang="en-US" altLang="en-US" sz="2600" noProof="0" dirty="0"/>
              <a:t> this becomes: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B395FF6-CD7B-4A57-B0F7-8E0A3E5B51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596885"/>
              </p:ext>
            </p:extLst>
          </p:nvPr>
        </p:nvGraphicFramePr>
        <p:xfrm>
          <a:off x="1068029" y="3890302"/>
          <a:ext cx="1820990" cy="726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04950" imgH="600075" progId="Equation.DSMT4">
                  <p:embed/>
                </p:oleObj>
              </mc:Choice>
              <mc:Fallback>
                <p:oleObj name="Equation" r:id="rId4" imgW="1504950" imgH="600075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B395FF6-CD7B-4A57-B0F7-8E0A3E5B5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8029" y="3890302"/>
                        <a:ext cx="1820990" cy="726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750363"/>
            <a:ext cx="8458200" cy="915226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Integrating both sides and introducing initial conditions finally yields: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3257252-880D-463C-BFDF-8956B215A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246197"/>
              </p:ext>
            </p:extLst>
          </p:nvPr>
        </p:nvGraphicFramePr>
        <p:xfrm>
          <a:off x="1068029" y="5734907"/>
          <a:ext cx="3423000" cy="81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28925" imgH="676156" progId="Equation.DSMT4">
                  <p:embed/>
                </p:oleObj>
              </mc:Choice>
              <mc:Fallback>
                <p:oleObj name="Equation" r:id="rId6" imgW="2828925" imgH="67615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3257252-880D-463C-BFDF-8956B215A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8029" y="5734907"/>
                        <a:ext cx="3423000" cy="81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9140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Step Response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 </a:t>
            </a:r>
            <a:r>
              <a:rPr lang="en-US" altLang="en-US" sz="1000" b="0" noProof="0" dirty="0"/>
              <a:t>3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07"/>
            <a:ext cx="4596494" cy="5175608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known as the complete response, or total response.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consider the response to be broken into two separate responses: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natural response of the capacitor or inductor due to the energy stored in 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part is the forced response.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0BD11AE-746A-4108-A733-6C9FDB4A6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650" y="2324689"/>
            <a:ext cx="3214450" cy="3079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7160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1D4-C52C-46A1-9D5E-3823AD1F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Forced Response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0EE3-1E96-4876-8F35-B177C9EBF8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54168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response can be written as: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591A36B-2743-4073-9D3E-D577B6A1B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504220"/>
              </p:ext>
            </p:extLst>
          </p:nvPr>
        </p:nvGraphicFramePr>
        <p:xfrm>
          <a:off x="1094897" y="1901006"/>
          <a:ext cx="1648111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8250" imgH="447556" progId="Equation.DSMT4">
                  <p:embed/>
                </p:oleObj>
              </mc:Choice>
              <mc:Fallback>
                <p:oleObj name="Equation" r:id="rId2" imgW="1238250" imgH="447556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591A36B-2743-4073-9D3E-D577B6A1B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4897" y="1901006"/>
                        <a:ext cx="1648111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66F83-7732-4C58-A5E4-E75CB810CB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585655"/>
            <a:ext cx="8458200" cy="479522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nature response is: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2357AE7-4CB4-4159-84D3-F6AA8959E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202692"/>
              </p:ext>
            </p:extLst>
          </p:nvPr>
        </p:nvGraphicFramePr>
        <p:xfrm>
          <a:off x="1094897" y="3161297"/>
          <a:ext cx="1724177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400" imgH="447556" progId="Equation.DSMT4">
                  <p:embed/>
                </p:oleObj>
              </mc:Choice>
              <mc:Fallback>
                <p:oleObj name="Equation" r:id="rId4" imgW="1295400" imgH="447556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2357AE7-4CB4-4159-84D3-F6AA8959E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4897" y="3161297"/>
                        <a:ext cx="1724177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544129-026A-473A-9A60-E4CC1D5377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3879031"/>
            <a:ext cx="8458200" cy="479522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forced response is: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A0F951D-D1B2-4619-9B53-3E4CE7B93F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307478"/>
              </p:ext>
            </p:extLst>
          </p:nvPr>
        </p:nvGraphicFramePr>
        <p:xfrm>
          <a:off x="1094897" y="4451487"/>
          <a:ext cx="2636977" cy="697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523994" progId="Equation.DSMT4">
                  <p:embed/>
                </p:oleObj>
              </mc:Choice>
              <mc:Fallback>
                <p:oleObj name="Equation" r:id="rId6" imgW="1981200" imgH="523994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AA0F951D-D1B2-4619-9B53-3E4CE7B93F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4897" y="4451487"/>
                        <a:ext cx="2636977" cy="697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16A37-9D88-4E73-9254-053049B5F6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5241700"/>
            <a:ext cx="8694964" cy="131149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eventual response of the circuit is to reach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natural response decays to zero.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9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Another Perspective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133770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look at the response is to break it up into the transient response and the steady state response: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7EB3126-58E5-4D4A-9014-EBD1C874F6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207194"/>
              </p:ext>
            </p:extLst>
          </p:nvPr>
        </p:nvGraphicFramePr>
        <p:xfrm>
          <a:off x="1037444" y="2760796"/>
          <a:ext cx="1711500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5875" imgH="447556" progId="Equation.DSMT4">
                  <p:embed/>
                </p:oleObj>
              </mc:Choice>
              <mc:Fallback>
                <p:oleObj name="Equation" r:id="rId2" imgW="1285875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7EB3126-58E5-4D4A-9014-EBD1C874F6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7444" y="2760796"/>
                        <a:ext cx="1711500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501349"/>
            <a:ext cx="8458200" cy="483583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transient is: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AC1B1E3-A54E-4490-9878-47615EE9C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948621"/>
              </p:ext>
            </p:extLst>
          </p:nvPr>
        </p:nvGraphicFramePr>
        <p:xfrm>
          <a:off x="1037444" y="4146129"/>
          <a:ext cx="2573589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3575" imgH="447556" progId="Equation.DSMT4">
                  <p:embed/>
                </p:oleObj>
              </mc:Choice>
              <mc:Fallback>
                <p:oleObj name="Equation" r:id="rId4" imgW="1933575" imgH="447556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AC1B1E3-A54E-4490-9878-47615EE9CD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7444" y="4146129"/>
                        <a:ext cx="2573589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917789"/>
            <a:ext cx="8458200" cy="483583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steady state is: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A3ACD60-FADC-4B00-8C90-AFD3F3513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966021"/>
              </p:ext>
            </p:extLst>
          </p:nvPr>
        </p:nvGraphicFramePr>
        <p:xfrm>
          <a:off x="1037444" y="5577176"/>
          <a:ext cx="1242423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3450" imgH="447556" progId="Equation.DSMT4">
                  <p:embed/>
                </p:oleObj>
              </mc:Choice>
              <mc:Fallback>
                <p:oleObj name="Equation" r:id="rId6" imgW="933450" imgH="447556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6A3ACD60-FADC-4B00-8C90-AFD3F3513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37444" y="5577176"/>
                        <a:ext cx="1242423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6622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AA7F1E2-E7A3-45A8-BFD2-DB38D6B8F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53" y="-85926"/>
            <a:ext cx="8460120" cy="66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57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C7FFE7-8377-499B-A457-7706B6F5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65" y="0"/>
            <a:ext cx="8270361" cy="659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49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A69C808-94A9-48F9-BB4E-CCA6B4F7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4" y="172121"/>
            <a:ext cx="8248798" cy="639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70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Step Response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Circuit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08"/>
            <a:ext cx="5088396" cy="3758932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can look at the step response of a R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circuit.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the transient and steady state response approach.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know that the transient response will be an exponential: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0C2F1A7-2FC4-4264-9F2D-4580C69BD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634015"/>
              </p:ext>
            </p:extLst>
          </p:nvPr>
        </p:nvGraphicFramePr>
        <p:xfrm>
          <a:off x="2201297" y="5280220"/>
          <a:ext cx="1371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523994" progId="Equation.DSMT4">
                  <p:embed/>
                </p:oleObj>
              </mc:Choice>
              <mc:Fallback>
                <p:oleObj name="Equation" r:id="rId3" imgW="1371600" imgH="523994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0C2F1A7-2FC4-4264-9F2D-4580C69BD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1297" y="5280220"/>
                        <a:ext cx="137160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>
            <a:extLst>
              <a:ext uri="{FF2B5EF4-FFF2-40B4-BE49-F238E27FC236}">
                <a16:creationId xmlns:a16="http://schemas.microsoft.com/office/drawing/2014/main" id="{F5D3CD79-B3CD-46E4-88B6-4CCA05B53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409" y="1276708"/>
            <a:ext cx="2863064" cy="4158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815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Step Response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Circuit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95133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sufficiently long time, the current will reach he steady state: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8651BA7-BBD8-4F7A-A7A6-32173FAD7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132040"/>
              </p:ext>
            </p:extLst>
          </p:nvPr>
        </p:nvGraphicFramePr>
        <p:xfrm>
          <a:off x="1103097" y="2295706"/>
          <a:ext cx="910495" cy="737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2475" imgH="609719" progId="Equation.DSMT4">
                  <p:embed/>
                </p:oleObj>
              </mc:Choice>
              <mc:Fallback>
                <p:oleObj name="Equation" r:id="rId2" imgW="752475" imgH="609719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8651BA7-BBD8-4F7A-A7A6-32173FAD73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3097" y="2295706"/>
                        <a:ext cx="910495" cy="737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35378"/>
            <a:ext cx="8458200" cy="484465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yields an overall response of: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45349EE-836E-4C46-A12C-F55DE9663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23789"/>
              </p:ext>
            </p:extLst>
          </p:nvPr>
        </p:nvGraphicFramePr>
        <p:xfrm>
          <a:off x="1103097" y="3721899"/>
          <a:ext cx="1659636" cy="726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600075" progId="Equation.DSMT4">
                  <p:embed/>
                </p:oleObj>
              </mc:Choice>
              <mc:Fallback>
                <p:oleObj name="Equation" r:id="rId4" imgW="1371600" imgH="600075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145349EE-836E-4C46-A12C-F55DE9663F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3097" y="3721899"/>
                        <a:ext cx="1659636" cy="726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550046"/>
            <a:ext cx="8458200" cy="136135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value of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need to keep in mind that the current cannot change instantaneously.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47D595C-2E15-4DF1-948C-5BEB3F7E2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632838"/>
              </p:ext>
            </p:extLst>
          </p:nvPr>
        </p:nvGraphicFramePr>
        <p:xfrm>
          <a:off x="1103097" y="6013459"/>
          <a:ext cx="1980248" cy="49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0225" imgH="447556" progId="Equation.DSMT4">
                  <p:embed/>
                </p:oleObj>
              </mc:Choice>
              <mc:Fallback>
                <p:oleObj name="Equation" r:id="rId6" imgW="1800225" imgH="447556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147D595C-2E15-4DF1-948C-5BEB3F7E2F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03097" y="6013459"/>
                        <a:ext cx="1980248" cy="492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9148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Step Response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Circuit </a:t>
            </a:r>
            <a:r>
              <a:rPr lang="en-US" altLang="en-US" sz="1000" b="0" noProof="0" dirty="0"/>
              <a:t>3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1"/>
            <a:ext cx="8458200" cy="484466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we can use the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to establish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en-US" alt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44002684-A897-4FFD-96E6-82008E2D5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807144"/>
              </p:ext>
            </p:extLst>
          </p:nvPr>
        </p:nvGraphicFramePr>
        <p:xfrm>
          <a:off x="1053921" y="1862275"/>
          <a:ext cx="1238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393529" progId="Equation.DSMT4">
                  <p:embed/>
                </p:oleObj>
              </mc:Choice>
              <mc:Fallback>
                <p:oleObj name="Equation" r:id="rId2" imgW="710891" imgH="393529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44002684-A897-4FFD-96E6-82008E2D5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921" y="1862275"/>
                        <a:ext cx="12382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684616"/>
            <a:ext cx="8458200" cy="484465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response of the circuit is thus: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0F88DF76-7748-436C-9AC6-2D786C280A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073207"/>
              </p:ext>
            </p:extLst>
          </p:nvPr>
        </p:nvGraphicFramePr>
        <p:xfrm>
          <a:off x="1053921" y="3476416"/>
          <a:ext cx="2888420" cy="81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431800" progId="Equation.DSMT4">
                  <p:embed/>
                </p:oleObj>
              </mc:Choice>
              <mc:Fallback>
                <p:oleObj name="Equation" r:id="rId4" imgW="1536700" imgH="4318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0F88DF76-7748-436C-9AC6-2D786C280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921" y="3476416"/>
                        <a:ext cx="2888420" cy="811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614441"/>
            <a:ext cx="4383646" cy="137897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an initial current, the circuit response is shown here.</a:t>
            </a:r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99673154-DB9C-47C9-96C9-5B56296AB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985228"/>
            <a:ext cx="3771900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0531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EC9423-8CB3-093E-9759-D7E525C1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" y="0"/>
            <a:ext cx="8943110" cy="325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96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206168"/>
      </p:ext>
    </p:extLst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6  |  Chapter 7: First-Order Circuits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2343</TotalTime>
  <Words>1436</Words>
  <Application>Microsoft Office PowerPoint</Application>
  <PresentationFormat>On-screen Show (4:3)</PresentationFormat>
  <Paragraphs>150</Paragraphs>
  <Slides>40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7" baseType="lpstr">
      <vt:lpstr>Arial</vt:lpstr>
      <vt:lpstr>Calibri</vt:lpstr>
      <vt:lpstr>inherit</vt:lpstr>
      <vt:lpstr>ITCKabelStd-Bold</vt:lpstr>
      <vt:lpstr>nimbus</vt:lpstr>
      <vt:lpstr>Proxima Nova Regular</vt:lpstr>
      <vt:lpstr>STIXGeneral-Italic</vt:lpstr>
      <vt:lpstr>STIXGeneral-Regular</vt:lpstr>
      <vt:lpstr>Times New Roman</vt:lpstr>
      <vt:lpstr>TimesLTStd-Italic</vt:lpstr>
      <vt:lpstr>TimesLTStd-Roman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Fundamentals of Electric Circuits</vt:lpstr>
      <vt:lpstr>Overview</vt:lpstr>
      <vt:lpstr>First Order Circuits</vt:lpstr>
      <vt:lpstr>Source Free R C Circuit</vt:lpstr>
      <vt:lpstr>Source Free R C Circuit</vt:lpstr>
      <vt:lpstr>Source Free R C Circuit 3</vt:lpstr>
      <vt:lpstr>Natural Response</vt:lpstr>
      <vt:lpstr>Time Constant </vt:lpstr>
      <vt:lpstr>Time Constant 2</vt:lpstr>
      <vt:lpstr>R C Discharge</vt:lpstr>
      <vt:lpstr>Source Free R C Circuit Summary</vt:lpstr>
      <vt:lpstr>PowerPoint Presentation</vt:lpstr>
      <vt:lpstr>PowerPoint Presentation</vt:lpstr>
      <vt:lpstr>PowerPoint Presentation</vt:lpstr>
      <vt:lpstr>PowerPoint Presentation</vt:lpstr>
      <vt:lpstr>Source Free R L Circuit 1</vt:lpstr>
      <vt:lpstr>Source Free R L Circuit 2</vt:lpstr>
      <vt:lpstr>Source Free R L Circuit 3</vt:lpstr>
      <vt:lpstr>PowerPoint Presentation</vt:lpstr>
      <vt:lpstr>PowerPoint Presentation</vt:lpstr>
      <vt:lpstr>Singularity Functions</vt:lpstr>
      <vt:lpstr>The Unit Step 1</vt:lpstr>
      <vt:lpstr>The Unit Step 2</vt:lpstr>
      <vt:lpstr>Equivalent Circuit</vt:lpstr>
      <vt:lpstr>The Unit Impulse Function</vt:lpstr>
      <vt:lpstr>The Unit Ramp Function</vt:lpstr>
      <vt:lpstr>Step Response of R C Circuit 1</vt:lpstr>
      <vt:lpstr>Step Response of R C Circuit 2</vt:lpstr>
      <vt:lpstr>Step Response of R C Circuit 3</vt:lpstr>
      <vt:lpstr>Forced Response</vt:lpstr>
      <vt:lpstr>Another Perspective</vt:lpstr>
      <vt:lpstr>PowerPoint Presentation</vt:lpstr>
      <vt:lpstr>PowerPoint Presentation</vt:lpstr>
      <vt:lpstr>PowerPoint Presentation</vt:lpstr>
      <vt:lpstr>Step Response of R L Circuit 1</vt:lpstr>
      <vt:lpstr>Step Response of R L Circuit 2</vt:lpstr>
      <vt:lpstr>Step Response of R L Circuit 3</vt:lpstr>
      <vt:lpstr>PowerPoint Presentation</vt:lpstr>
      <vt:lpstr>PowerPoint Presentation</vt:lpstr>
      <vt:lpstr>End of Main 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183</cp:revision>
  <dcterms:created xsi:type="dcterms:W3CDTF">2019-12-14T02:10:23Z</dcterms:created>
  <dcterms:modified xsi:type="dcterms:W3CDTF">2025-10-07T02:48:54Z</dcterms:modified>
</cp:coreProperties>
</file>